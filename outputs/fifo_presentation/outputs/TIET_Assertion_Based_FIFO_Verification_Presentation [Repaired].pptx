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6" autoAdjust="0"/>
    <p:restoredTop sz="94658"/>
  </p:normalViewPr>
  <p:slideViewPr>
    <p:cSldViewPr snapToGrid="0">
      <p:cViewPr>
        <p:scale>
          <a:sx n="80" d="100"/>
          <a:sy n="80" d="100"/>
        </p:scale>
        <p:origin x="552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7F2CD0C-9EE2-48D2-BA1C-26E17CAA0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43CF37-ABF8-46EA-AC4B-E6075F6088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AACB67F-EF16-434D-9FFC-55FA915BFE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B8B5E4-114E-4750-A3BA-F21B11FB5E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523DD6-F6F6-4C1D-961E-0BF38CB187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3EA57FF-C590-40C6-904C-3E9D737D2DF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1523DD6-F6F6-4C1D-961E-0BF38CB187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00A55C-4B68-43B7-B51D-6EE30C2A8E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3E08DD-0FDA-4A21-86B7-5AB8178C20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619500" cy="685800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C1B776-0BAA-4EC7-BA17-D1ED18EB2206}"/>
              </a:ext>
            </a:extLst>
          </p:cNvPr>
          <p:cNvSpPr>
            <a:spLocks noGrp="1"/>
          </p:cNvSpPr>
          <p:nvPr/>
        </p:nvSpPr>
        <p:spPr>
          <a:xfrm>
            <a:off x="3619500" y="0"/>
            <a:ext cx="57150" cy="6858000"/>
          </a:xfrm>
          <a:prstGeom prst="rect">
            <a:avLst/>
          </a:prstGeom>
          <a:solidFill>
            <a:srgbClr val="7B0D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668164"/>
            <a:ext cx="2209800" cy="125447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5F2150-D97E-46CE-A403-3D12B8ADBFA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2362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Design Project (PVL292)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73988D-932E-4CB8-8F36-A435C1BF8482}"/>
              </a:ext>
            </a:extLst>
          </p:cNvPr>
          <p:cNvSpPr>
            <a:spLocks noGrp="1"/>
          </p:cNvSpPr>
          <p:nvPr/>
        </p:nvSpPr>
        <p:spPr>
          <a:xfrm>
            <a:off x="685800" y="2514600"/>
            <a:ext cx="2362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FEE2E2"/>
                </a:solidFill>
              </a:defRPr>
            </a:pPr>
            <a:r>
              <a:rPr sz="1125" b="0">
                <a:solidFill>
                  <a:srgbClr val="FEE2E2"/>
                </a:solidFill>
              </a:rPr>
              <a:t>M.Tech VLSI Design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D40D70-A03B-4795-9DBD-B6DDDDF923D9}"/>
              </a:ext>
            </a:extLst>
          </p:cNvPr>
          <p:cNvSpPr>
            <a:spLocks noGrp="1"/>
          </p:cNvSpPr>
          <p:nvPr/>
        </p:nvSpPr>
        <p:spPr>
          <a:xfrm>
            <a:off x="4238625" y="990600"/>
            <a:ext cx="7000875" cy="169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42033"/>
                </a:solidFill>
              </a:defRPr>
            </a:pPr>
            <a:r>
              <a:rPr sz="2550" b="1">
                <a:solidFill>
                  <a:srgbClr val="142033"/>
                </a:solidFill>
              </a:rPr>
              <a:t>ASSERTION-BASED VERIFICATION OF</a:t>
            </a:r>
          </a:p>
          <a:p>
            <a:pPr algn="l">
              <a:defRPr sz="2550" b="1">
                <a:solidFill>
                  <a:srgbClr val="142033"/>
                </a:solidFill>
              </a:defRPr>
            </a:pPr>
            <a:r>
              <a:rPr sz="2550" b="1">
                <a:solidFill>
                  <a:srgbClr val="142033"/>
                </a:solidFill>
              </a:rPr>
              <a:t>SYNCHRONOUS FIFO USING</a:t>
            </a:r>
          </a:p>
          <a:p>
            <a:pPr algn="l">
              <a:defRPr sz="2550" b="1">
                <a:solidFill>
                  <a:srgbClr val="142033"/>
                </a:solidFill>
              </a:defRPr>
            </a:pPr>
            <a:r>
              <a:rPr sz="2550" b="1">
                <a:solidFill>
                  <a:srgbClr val="142033"/>
                </a:solidFill>
              </a:rPr>
              <a:t>SYSTEMVERILOG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4A9CEA-AB93-4C9C-991B-14A1549402DF}"/>
              </a:ext>
            </a:extLst>
          </p:cNvPr>
          <p:cNvSpPr>
            <a:spLocks noGrp="1"/>
          </p:cNvSpPr>
          <p:nvPr/>
        </p:nvSpPr>
        <p:spPr>
          <a:xfrm>
            <a:off x="4267200" y="2867025"/>
            <a:ext cx="1485900" cy="3810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D8837F-B71F-4DDE-876A-A1FA2A073A16}"/>
              </a:ext>
            </a:extLst>
          </p:cNvPr>
          <p:cNvSpPr>
            <a:spLocks noGrp="1"/>
          </p:cNvSpPr>
          <p:nvPr/>
        </p:nvSpPr>
        <p:spPr>
          <a:xfrm>
            <a:off x="4267200" y="32956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C6675"/>
                </a:solidFill>
              </a:defRPr>
            </a:pPr>
            <a:r>
              <a:rPr sz="1050" b="1">
                <a:solidFill>
                  <a:srgbClr val="5C6675"/>
                </a:solidFill>
              </a:rPr>
              <a:t>Submitted by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E96817-3239-4AFB-9931-0E6808D2DEEF}"/>
              </a:ext>
            </a:extLst>
          </p:cNvPr>
          <p:cNvSpPr>
            <a:spLocks noGrp="1"/>
          </p:cNvSpPr>
          <p:nvPr/>
        </p:nvSpPr>
        <p:spPr>
          <a:xfrm>
            <a:off x="4267200" y="3562350"/>
            <a:ext cx="29527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Kapil Tripathi</a:t>
            </a:r>
          </a:p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6025620017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F77217-FE63-4012-B9E5-F11C3AB0B00E}"/>
              </a:ext>
            </a:extLst>
          </p:cNvPr>
          <p:cNvSpPr>
            <a:spLocks noGrp="1"/>
          </p:cNvSpPr>
          <p:nvPr/>
        </p:nvSpPr>
        <p:spPr>
          <a:xfrm>
            <a:off x="7791450" y="3295650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C6675"/>
                </a:solidFill>
              </a:defRPr>
            </a:pPr>
            <a:r>
              <a:rPr sz="1050" b="1">
                <a:solidFill>
                  <a:srgbClr val="5C6675"/>
                </a:solidFill>
              </a:rPr>
              <a:t>Under supervision of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E17FA0-C9E8-4F0B-BA2D-25EF059A0BFB}"/>
              </a:ext>
            </a:extLst>
          </p:cNvPr>
          <p:cNvSpPr>
            <a:spLocks noGrp="1"/>
          </p:cNvSpPr>
          <p:nvPr/>
        </p:nvSpPr>
        <p:spPr>
          <a:xfrm>
            <a:off x="7791450" y="3562350"/>
            <a:ext cx="3524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Dr. Arnab Pattanayak</a:t>
            </a:r>
          </a:p>
          <a:p>
            <a:pPr algn="l"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Dr. Lalit Kumar Baghel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973397-8848-45B2-898C-4739C7D347D0}"/>
              </a:ext>
            </a:extLst>
          </p:cNvPr>
          <p:cNvSpPr>
            <a:spLocks noGrp="1"/>
          </p:cNvSpPr>
          <p:nvPr/>
        </p:nvSpPr>
        <p:spPr>
          <a:xfrm>
            <a:off x="4267200" y="5257800"/>
            <a:ext cx="7048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C6675"/>
                </a:solidFill>
              </a:defRPr>
            </a:pPr>
            <a:r>
              <a:rPr sz="1350" b="0">
                <a:solidFill>
                  <a:srgbClr val="5C6675"/>
                </a:solidFill>
              </a:rPr>
              <a:t>Electronics and Communication Engineering Department</a:t>
            </a:r>
          </a:p>
          <a:p>
            <a:pPr algn="l">
              <a:defRPr sz="1350" b="0">
                <a:solidFill>
                  <a:srgbClr val="5C6675"/>
                </a:solidFill>
              </a:defRPr>
            </a:pPr>
            <a:r>
              <a:rPr sz="1350" b="0">
                <a:solidFill>
                  <a:srgbClr val="5C6675"/>
                </a:solidFill>
              </a:rPr>
              <a:t>Thapar Institute of Engineering &amp; Technology, Patiala</a:t>
            </a:r>
          </a:p>
          <a:p>
            <a:pPr algn="l">
              <a:defRPr sz="1350" b="0">
                <a:solidFill>
                  <a:srgbClr val="5C6675"/>
                </a:solidFill>
              </a:defRPr>
            </a:pPr>
            <a:r>
              <a:rPr sz="1350" b="0">
                <a:solidFill>
                  <a:srgbClr val="5C6675"/>
                </a:solidFill>
              </a:rPr>
              <a:t>May 2026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AB9189E-58DA-4CC0-9AFE-F007E18A5210}"/>
              </a:ext>
            </a:extLst>
          </p:cNvPr>
          <p:cNvSpPr>
            <a:spLocks noGrp="1"/>
          </p:cNvSpPr>
          <p:nvPr/>
        </p:nvSpPr>
        <p:spPr>
          <a:xfrm>
            <a:off x="4267200" y="4629150"/>
            <a:ext cx="4391025" cy="419100"/>
          </a:xfrm>
          <a:prstGeom prst="roundRect">
            <a:avLst>
              <a:gd name="adj" fmla="val 25806"/>
            </a:avLst>
          </a:prstGeom>
          <a:solidFill>
            <a:srgbClr val="DDF4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/>
          <a:p>
            <a:pPr algn="ctr">
              <a:defRPr sz="975" b="1">
                <a:solidFill>
                  <a:srgbClr val="08756F"/>
                </a:solidFill>
              </a:defRPr>
            </a:pPr>
            <a:r>
              <a:rPr sz="975" b="1" dirty="0" err="1">
                <a:solidFill>
                  <a:srgbClr val="08756F"/>
                </a:solidFill>
              </a:rPr>
              <a:t>SystemVerilog</a:t>
            </a:r>
            <a:r>
              <a:rPr sz="975" b="1" dirty="0">
                <a:solidFill>
                  <a:srgbClr val="08756F"/>
                </a:solidFill>
              </a:rPr>
              <a:t> + SVA + Scoreboard + Fault Injection</a:t>
            </a:r>
          </a:p>
        </p:txBody>
      </p:sp>
    </p:spTree>
    <p:extLst>
      <p:ext uri="{BB962C8B-B14F-4D97-AF65-F5344CB8AC3E}">
        <p14:creationId xmlns:p14="http://schemas.microsoft.com/office/powerpoint/2010/main" val="286134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Number Placeholder 5">
            <a:extLst>
              <a:ext uri="{FF2B5EF4-FFF2-40B4-BE49-F238E27FC236}">
                <a16:creationId xmlns:a16="http://schemas.microsoft.com/office/drawing/2014/main" id="{11523DD6-F6F6-4C1D-961E-0BF38CB187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B7F02E-0DB0-4013-8A0E-B5767434EE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905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3D475E-2D70-4A7F-9160-66BCE393FBD7}"/>
              </a:ext>
            </a:extLst>
          </p:cNvPr>
          <p:cNvSpPr>
            <a:spLocks noGrp="1"/>
          </p:cNvSpPr>
          <p:nvPr/>
        </p:nvSpPr>
        <p:spPr>
          <a:xfrm>
            <a:off x="0" y="581025"/>
            <a:ext cx="12192000" cy="190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7457A0-835F-44BC-9239-C1FB39695B30}"/>
              </a:ext>
            </a:extLst>
          </p:cNvPr>
          <p:cNvSpPr>
            <a:spLocks noGrp="1"/>
          </p:cNvSpPr>
          <p:nvPr/>
        </p:nvSpPr>
        <p:spPr>
          <a:xfrm>
            <a:off x="495300" y="17145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Presentation Roadmap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0907B5-FD0C-41FB-9583-3EB289DBEF5F}"/>
              </a:ext>
            </a:extLst>
          </p:cNvPr>
          <p:cNvSpPr>
            <a:spLocks noGrp="1"/>
          </p:cNvSpPr>
          <p:nvPr/>
        </p:nvSpPr>
        <p:spPr>
          <a:xfrm>
            <a:off x="8810625" y="180975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Project flow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AA5105-CFC7-4B5D-8DB6-FAE4D55CDAD9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42D10F-0375-4645-9CEC-95EB4E6B4728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55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02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27FB0A0-124E-4E9F-812C-C66AF1876CCB}"/>
              </a:ext>
            </a:extLst>
          </p:cNvPr>
          <p:cNvSpPr>
            <a:spLocks noGrp="1"/>
          </p:cNvSpPr>
          <p:nvPr/>
        </p:nvSpPr>
        <p:spPr>
          <a:xfrm>
            <a:off x="1171575" y="1085850"/>
            <a:ext cx="552450" cy="552450"/>
          </a:xfrm>
          <a:prstGeom prst="ellipse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C14CE7-5816-4792-B898-37AB3F2EC8BD}"/>
              </a:ext>
            </a:extLst>
          </p:cNvPr>
          <p:cNvSpPr>
            <a:spLocks noGrp="1"/>
          </p:cNvSpPr>
          <p:nvPr/>
        </p:nvSpPr>
        <p:spPr>
          <a:xfrm>
            <a:off x="1171575" y="1171575"/>
            <a:ext cx="552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B11853-FCA4-4605-AC9D-4615B2C29970}"/>
              </a:ext>
            </a:extLst>
          </p:cNvPr>
          <p:cNvSpPr>
            <a:spLocks noGrp="1"/>
          </p:cNvSpPr>
          <p:nvPr/>
        </p:nvSpPr>
        <p:spPr>
          <a:xfrm>
            <a:off x="1752600" y="1343025"/>
            <a:ext cx="723900" cy="38100"/>
          </a:xfrm>
          <a:prstGeom prst="rect">
            <a:avLst/>
          </a:prstGeom>
          <a:solidFill>
            <a:srgbClr val="D9E1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50CAA21-2254-4766-83BC-DF7A9F95D5C1}"/>
              </a:ext>
            </a:extLst>
          </p:cNvPr>
          <p:cNvSpPr>
            <a:spLocks noGrp="1"/>
          </p:cNvSpPr>
          <p:nvPr/>
        </p:nvSpPr>
        <p:spPr>
          <a:xfrm>
            <a:off x="590550" y="1752600"/>
            <a:ext cx="1714500" cy="2095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AA6122-AE17-458E-BAC9-7C4409CCC065}"/>
              </a:ext>
            </a:extLst>
          </p:cNvPr>
          <p:cNvSpPr>
            <a:spLocks noGrp="1"/>
          </p:cNvSpPr>
          <p:nvPr/>
        </p:nvSpPr>
        <p:spPr>
          <a:xfrm>
            <a:off x="590550" y="1752600"/>
            <a:ext cx="57150" cy="2095500"/>
          </a:xfrm>
          <a:prstGeom prst="rect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FE51A2-9814-4A9C-8566-04EA2019EF8B}"/>
              </a:ext>
            </a:extLst>
          </p:cNvPr>
          <p:cNvSpPr>
            <a:spLocks noGrp="1"/>
          </p:cNvSpPr>
          <p:nvPr/>
        </p:nvSpPr>
        <p:spPr>
          <a:xfrm>
            <a:off x="819150" y="1943100"/>
            <a:ext cx="1295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Problem and objective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64E18E-BAED-4A59-9F78-8F8366AC8A68}"/>
              </a:ext>
            </a:extLst>
          </p:cNvPr>
          <p:cNvSpPr>
            <a:spLocks noGrp="1"/>
          </p:cNvSpPr>
          <p:nvPr/>
        </p:nvSpPr>
        <p:spPr>
          <a:xfrm>
            <a:off x="819150" y="2324100"/>
            <a:ext cx="129540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Why FIFO control must be verified before reuse.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B081048-E3B9-4565-AFAD-E74A64F394FE}"/>
              </a:ext>
            </a:extLst>
          </p:cNvPr>
          <p:cNvSpPr>
            <a:spLocks noGrp="1"/>
          </p:cNvSpPr>
          <p:nvPr/>
        </p:nvSpPr>
        <p:spPr>
          <a:xfrm>
            <a:off x="3076575" y="1085850"/>
            <a:ext cx="552450" cy="55245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752F07-969D-4439-87BC-D29BD16A0EE7}"/>
              </a:ext>
            </a:extLst>
          </p:cNvPr>
          <p:cNvSpPr>
            <a:spLocks noGrp="1"/>
          </p:cNvSpPr>
          <p:nvPr/>
        </p:nvSpPr>
        <p:spPr>
          <a:xfrm>
            <a:off x="3076575" y="1171575"/>
            <a:ext cx="552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A0C764-37D5-4C9D-A822-06206CD26FA2}"/>
              </a:ext>
            </a:extLst>
          </p:cNvPr>
          <p:cNvSpPr>
            <a:spLocks noGrp="1"/>
          </p:cNvSpPr>
          <p:nvPr/>
        </p:nvSpPr>
        <p:spPr>
          <a:xfrm>
            <a:off x="3657600" y="1343025"/>
            <a:ext cx="723900" cy="38100"/>
          </a:xfrm>
          <a:prstGeom prst="rect">
            <a:avLst/>
          </a:prstGeom>
          <a:solidFill>
            <a:srgbClr val="D9E1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BB00F4A-DE01-43BF-AF7B-9E088DFA7723}"/>
              </a:ext>
            </a:extLst>
          </p:cNvPr>
          <p:cNvSpPr>
            <a:spLocks noGrp="1"/>
          </p:cNvSpPr>
          <p:nvPr/>
        </p:nvSpPr>
        <p:spPr>
          <a:xfrm>
            <a:off x="2495550" y="1752600"/>
            <a:ext cx="1714500" cy="2095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FB8F7B-E4AC-47FC-801C-7D01B3961653}"/>
              </a:ext>
            </a:extLst>
          </p:cNvPr>
          <p:cNvSpPr>
            <a:spLocks noGrp="1"/>
          </p:cNvSpPr>
          <p:nvPr/>
        </p:nvSpPr>
        <p:spPr>
          <a:xfrm>
            <a:off x="2495550" y="1752600"/>
            <a:ext cx="57150" cy="2095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1D04E6-ABE3-4D73-8E04-D6B61A5763F6}"/>
              </a:ext>
            </a:extLst>
          </p:cNvPr>
          <p:cNvSpPr>
            <a:spLocks noGrp="1"/>
          </p:cNvSpPr>
          <p:nvPr/>
        </p:nvSpPr>
        <p:spPr>
          <a:xfrm>
            <a:off x="2724150" y="1943100"/>
            <a:ext cx="1295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DUT architecture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CC90A4-E795-4097-8E96-7AF1E2C94069}"/>
              </a:ext>
            </a:extLst>
          </p:cNvPr>
          <p:cNvSpPr>
            <a:spLocks noGrp="1"/>
          </p:cNvSpPr>
          <p:nvPr/>
        </p:nvSpPr>
        <p:spPr>
          <a:xfrm>
            <a:off x="2724150" y="2324100"/>
            <a:ext cx="129540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Synchronous FIFO with separate RAM and controller.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357097D-FC2D-430B-8D56-E5F2A402437A}"/>
              </a:ext>
            </a:extLst>
          </p:cNvPr>
          <p:cNvSpPr>
            <a:spLocks noGrp="1"/>
          </p:cNvSpPr>
          <p:nvPr/>
        </p:nvSpPr>
        <p:spPr>
          <a:xfrm>
            <a:off x="4981575" y="1085850"/>
            <a:ext cx="552450" cy="552450"/>
          </a:xfrm>
          <a:prstGeom prst="ellipse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46C630-8BBB-4306-856A-8109820EBBFC}"/>
              </a:ext>
            </a:extLst>
          </p:cNvPr>
          <p:cNvSpPr>
            <a:spLocks noGrp="1"/>
          </p:cNvSpPr>
          <p:nvPr/>
        </p:nvSpPr>
        <p:spPr>
          <a:xfrm>
            <a:off x="4981575" y="1171575"/>
            <a:ext cx="552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6C7EFB-FF7A-4E5E-9610-02B50E518470}"/>
              </a:ext>
            </a:extLst>
          </p:cNvPr>
          <p:cNvSpPr>
            <a:spLocks noGrp="1"/>
          </p:cNvSpPr>
          <p:nvPr/>
        </p:nvSpPr>
        <p:spPr>
          <a:xfrm>
            <a:off x="5562600" y="1343025"/>
            <a:ext cx="723900" cy="38100"/>
          </a:xfrm>
          <a:prstGeom prst="rect">
            <a:avLst/>
          </a:prstGeom>
          <a:solidFill>
            <a:srgbClr val="D9E1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D76FD7A-296C-479E-B658-7007F7BE6261}"/>
              </a:ext>
            </a:extLst>
          </p:cNvPr>
          <p:cNvSpPr>
            <a:spLocks noGrp="1"/>
          </p:cNvSpPr>
          <p:nvPr/>
        </p:nvSpPr>
        <p:spPr>
          <a:xfrm>
            <a:off x="4400550" y="1752600"/>
            <a:ext cx="1714500" cy="2095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1FF338-225A-478C-8D42-C6F770CD9E54}"/>
              </a:ext>
            </a:extLst>
          </p:cNvPr>
          <p:cNvSpPr>
            <a:spLocks noGrp="1"/>
          </p:cNvSpPr>
          <p:nvPr/>
        </p:nvSpPr>
        <p:spPr>
          <a:xfrm>
            <a:off x="4400550" y="1752600"/>
            <a:ext cx="57150" cy="2095500"/>
          </a:xfrm>
          <a:prstGeom prst="rect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6E3D25-0916-4EA5-8DB1-4AB627392F98}"/>
              </a:ext>
            </a:extLst>
          </p:cNvPr>
          <p:cNvSpPr>
            <a:spLocks noGrp="1"/>
          </p:cNvSpPr>
          <p:nvPr/>
        </p:nvSpPr>
        <p:spPr>
          <a:xfrm>
            <a:off x="4629150" y="1943100"/>
            <a:ext cx="1295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SV environment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B72695-BDA3-41C1-BBC7-D689A37355CE}"/>
              </a:ext>
            </a:extLst>
          </p:cNvPr>
          <p:cNvSpPr>
            <a:spLocks noGrp="1"/>
          </p:cNvSpPr>
          <p:nvPr/>
        </p:nvSpPr>
        <p:spPr>
          <a:xfrm>
            <a:off x="4629150" y="2324100"/>
            <a:ext cx="129540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Generator, driver, monitor, scoreboard, and interface.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ACAB775-AAD2-4D6A-B7DD-F404A3AAA485}"/>
              </a:ext>
            </a:extLst>
          </p:cNvPr>
          <p:cNvSpPr>
            <a:spLocks noGrp="1"/>
          </p:cNvSpPr>
          <p:nvPr/>
        </p:nvSpPr>
        <p:spPr>
          <a:xfrm>
            <a:off x="6886575" y="1085850"/>
            <a:ext cx="552450" cy="55245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A11C42-0D22-45F7-838F-7DC277A6FE3A}"/>
              </a:ext>
            </a:extLst>
          </p:cNvPr>
          <p:cNvSpPr>
            <a:spLocks noGrp="1"/>
          </p:cNvSpPr>
          <p:nvPr/>
        </p:nvSpPr>
        <p:spPr>
          <a:xfrm>
            <a:off x="6886575" y="1171575"/>
            <a:ext cx="552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1FD88C2-2397-496B-AEB9-D890AAA1F7E7}"/>
              </a:ext>
            </a:extLst>
          </p:cNvPr>
          <p:cNvSpPr>
            <a:spLocks noGrp="1"/>
          </p:cNvSpPr>
          <p:nvPr/>
        </p:nvSpPr>
        <p:spPr>
          <a:xfrm>
            <a:off x="7467600" y="1343025"/>
            <a:ext cx="723900" cy="38100"/>
          </a:xfrm>
          <a:prstGeom prst="rect">
            <a:avLst/>
          </a:prstGeom>
          <a:solidFill>
            <a:srgbClr val="D9E1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61A4776-6A5D-4990-B704-5A8DD7BD77A5}"/>
              </a:ext>
            </a:extLst>
          </p:cNvPr>
          <p:cNvSpPr>
            <a:spLocks noGrp="1"/>
          </p:cNvSpPr>
          <p:nvPr/>
        </p:nvSpPr>
        <p:spPr>
          <a:xfrm>
            <a:off x="6305550" y="1752600"/>
            <a:ext cx="1714500" cy="2095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AE6FB5F-D0A9-43EC-8464-49F9CDF56ACA}"/>
              </a:ext>
            </a:extLst>
          </p:cNvPr>
          <p:cNvSpPr>
            <a:spLocks noGrp="1"/>
          </p:cNvSpPr>
          <p:nvPr/>
        </p:nvSpPr>
        <p:spPr>
          <a:xfrm>
            <a:off x="6305550" y="1752600"/>
            <a:ext cx="57150" cy="2095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B906191-EDB1-48CD-8709-749C8FE897A9}"/>
              </a:ext>
            </a:extLst>
          </p:cNvPr>
          <p:cNvSpPr>
            <a:spLocks noGrp="1"/>
          </p:cNvSpPr>
          <p:nvPr/>
        </p:nvSpPr>
        <p:spPr>
          <a:xfrm>
            <a:off x="6534150" y="1943100"/>
            <a:ext cx="1295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SVA plan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89E7CD-FB3C-4146-A168-1946D1053ABC}"/>
              </a:ext>
            </a:extLst>
          </p:cNvPr>
          <p:cNvSpPr>
            <a:spLocks noGrp="1"/>
          </p:cNvSpPr>
          <p:nvPr/>
        </p:nvSpPr>
        <p:spPr>
          <a:xfrm>
            <a:off x="6534150" y="2324100"/>
            <a:ext cx="129540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Assertions bound to internal FIFO control signals.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9C88689-E287-412F-B05E-E036DFC54B84}"/>
              </a:ext>
            </a:extLst>
          </p:cNvPr>
          <p:cNvSpPr>
            <a:spLocks noGrp="1"/>
          </p:cNvSpPr>
          <p:nvPr/>
        </p:nvSpPr>
        <p:spPr>
          <a:xfrm>
            <a:off x="8791575" y="1085850"/>
            <a:ext cx="552450" cy="552450"/>
          </a:xfrm>
          <a:prstGeom prst="ellipse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5A70F25-4B29-432F-90FD-32ACB89DD968}"/>
              </a:ext>
            </a:extLst>
          </p:cNvPr>
          <p:cNvSpPr>
            <a:spLocks noGrp="1"/>
          </p:cNvSpPr>
          <p:nvPr/>
        </p:nvSpPr>
        <p:spPr>
          <a:xfrm>
            <a:off x="8791575" y="1171575"/>
            <a:ext cx="552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E525A12-E102-4DFE-89D3-14ED733A6A79}"/>
              </a:ext>
            </a:extLst>
          </p:cNvPr>
          <p:cNvSpPr>
            <a:spLocks noGrp="1"/>
          </p:cNvSpPr>
          <p:nvPr/>
        </p:nvSpPr>
        <p:spPr>
          <a:xfrm>
            <a:off x="9372600" y="1343025"/>
            <a:ext cx="723900" cy="38100"/>
          </a:xfrm>
          <a:prstGeom prst="rect">
            <a:avLst/>
          </a:prstGeom>
          <a:solidFill>
            <a:srgbClr val="D9E1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6E45A08-7C84-4F52-981C-E3174ADD63EC}"/>
              </a:ext>
            </a:extLst>
          </p:cNvPr>
          <p:cNvSpPr>
            <a:spLocks noGrp="1"/>
          </p:cNvSpPr>
          <p:nvPr/>
        </p:nvSpPr>
        <p:spPr>
          <a:xfrm>
            <a:off x="8210550" y="1752600"/>
            <a:ext cx="1714500" cy="2095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30C1D7-9525-4D4D-997F-6FAFEC89EF52}"/>
              </a:ext>
            </a:extLst>
          </p:cNvPr>
          <p:cNvSpPr>
            <a:spLocks noGrp="1"/>
          </p:cNvSpPr>
          <p:nvPr/>
        </p:nvSpPr>
        <p:spPr>
          <a:xfrm>
            <a:off x="8210550" y="1752600"/>
            <a:ext cx="57150" cy="2095500"/>
          </a:xfrm>
          <a:prstGeom prst="rect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DE92F08-D5A4-4A31-AF61-8EE12518F705}"/>
              </a:ext>
            </a:extLst>
          </p:cNvPr>
          <p:cNvSpPr>
            <a:spLocks noGrp="1"/>
          </p:cNvSpPr>
          <p:nvPr/>
        </p:nvSpPr>
        <p:spPr>
          <a:xfrm>
            <a:off x="8439150" y="1943100"/>
            <a:ext cx="1295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Fault results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D8BF78A-5395-4984-8565-AD22743BAC10}"/>
              </a:ext>
            </a:extLst>
          </p:cNvPr>
          <p:cNvSpPr>
            <a:spLocks noGrp="1"/>
          </p:cNvSpPr>
          <p:nvPr/>
        </p:nvSpPr>
        <p:spPr>
          <a:xfrm>
            <a:off x="8439150" y="2324100"/>
            <a:ext cx="129540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Five injected issues with waveform/log evidence.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7D9E19F-AE02-450A-B5C8-B231B78534DF}"/>
              </a:ext>
            </a:extLst>
          </p:cNvPr>
          <p:cNvSpPr>
            <a:spLocks noGrp="1"/>
          </p:cNvSpPr>
          <p:nvPr/>
        </p:nvSpPr>
        <p:spPr>
          <a:xfrm>
            <a:off x="10696575" y="1085850"/>
            <a:ext cx="552450" cy="55245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A954536-B1BA-4FDE-9670-1D99BC74895D}"/>
              </a:ext>
            </a:extLst>
          </p:cNvPr>
          <p:cNvSpPr>
            <a:spLocks noGrp="1"/>
          </p:cNvSpPr>
          <p:nvPr/>
        </p:nvSpPr>
        <p:spPr>
          <a:xfrm>
            <a:off x="10696575" y="1171575"/>
            <a:ext cx="552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FB62EC6-2A94-4F95-8003-0A0F9CDC1DBA}"/>
              </a:ext>
            </a:extLst>
          </p:cNvPr>
          <p:cNvSpPr>
            <a:spLocks noGrp="1"/>
          </p:cNvSpPr>
          <p:nvPr/>
        </p:nvSpPr>
        <p:spPr>
          <a:xfrm>
            <a:off x="10115550" y="1752600"/>
            <a:ext cx="1714500" cy="2095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D9B643E-8C3D-4022-B915-77D21C65D9A1}"/>
              </a:ext>
            </a:extLst>
          </p:cNvPr>
          <p:cNvSpPr>
            <a:spLocks noGrp="1"/>
          </p:cNvSpPr>
          <p:nvPr/>
        </p:nvSpPr>
        <p:spPr>
          <a:xfrm>
            <a:off x="10115550" y="1752600"/>
            <a:ext cx="57150" cy="2095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C063DD9-EC95-43AA-869B-81CD16342ABF}"/>
              </a:ext>
            </a:extLst>
          </p:cNvPr>
          <p:cNvSpPr>
            <a:spLocks noGrp="1"/>
          </p:cNvSpPr>
          <p:nvPr/>
        </p:nvSpPr>
        <p:spPr>
          <a:xfrm>
            <a:off x="10344150" y="1943100"/>
            <a:ext cx="1295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Conclusion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4C1AE45-E7FC-4BF7-BA83-3CB263F58CE2}"/>
              </a:ext>
            </a:extLst>
          </p:cNvPr>
          <p:cNvSpPr>
            <a:spLocks noGrp="1"/>
          </p:cNvSpPr>
          <p:nvPr/>
        </p:nvSpPr>
        <p:spPr>
          <a:xfrm>
            <a:off x="10344150" y="2324100"/>
            <a:ext cx="129540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Findings, limitations, and UVM migration path.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3630577-4A33-43EB-AF38-6883426EB39F}"/>
              </a:ext>
            </a:extLst>
          </p:cNvPr>
          <p:cNvSpPr>
            <a:spLocks noGrp="1"/>
          </p:cNvSpPr>
          <p:nvPr/>
        </p:nvSpPr>
        <p:spPr>
          <a:xfrm>
            <a:off x="1162050" y="4495800"/>
            <a:ext cx="9810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0">
                <a:solidFill>
                  <a:srgbClr val="142033"/>
                </a:solidFill>
              </a:defRPr>
            </a:pPr>
            <a:r>
              <a:rPr sz="1575" b="0">
                <a:solidFill>
                  <a:srgbClr val="142033"/>
                </a:solidFill>
              </a:rPr>
              <a:t>The deck follows the same logic as the report, but keeps each result focused on what failed, which checker caught it, and what the waveform proves.</a:t>
            </a:r>
          </a:p>
        </p:txBody>
      </p:sp>
    </p:spTree>
    <p:extLst>
      <p:ext uri="{BB962C8B-B14F-4D97-AF65-F5344CB8AC3E}">
        <p14:creationId xmlns:p14="http://schemas.microsoft.com/office/powerpoint/2010/main" val="715585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11523DD6-F6F6-4C1D-961E-0BF38CB187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38300" y="1403350"/>
            <a:ext cx="9144000" cy="2387600"/>
          </a:xfrm>
        </p:spPr>
        <p:txBody>
          <a:bodyPr/>
          <a:lstStyle/>
          <a:p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DA5F07-99DD-41D7-92F2-C7D6FB00A0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905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2F5BEB-D2EE-4B87-B0A2-8C4CB35409DB}"/>
              </a:ext>
            </a:extLst>
          </p:cNvPr>
          <p:cNvSpPr>
            <a:spLocks noGrp="1"/>
          </p:cNvSpPr>
          <p:nvPr/>
        </p:nvSpPr>
        <p:spPr>
          <a:xfrm>
            <a:off x="0" y="581025"/>
            <a:ext cx="12192000" cy="190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9F6431-BF36-4D70-A006-0545AFCB3E1C}"/>
              </a:ext>
            </a:extLst>
          </p:cNvPr>
          <p:cNvSpPr>
            <a:spLocks noGrp="1"/>
          </p:cNvSpPr>
          <p:nvPr/>
        </p:nvSpPr>
        <p:spPr>
          <a:xfrm>
            <a:off x="495300" y="17145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Why FIFO Verification Matters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2F3E51-424D-4993-AB40-367183953615}"/>
              </a:ext>
            </a:extLst>
          </p:cNvPr>
          <p:cNvSpPr>
            <a:spLocks noGrp="1"/>
          </p:cNvSpPr>
          <p:nvPr/>
        </p:nvSpPr>
        <p:spPr>
          <a:xfrm>
            <a:off x="8810625" y="180975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Motivation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A4989C-61FE-4097-92A6-568C802CC780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1EB04B-4A8C-42D8-BEE3-20BAD900EB0B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55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A6039B-D00B-4C59-A080-E52A6B028B1D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7620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1750"/>
          </a:bodyPr>
          <a:lstStyle/>
          <a:p>
            <a:pPr algn="l">
              <a:defRPr sz="1875" b="1">
                <a:solidFill>
                  <a:srgbClr val="142033"/>
                </a:solidFill>
              </a:defRPr>
            </a:pPr>
            <a:r>
              <a:rPr sz="1875" b="1" dirty="0">
                <a:solidFill>
                  <a:srgbClr val="142033"/>
                </a:solidFill>
              </a:rPr>
              <a:t>A FIFO is simple in concept but sensitive at its boundaries: reset, empty, full, read/write overlap, and pointer wrap.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811806-BE97-4FA0-81F1-1879234C86B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04800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9DC14D-EBAE-4320-BA35-1E75B9F1F16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57150" cy="1562100"/>
          </a:xfrm>
          <a:prstGeom prst="rect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60EA69-960E-4E08-89D9-32FD3B5B2945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262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Data ordering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995057-0EFB-4A91-B321-489F8B47A500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26289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Oldest accepted write must be the first valid read. A pointer bug can silently repeat or skip stored data.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1ED94C3-7749-4330-AB0E-4A0DB41E5DCD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304800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20B743-0B6F-452D-AAC2-04C014D17E1E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57150" cy="15621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111C79-C908-47F4-AB93-B63E79E3812C}"/>
              </a:ext>
            </a:extLst>
          </p:cNvPr>
          <p:cNvSpPr>
            <a:spLocks noGrp="1"/>
          </p:cNvSpPr>
          <p:nvPr/>
        </p:nvSpPr>
        <p:spPr>
          <a:xfrm>
            <a:off x="914400" y="3790950"/>
            <a:ext cx="262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Flow control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47846D-E02B-4879-9CF7-A6A5761A409F}"/>
              </a:ext>
            </a:extLst>
          </p:cNvPr>
          <p:cNvSpPr>
            <a:spLocks noGrp="1"/>
          </p:cNvSpPr>
          <p:nvPr/>
        </p:nvSpPr>
        <p:spPr>
          <a:xfrm>
            <a:off x="914400" y="4171950"/>
            <a:ext cx="26289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full and empty are not cosmetic flags. They directly block writes and reads to prevent overflow and underflow.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4190E4D-7EC7-4A60-86D4-A398E1128FF2}"/>
              </a:ext>
            </a:extLst>
          </p:cNvPr>
          <p:cNvSpPr>
            <a:spLocks noGrp="1"/>
          </p:cNvSpPr>
          <p:nvPr/>
        </p:nvSpPr>
        <p:spPr>
          <a:xfrm>
            <a:off x="4095750" y="3600450"/>
            <a:ext cx="304800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1A706B-E6E7-4FDA-B17C-AD2D4D2C3230}"/>
              </a:ext>
            </a:extLst>
          </p:cNvPr>
          <p:cNvSpPr>
            <a:spLocks noGrp="1"/>
          </p:cNvSpPr>
          <p:nvPr/>
        </p:nvSpPr>
        <p:spPr>
          <a:xfrm>
            <a:off x="4095750" y="3600450"/>
            <a:ext cx="57150" cy="156210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B0B56F-6707-4DF3-883F-71993E1F2463}"/>
              </a:ext>
            </a:extLst>
          </p:cNvPr>
          <p:cNvSpPr>
            <a:spLocks noGrp="1"/>
          </p:cNvSpPr>
          <p:nvPr/>
        </p:nvSpPr>
        <p:spPr>
          <a:xfrm>
            <a:off x="4324350" y="3790950"/>
            <a:ext cx="262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Reset safety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372F62-8DF9-458C-9C1B-1D3597C09C46}"/>
              </a:ext>
            </a:extLst>
          </p:cNvPr>
          <p:cNvSpPr>
            <a:spLocks noGrp="1"/>
          </p:cNvSpPr>
          <p:nvPr/>
        </p:nvSpPr>
        <p:spPr>
          <a:xfrm>
            <a:off x="4324350" y="4171950"/>
            <a:ext cx="26289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The FIFO must start from a known empty state so later traffic is not contaminated by stale count or pointer values.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37739FE-681A-49BA-BB52-F1AAB05D8630}"/>
              </a:ext>
            </a:extLst>
          </p:cNvPr>
          <p:cNvSpPr>
            <a:spLocks noGrp="1"/>
          </p:cNvSpPr>
          <p:nvPr/>
        </p:nvSpPr>
        <p:spPr>
          <a:xfrm>
            <a:off x="7486650" y="3600450"/>
            <a:ext cx="304800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1A4B10-430A-4FD7-B4BE-C135C2D855FB}"/>
              </a:ext>
            </a:extLst>
          </p:cNvPr>
          <p:cNvSpPr>
            <a:spLocks noGrp="1"/>
          </p:cNvSpPr>
          <p:nvPr/>
        </p:nvSpPr>
        <p:spPr>
          <a:xfrm>
            <a:off x="7486650" y="3600450"/>
            <a:ext cx="57150" cy="1562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A26A2F-86BF-47C2-B6CC-4DED50AED954}"/>
              </a:ext>
            </a:extLst>
          </p:cNvPr>
          <p:cNvSpPr>
            <a:spLocks noGrp="1"/>
          </p:cNvSpPr>
          <p:nvPr/>
        </p:nvSpPr>
        <p:spPr>
          <a:xfrm>
            <a:off x="7715250" y="3790950"/>
            <a:ext cx="262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Debug observability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551A84-0FE1-4F27-BFA3-51D90577B363}"/>
              </a:ext>
            </a:extLst>
          </p:cNvPr>
          <p:cNvSpPr>
            <a:spLocks noGrp="1"/>
          </p:cNvSpPr>
          <p:nvPr/>
        </p:nvSpPr>
        <p:spPr>
          <a:xfrm>
            <a:off x="7715250" y="4171950"/>
            <a:ext cx="26289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Assertions expose internal control mistakes immediately, while the scoreboard checks visible data behavior.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8F1151F-2C96-4E87-B771-3C358A42BC0A}"/>
              </a:ext>
            </a:extLst>
          </p:cNvPr>
          <p:cNvSpPr>
            <a:spLocks noGrp="1"/>
          </p:cNvSpPr>
          <p:nvPr/>
        </p:nvSpPr>
        <p:spPr>
          <a:xfrm>
            <a:off x="4686300" y="1657350"/>
            <a:ext cx="6096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73A0BF-0810-4E5D-BB6E-FC3E5CD2A7F0}"/>
              </a:ext>
            </a:extLst>
          </p:cNvPr>
          <p:cNvSpPr>
            <a:spLocks noGrp="1"/>
          </p:cNvSpPr>
          <p:nvPr/>
        </p:nvSpPr>
        <p:spPr>
          <a:xfrm>
            <a:off x="5029200" y="219075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Producer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040AA37B-3F61-4241-BDAB-50521C9326C2}"/>
              </a:ext>
            </a:extLst>
          </p:cNvPr>
          <p:cNvSpPr>
            <a:spLocks noGrp="1"/>
          </p:cNvSpPr>
          <p:nvPr/>
        </p:nvSpPr>
        <p:spPr>
          <a:xfrm>
            <a:off x="6362700" y="2209800"/>
            <a:ext cx="819150" cy="247650"/>
          </a:xfrm>
          <a:prstGeom prst="rightArrow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F3970D7-07B1-43FE-A1DE-20175CE72E35}"/>
              </a:ext>
            </a:extLst>
          </p:cNvPr>
          <p:cNvSpPr>
            <a:spLocks noGrp="1"/>
          </p:cNvSpPr>
          <p:nvPr/>
        </p:nvSpPr>
        <p:spPr>
          <a:xfrm>
            <a:off x="7391400" y="1990725"/>
            <a:ext cx="1066800" cy="762000"/>
          </a:xfrm>
          <a:prstGeom prst="roundRect">
            <a:avLst>
              <a:gd name="adj" fmla="val 10000"/>
            </a:avLst>
          </a:prstGeom>
          <a:solidFill>
            <a:srgbClr val="DDF4EF"/>
          </a:solidFill>
          <a:ln w="11430">
            <a:solidFill>
              <a:srgbClr val="08756F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7DF6DDE-BAC6-4A55-B1A7-53FA47076CC7}"/>
              </a:ext>
            </a:extLst>
          </p:cNvPr>
          <p:cNvSpPr>
            <a:spLocks noGrp="1"/>
          </p:cNvSpPr>
          <p:nvPr/>
        </p:nvSpPr>
        <p:spPr>
          <a:xfrm>
            <a:off x="7543800" y="2143125"/>
            <a:ext cx="762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FIFO</a:t>
            </a:r>
          </a:p>
          <a:p>
            <a:pPr algn="ctr"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queue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F5258800-7251-4A23-8A29-89B7EA724240}"/>
              </a:ext>
            </a:extLst>
          </p:cNvPr>
          <p:cNvSpPr>
            <a:spLocks noGrp="1"/>
          </p:cNvSpPr>
          <p:nvPr/>
        </p:nvSpPr>
        <p:spPr>
          <a:xfrm>
            <a:off x="8667750" y="2209800"/>
            <a:ext cx="819150" cy="247650"/>
          </a:xfrm>
          <a:prstGeom prst="rightArrow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5EE68EA-423A-4288-BE98-A3EE0B56FA7D}"/>
              </a:ext>
            </a:extLst>
          </p:cNvPr>
          <p:cNvSpPr>
            <a:spLocks noGrp="1"/>
          </p:cNvSpPr>
          <p:nvPr/>
        </p:nvSpPr>
        <p:spPr>
          <a:xfrm>
            <a:off x="9582150" y="2190750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142033"/>
                </a:solidFill>
              </a:defRPr>
            </a:pPr>
            <a:r>
              <a:rPr sz="1500" b="1">
                <a:solidFill>
                  <a:srgbClr val="142033"/>
                </a:solidFill>
              </a:rPr>
              <a:t>Consumer</a:t>
            </a:r>
          </a:p>
        </p:txBody>
      </p:sp>
    </p:spTree>
    <p:extLst>
      <p:ext uri="{BB962C8B-B14F-4D97-AF65-F5344CB8AC3E}">
        <p14:creationId xmlns:p14="http://schemas.microsoft.com/office/powerpoint/2010/main" val="1556232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1523DD6-F6F6-4C1D-961E-0BF38CB187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428750" y="1809750"/>
            <a:ext cx="9144000" cy="2387600"/>
          </a:xfrm>
        </p:spPr>
        <p:txBody>
          <a:bodyPr/>
          <a:lstStyle/>
          <a:p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740350-8173-4404-9336-CDCC091DCC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905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A642B6-4486-4C83-9023-646FEAE1B6B7}"/>
              </a:ext>
            </a:extLst>
          </p:cNvPr>
          <p:cNvSpPr>
            <a:spLocks noGrp="1"/>
          </p:cNvSpPr>
          <p:nvPr/>
        </p:nvSpPr>
        <p:spPr>
          <a:xfrm>
            <a:off x="0" y="581025"/>
            <a:ext cx="12192000" cy="190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12DB1A-635F-4924-923E-F3DC5544AB4D}"/>
              </a:ext>
            </a:extLst>
          </p:cNvPr>
          <p:cNvSpPr>
            <a:spLocks noGrp="1"/>
          </p:cNvSpPr>
          <p:nvPr/>
        </p:nvSpPr>
        <p:spPr>
          <a:xfrm>
            <a:off x="495300" y="17145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Why SystemVerilog Over Verilog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1C392F-4287-46EB-92FB-5174B8527418}"/>
              </a:ext>
            </a:extLst>
          </p:cNvPr>
          <p:cNvSpPr>
            <a:spLocks noGrp="1"/>
          </p:cNvSpPr>
          <p:nvPr/>
        </p:nvSpPr>
        <p:spPr>
          <a:xfrm>
            <a:off x="8810625" y="180975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Language choice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632BDB-D4A7-445E-8824-981F0CC9EC0C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637C49-DFB3-419B-A300-F49F915D6C91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55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218215-DB45-4004-9BBA-9ED7F8BCF06F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971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42033"/>
                </a:solidFill>
              </a:defRPr>
            </a:pPr>
            <a:r>
              <a:rPr sz="1725" b="1" dirty="0" err="1">
                <a:solidFill>
                  <a:srgbClr val="142033"/>
                </a:solidFill>
              </a:rPr>
              <a:t>SystemVerilog</a:t>
            </a:r>
            <a:r>
              <a:rPr sz="1725" b="1" dirty="0">
                <a:solidFill>
                  <a:srgbClr val="142033"/>
                </a:solidFill>
              </a:rPr>
              <a:t> keeps Verilog-style RTL, but adds verification features that are directly useful for this FIFO project.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5B60D75-4CCB-4B5C-80CE-FAB112C14F69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953000" cy="3638550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1430">
            <a:solidFill>
              <a:srgbClr val="D9E1EC"/>
            </a:solidFill>
            <a:prstDash val="solid"/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A8129A5-66DC-47CF-BD75-8E1A88F0CCFB}"/>
              </a:ext>
            </a:extLst>
          </p:cNvPr>
          <p:cNvSpPr>
            <a:spLocks noGrp="1"/>
          </p:cNvSpPr>
          <p:nvPr/>
        </p:nvSpPr>
        <p:spPr>
          <a:xfrm>
            <a:off x="6572250" y="1524000"/>
            <a:ext cx="4953000" cy="3638550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1430">
            <a:solidFill>
              <a:srgbClr val="D9E1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4B2583-10FF-4761-BF0A-208E3564DD1B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B5122B"/>
                </a:solidFill>
              </a:defRPr>
            </a:pPr>
            <a:r>
              <a:rPr sz="1800" b="1">
                <a:solidFill>
                  <a:srgbClr val="B5122B"/>
                </a:solidFill>
              </a:rPr>
              <a:t>Verilog HDL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DB4FA4-8060-4F91-9DB6-B3FAD6F0B161}"/>
              </a:ext>
            </a:extLst>
          </p:cNvPr>
          <p:cNvSpPr>
            <a:spLocks noGrp="1"/>
          </p:cNvSpPr>
          <p:nvPr/>
        </p:nvSpPr>
        <p:spPr>
          <a:xfrm>
            <a:off x="952500" y="2324100"/>
            <a:ext cx="4095750" cy="2038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42033"/>
                </a:solidFill>
              </a:defRPr>
            </a:pPr>
            <a:r>
              <a:rPr sz="1350" b="0">
                <a:solidFill>
                  <a:srgbClr val="142033"/>
                </a:solidFill>
              </a:rPr>
              <a:t>- Strong fit for synthesizable RTL modeling</a:t>
            </a:r>
          </a:p>
          <a:p>
            <a:pPr algn="l">
              <a:defRPr sz="1350" b="0">
                <a:solidFill>
                  <a:srgbClr val="142033"/>
                </a:solidFill>
              </a:defRPr>
            </a:pPr>
            <a:r>
              <a:rPr sz="1350" b="0">
                <a:solidFill>
                  <a:srgbClr val="142033"/>
                </a:solidFill>
              </a:rPr>
              <a:t>- Modules, nets, registers, always blocks</a:t>
            </a:r>
          </a:p>
          <a:p>
            <a:pPr algn="l">
              <a:defRPr sz="1350" b="0">
                <a:solidFill>
                  <a:srgbClr val="142033"/>
                </a:solidFill>
              </a:defRPr>
            </a:pPr>
            <a:r>
              <a:rPr sz="1350" b="0">
                <a:solidFill>
                  <a:srgbClr val="142033"/>
                </a:solidFill>
              </a:rPr>
              <a:t>- Basic procedural testbenches are possible</a:t>
            </a:r>
          </a:p>
          <a:p>
            <a:pPr algn="l">
              <a:defRPr sz="1350" b="0">
                <a:solidFill>
                  <a:srgbClr val="142033"/>
                </a:solidFill>
              </a:defRPr>
            </a:pPr>
            <a:r>
              <a:rPr sz="1350" b="0">
                <a:solidFill>
                  <a:srgbClr val="142033"/>
                </a:solidFill>
              </a:rPr>
              <a:t>- Limited language support for reusable verification</a:t>
            </a:r>
          </a:p>
          <a:p>
            <a:pPr algn="l">
              <a:defRPr sz="1350" b="0">
                <a:solidFill>
                  <a:srgbClr val="142033"/>
                </a:solidFill>
              </a:defRPr>
            </a:pPr>
            <a:r>
              <a:rPr sz="1350" b="0">
                <a:solidFill>
                  <a:srgbClr val="142033"/>
                </a:solidFill>
              </a:rPr>
              <a:t>- Assertions, classes, coverage, and constrained random are not the core Verilog model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8EF9BC-5297-4C98-8474-1B55D27433DE}"/>
              </a:ext>
            </a:extLst>
          </p:cNvPr>
          <p:cNvSpPr>
            <a:spLocks noGrp="1"/>
          </p:cNvSpPr>
          <p:nvPr/>
        </p:nvSpPr>
        <p:spPr>
          <a:xfrm>
            <a:off x="6858000" y="180975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8756F"/>
                </a:solidFill>
              </a:defRPr>
            </a:pPr>
            <a:r>
              <a:rPr sz="1800" b="1">
                <a:solidFill>
                  <a:srgbClr val="08756F"/>
                </a:solidFill>
              </a:rPr>
              <a:t>SystemVerilog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C6A97B-DD5D-4C2B-8238-37DFCB683E76}"/>
              </a:ext>
            </a:extLst>
          </p:cNvPr>
          <p:cNvSpPr>
            <a:spLocks noGrp="1"/>
          </p:cNvSpPr>
          <p:nvPr/>
        </p:nvSpPr>
        <p:spPr>
          <a:xfrm>
            <a:off x="6858000" y="2324100"/>
            <a:ext cx="4095750" cy="2038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42033"/>
                </a:solidFill>
              </a:defRPr>
            </a:pPr>
            <a:r>
              <a:rPr sz="1350" b="0">
                <a:solidFill>
                  <a:srgbClr val="142033"/>
                </a:solidFill>
              </a:rPr>
              <a:t>- Unified design, specification, and verification language</a:t>
            </a:r>
          </a:p>
          <a:p>
            <a:pPr algn="l">
              <a:defRPr sz="1350" b="0">
                <a:solidFill>
                  <a:srgbClr val="142033"/>
                </a:solidFill>
              </a:defRPr>
            </a:pPr>
            <a:r>
              <a:rPr sz="1350" b="0">
                <a:solidFill>
                  <a:srgbClr val="142033"/>
                </a:solidFill>
              </a:rPr>
              <a:t>- Assertions for protocol and temporal properties</a:t>
            </a:r>
          </a:p>
          <a:p>
            <a:pPr algn="l">
              <a:defRPr sz="1350" b="0">
                <a:solidFill>
                  <a:srgbClr val="142033"/>
                </a:solidFill>
              </a:defRPr>
            </a:pPr>
            <a:r>
              <a:rPr sz="1350" b="0">
                <a:solidFill>
                  <a:srgbClr val="142033"/>
                </a:solidFill>
              </a:rPr>
              <a:t>- Classes, mailboxes, and virtual interfaces for testbench reuse</a:t>
            </a:r>
          </a:p>
          <a:p>
            <a:pPr algn="l">
              <a:defRPr sz="1350" b="0">
                <a:solidFill>
                  <a:srgbClr val="142033"/>
                </a:solidFill>
              </a:defRPr>
            </a:pPr>
            <a:r>
              <a:rPr sz="1350" b="0">
                <a:solidFill>
                  <a:srgbClr val="142033"/>
                </a:solidFill>
              </a:rPr>
              <a:t>- Constrained random stimulus and functional coverage support</a:t>
            </a:r>
          </a:p>
          <a:p>
            <a:pPr algn="l">
              <a:defRPr sz="1350" b="0">
                <a:solidFill>
                  <a:srgbClr val="142033"/>
                </a:solidFill>
              </a:defRPr>
            </a:pPr>
            <a:r>
              <a:rPr sz="1350" b="0">
                <a:solidFill>
                  <a:srgbClr val="142033"/>
                </a:solidFill>
              </a:rPr>
              <a:t>- Natural foundation for later UVM migration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41675FB-7E79-4C66-83A9-E878D0A6DA94}"/>
              </a:ext>
            </a:extLst>
          </p:cNvPr>
          <p:cNvSpPr>
            <a:spLocks noGrp="1"/>
          </p:cNvSpPr>
          <p:nvPr/>
        </p:nvSpPr>
        <p:spPr>
          <a:xfrm>
            <a:off x="5743575" y="2914650"/>
            <a:ext cx="704850" cy="419100"/>
          </a:xfrm>
          <a:prstGeom prst="rightArrow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90B93F-9585-4A34-B0FC-205641075AAF}"/>
              </a:ext>
            </a:extLst>
          </p:cNvPr>
          <p:cNvSpPr>
            <a:spLocks noGrp="1"/>
          </p:cNvSpPr>
          <p:nvPr/>
        </p:nvSpPr>
        <p:spPr>
          <a:xfrm>
            <a:off x="1143000" y="5524500"/>
            <a:ext cx="990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IEEE 1800-2023 describes SystemVerilog support for RTL/gate modeling and testbenches using coverage, assertions, object-oriented programming, and constrained random verification.</a:t>
            </a:r>
          </a:p>
        </p:txBody>
      </p:sp>
    </p:spTree>
    <p:extLst>
      <p:ext uri="{BB962C8B-B14F-4D97-AF65-F5344CB8AC3E}">
        <p14:creationId xmlns:p14="http://schemas.microsoft.com/office/powerpoint/2010/main" val="1366343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11523DD6-F6F6-4C1D-961E-0BF38CB187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7CF3F3-DE96-4B27-AAF6-B1DA51CC0C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905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71F69D-E809-4253-8D77-3C962227B2E9}"/>
              </a:ext>
            </a:extLst>
          </p:cNvPr>
          <p:cNvSpPr>
            <a:spLocks noGrp="1"/>
          </p:cNvSpPr>
          <p:nvPr/>
        </p:nvSpPr>
        <p:spPr>
          <a:xfrm>
            <a:off x="0" y="581025"/>
            <a:ext cx="12192000" cy="190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7CD9C1-A84F-4CF2-B6EC-44E8BC766D1E}"/>
              </a:ext>
            </a:extLst>
          </p:cNvPr>
          <p:cNvSpPr>
            <a:spLocks noGrp="1"/>
          </p:cNvSpPr>
          <p:nvPr/>
        </p:nvSpPr>
        <p:spPr>
          <a:xfrm>
            <a:off x="495300" y="17145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Synchronous FIFO Basics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76C530-388B-4488-9D73-E8EF5B9F410B}"/>
              </a:ext>
            </a:extLst>
          </p:cNvPr>
          <p:cNvSpPr>
            <a:spLocks noGrp="1"/>
          </p:cNvSpPr>
          <p:nvPr/>
        </p:nvSpPr>
        <p:spPr>
          <a:xfrm>
            <a:off x="8810625" y="180975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DUT behavior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AC5F5-1EE8-40A3-853F-B2CE0ACD30F2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5AF2C2-7534-450A-AA23-1138CD02BCA3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55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05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3438FF-2422-4593-8EB4-E3BDF1430456}"/>
              </a:ext>
            </a:extLst>
          </p:cNvPr>
          <p:cNvSpPr>
            <a:spLocks noGrp="1"/>
          </p:cNvSpPr>
          <p:nvPr/>
        </p:nvSpPr>
        <p:spPr>
          <a:xfrm>
            <a:off x="666750" y="933450"/>
            <a:ext cx="3810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42033"/>
                </a:solidFill>
              </a:defRPr>
            </a:pPr>
            <a:r>
              <a:rPr sz="1725" b="1">
                <a:solidFill>
                  <a:srgbClr val="142033"/>
                </a:solidFill>
              </a:rPr>
              <a:t>First-in first-out rule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E0D840-9FBE-45FA-B450-1BD07BF4BE0F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7620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C6675"/>
                </a:solidFill>
              </a:defRPr>
            </a:pPr>
            <a:r>
              <a:rPr sz="1350" b="0">
                <a:solidFill>
                  <a:srgbClr val="5C6675"/>
                </a:solidFill>
              </a:rPr>
              <a:t>The FIFO accepts writes into the tail and reads from the head. Status flags are generated from occupancy count.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D751DBC-82A8-49D9-9244-25AFC41F3D9D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24765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4288">
            <a:solidFill>
              <a:srgbClr val="08756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C250B2-4460-4F7F-A677-9981B8E113A2}"/>
              </a:ext>
            </a:extLst>
          </p:cNvPr>
          <p:cNvSpPr>
            <a:spLocks noGrp="1"/>
          </p:cNvSpPr>
          <p:nvPr/>
        </p:nvSpPr>
        <p:spPr>
          <a:xfrm>
            <a:off x="1162050" y="2038350"/>
            <a:ext cx="1866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Write side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3026D8-2E31-47FE-ACA9-41EA9DD457F1}"/>
              </a:ext>
            </a:extLst>
          </p:cNvPr>
          <p:cNvSpPr>
            <a:spLocks noGrp="1"/>
          </p:cNvSpPr>
          <p:nvPr/>
        </p:nvSpPr>
        <p:spPr>
          <a:xfrm>
            <a:off x="1181100" y="2381250"/>
            <a:ext cx="18288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wr_en</a:t>
            </a:r>
          </a:p>
          <a:p>
            <a:pPr algn="ctr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wr_data</a:t>
            </a:r>
          </a:p>
          <a:p>
            <a:pPr algn="ctr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wr_ptr advances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B5D52E0-D342-4214-A58C-A4E95CA400D7}"/>
              </a:ext>
            </a:extLst>
          </p:cNvPr>
          <p:cNvSpPr>
            <a:spLocks noGrp="1"/>
          </p:cNvSpPr>
          <p:nvPr/>
        </p:nvSpPr>
        <p:spPr>
          <a:xfrm>
            <a:off x="3543300" y="2247900"/>
            <a:ext cx="933450" cy="266700"/>
          </a:xfrm>
          <a:prstGeom prst="rightArrow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FB5DBB3-FFB4-47AC-BF41-3105D463530F}"/>
              </a:ext>
            </a:extLst>
          </p:cNvPr>
          <p:cNvSpPr>
            <a:spLocks noGrp="1"/>
          </p:cNvSpPr>
          <p:nvPr/>
        </p:nvSpPr>
        <p:spPr>
          <a:xfrm>
            <a:off x="4705350" y="1524000"/>
            <a:ext cx="2781300" cy="1695450"/>
          </a:xfrm>
          <a:prstGeom prst="roundRect">
            <a:avLst>
              <a:gd name="adj" fmla="val 4494"/>
            </a:avLst>
          </a:prstGeom>
          <a:solidFill>
            <a:srgbClr val="DDF4EF"/>
          </a:solidFill>
          <a:ln w="15240">
            <a:solidFill>
              <a:srgbClr val="08756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1C900B-6631-4488-A8E7-47500A83056A}"/>
              </a:ext>
            </a:extLst>
          </p:cNvPr>
          <p:cNvSpPr>
            <a:spLocks noGrp="1"/>
          </p:cNvSpPr>
          <p:nvPr/>
        </p:nvSpPr>
        <p:spPr>
          <a:xfrm>
            <a:off x="5048250" y="18859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8756F"/>
                </a:solidFill>
              </a:defRPr>
            </a:pPr>
            <a:r>
              <a:rPr sz="1650" b="1">
                <a:solidFill>
                  <a:srgbClr val="08756F"/>
                </a:solidFill>
              </a:rPr>
              <a:t>FIFO storage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2D8213-993F-400F-805A-7E27CB1D5855}"/>
              </a:ext>
            </a:extLst>
          </p:cNvPr>
          <p:cNvSpPr>
            <a:spLocks noGrp="1"/>
          </p:cNvSpPr>
          <p:nvPr/>
        </p:nvSpPr>
        <p:spPr>
          <a:xfrm>
            <a:off x="5067300" y="2305050"/>
            <a:ext cx="2095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oldest data at front</a:t>
            </a:r>
          </a:p>
          <a:p>
            <a:pPr algn="ctr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fifo_count tracks occupancy</a:t>
            </a:r>
          </a:p>
          <a:p>
            <a:pPr algn="ctr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full / empty from count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8D7D2CB-0226-4BFC-9119-F88BC5882F03}"/>
              </a:ext>
            </a:extLst>
          </p:cNvPr>
          <p:cNvSpPr>
            <a:spLocks noGrp="1"/>
          </p:cNvSpPr>
          <p:nvPr/>
        </p:nvSpPr>
        <p:spPr>
          <a:xfrm>
            <a:off x="7734300" y="2247900"/>
            <a:ext cx="933450" cy="266700"/>
          </a:xfrm>
          <a:prstGeom prst="rightArrow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A254588-9F95-4310-A64E-FB8013833609}"/>
              </a:ext>
            </a:extLst>
          </p:cNvPr>
          <p:cNvSpPr>
            <a:spLocks noGrp="1"/>
          </p:cNvSpPr>
          <p:nvPr/>
        </p:nvSpPr>
        <p:spPr>
          <a:xfrm>
            <a:off x="8858250" y="1714500"/>
            <a:ext cx="24765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4288">
            <a:solidFill>
              <a:srgbClr val="08756F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0232E5-2E86-4A98-9CF3-80D6F44E5B9B}"/>
              </a:ext>
            </a:extLst>
          </p:cNvPr>
          <p:cNvSpPr>
            <a:spLocks noGrp="1"/>
          </p:cNvSpPr>
          <p:nvPr/>
        </p:nvSpPr>
        <p:spPr>
          <a:xfrm>
            <a:off x="9163050" y="2038350"/>
            <a:ext cx="1866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Read side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CDBA32-0ED9-446E-8302-81773E31846A}"/>
              </a:ext>
            </a:extLst>
          </p:cNvPr>
          <p:cNvSpPr>
            <a:spLocks noGrp="1"/>
          </p:cNvSpPr>
          <p:nvPr/>
        </p:nvSpPr>
        <p:spPr>
          <a:xfrm>
            <a:off x="9182100" y="2381250"/>
            <a:ext cx="18288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rd_en</a:t>
            </a:r>
          </a:p>
          <a:p>
            <a:pPr algn="ctr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rd_data</a:t>
            </a:r>
          </a:p>
          <a:p>
            <a:pPr algn="ctr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rd_ptr advances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05EC561-751B-4BDD-9672-F06D1D27AD78}"/>
              </a:ext>
            </a:extLst>
          </p:cNvPr>
          <p:cNvSpPr>
            <a:spLocks noGrp="1"/>
          </p:cNvSpPr>
          <p:nvPr/>
        </p:nvSpPr>
        <p:spPr>
          <a:xfrm>
            <a:off x="1695450" y="4210050"/>
            <a:ext cx="3829050" cy="1238250"/>
          </a:xfrm>
          <a:prstGeom prst="roundRect">
            <a:avLst>
              <a:gd name="adj" fmla="val 6154"/>
            </a:avLst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4608A4-8188-415B-A6C7-97B778505534}"/>
              </a:ext>
            </a:extLst>
          </p:cNvPr>
          <p:cNvSpPr>
            <a:spLocks noGrp="1"/>
          </p:cNvSpPr>
          <p:nvPr/>
        </p:nvSpPr>
        <p:spPr>
          <a:xfrm>
            <a:off x="1866900" y="4324350"/>
            <a:ext cx="3486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1D5C9"/>
                </a:solidFill>
              </a:defRPr>
            </a:pPr>
            <a:r>
              <a:rPr sz="900" b="1">
                <a:solidFill>
                  <a:srgbClr val="91D5C9"/>
                </a:solidFill>
              </a:rPr>
              <a:t>Key control equations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70FF17-CD6F-475B-83D6-F31DE5D8FE4F}"/>
              </a:ext>
            </a:extLst>
          </p:cNvPr>
          <p:cNvSpPr>
            <a:spLocks noGrp="1"/>
          </p:cNvSpPr>
          <p:nvPr/>
        </p:nvSpPr>
        <p:spPr>
          <a:xfrm>
            <a:off x="1866900" y="4552950"/>
            <a:ext cx="34861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do_write = wr_en &amp;&amp; !full;</a:t>
            </a:r>
          </a:p>
          <a:p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do_read  = rd_en &amp;&amp; !empty;</a:t>
            </a:r>
          </a:p>
          <a:p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full     = (fifo_count == DEPTH);</a:t>
            </a:r>
          </a:p>
          <a:p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empty    = (fifo_count == 0);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3C4538A-3263-422D-85FC-3916D1297697}"/>
              </a:ext>
            </a:extLst>
          </p:cNvPr>
          <p:cNvSpPr>
            <a:spLocks noGrp="1"/>
          </p:cNvSpPr>
          <p:nvPr/>
        </p:nvSpPr>
        <p:spPr>
          <a:xfrm>
            <a:off x="6267450" y="4095750"/>
            <a:ext cx="3714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02475B-1DD5-499C-A251-E13333112DBA}"/>
              </a:ext>
            </a:extLst>
          </p:cNvPr>
          <p:cNvSpPr>
            <a:spLocks noGrp="1"/>
          </p:cNvSpPr>
          <p:nvPr/>
        </p:nvSpPr>
        <p:spPr>
          <a:xfrm>
            <a:off x="6267450" y="4095750"/>
            <a:ext cx="57150" cy="14287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F1EBDC-3647-4496-AF94-B5091A81E2CB}"/>
              </a:ext>
            </a:extLst>
          </p:cNvPr>
          <p:cNvSpPr>
            <a:spLocks noGrp="1"/>
          </p:cNvSpPr>
          <p:nvPr/>
        </p:nvSpPr>
        <p:spPr>
          <a:xfrm>
            <a:off x="6496050" y="4286250"/>
            <a:ext cx="3295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Project parameters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802FB3-C43B-4A64-A6CD-EB73DE4E8B99}"/>
              </a:ext>
            </a:extLst>
          </p:cNvPr>
          <p:cNvSpPr>
            <a:spLocks noGrp="1"/>
          </p:cNvSpPr>
          <p:nvPr/>
        </p:nvSpPr>
        <p:spPr>
          <a:xfrm>
            <a:off x="6496050" y="4667250"/>
            <a:ext cx="32956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4720"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DW = 8 data bits</a:t>
            </a:r>
          </a:p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AW = 4 address bits</a:t>
            </a:r>
          </a:p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DEPTH = 2^AW = 16 entries</a:t>
            </a:r>
          </a:p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fifo_count range = 0..16</a:t>
            </a:r>
          </a:p>
        </p:txBody>
      </p:sp>
    </p:spTree>
    <p:extLst>
      <p:ext uri="{BB962C8B-B14F-4D97-AF65-F5344CB8AC3E}">
        <p14:creationId xmlns:p14="http://schemas.microsoft.com/office/powerpoint/2010/main" val="2094857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11523DD6-F6F6-4C1D-961E-0BF38CB187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185D19-BF03-4E5E-A4EE-99CDA05C0C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905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0996F3-8E72-40F9-AAB4-CC045B6F32D6}"/>
              </a:ext>
            </a:extLst>
          </p:cNvPr>
          <p:cNvSpPr>
            <a:spLocks noGrp="1"/>
          </p:cNvSpPr>
          <p:nvPr/>
        </p:nvSpPr>
        <p:spPr>
          <a:xfrm>
            <a:off x="0" y="581025"/>
            <a:ext cx="12192000" cy="190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30F53C-BF3E-452D-B7FF-2F70E794AF29}"/>
              </a:ext>
            </a:extLst>
          </p:cNvPr>
          <p:cNvSpPr>
            <a:spLocks noGrp="1"/>
          </p:cNvSpPr>
          <p:nvPr/>
        </p:nvSpPr>
        <p:spPr>
          <a:xfrm>
            <a:off x="495300" y="17145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Design Under Test 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72E6E3-B6D5-4D1D-B341-7B12ACC88B13}"/>
              </a:ext>
            </a:extLst>
          </p:cNvPr>
          <p:cNvSpPr>
            <a:spLocks noGrp="1"/>
          </p:cNvSpPr>
          <p:nvPr/>
        </p:nvSpPr>
        <p:spPr>
          <a:xfrm>
            <a:off x="8810625" y="180975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sync_fifo_ram + sync_ram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F07101-C54B-4691-9FAB-43DCCCE15394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F2D0CA-58D0-4363-98C9-CFE07D22DB3E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55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06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A236F4-5964-4753-9FE0-7CF0995AC565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10001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775"/>
          </a:bodyPr>
          <a:lstStyle/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The verified DUT separates control from storage: sync_fifo_ram manages pointers/count/flags, while sync_ram stores data.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DC47955-58CE-4FF6-8A0D-C8B4B80C54B1}"/>
              </a:ext>
            </a:extLst>
          </p:cNvPr>
          <p:cNvSpPr>
            <a:spLocks noGrp="1"/>
          </p:cNvSpPr>
          <p:nvPr/>
        </p:nvSpPr>
        <p:spPr>
          <a:xfrm>
            <a:off x="619125" y="1809750"/>
            <a:ext cx="19050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D9E1EC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0F8D56-1ED0-4937-BCCF-FA40D381BE04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314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42033"/>
                </a:solidFill>
              </a:defRPr>
            </a:pPr>
            <a:r>
              <a:rPr sz="1575" b="1">
                <a:solidFill>
                  <a:srgbClr val="142033"/>
                </a:solidFill>
              </a:rPr>
              <a:t>Inputs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6419B4-CD7C-4433-8979-4DC89D86D819}"/>
              </a:ext>
            </a:extLst>
          </p:cNvPr>
          <p:cNvSpPr>
            <a:spLocks noGrp="1"/>
          </p:cNvSpPr>
          <p:nvPr/>
        </p:nvSpPr>
        <p:spPr>
          <a:xfrm>
            <a:off x="933450" y="2324100"/>
            <a:ext cx="12763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clk, rst</a:t>
            </a:r>
          </a:p>
          <a:p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wr_en, rd_en</a:t>
            </a:r>
          </a:p>
          <a:p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wr_data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64FDE27-5E99-4AEF-90B0-C50D6004E5A2}"/>
              </a:ext>
            </a:extLst>
          </p:cNvPr>
          <p:cNvSpPr>
            <a:spLocks noGrp="1"/>
          </p:cNvSpPr>
          <p:nvPr/>
        </p:nvSpPr>
        <p:spPr>
          <a:xfrm>
            <a:off x="2724150" y="2257425"/>
            <a:ext cx="742950" cy="247650"/>
          </a:xfrm>
          <a:prstGeom prst="rightArrow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5C39F4-A8A2-4A17-B015-C1C28EE72584}"/>
              </a:ext>
            </a:extLst>
          </p:cNvPr>
          <p:cNvSpPr>
            <a:spLocks noGrp="1"/>
          </p:cNvSpPr>
          <p:nvPr/>
        </p:nvSpPr>
        <p:spPr>
          <a:xfrm>
            <a:off x="3667125" y="1600200"/>
            <a:ext cx="2667000" cy="1562100"/>
          </a:xfrm>
          <a:prstGeom prst="roundRect">
            <a:avLst>
              <a:gd name="adj" fmla="val 4878"/>
            </a:avLst>
          </a:prstGeom>
          <a:solidFill>
            <a:srgbClr val="DDF4EF"/>
          </a:solidFill>
          <a:ln w="15240">
            <a:solidFill>
              <a:srgbClr val="08756F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5BBB1D-8AA4-4E50-9EC3-DFE231CD2728}"/>
              </a:ext>
            </a:extLst>
          </p:cNvPr>
          <p:cNvSpPr>
            <a:spLocks noGrp="1"/>
          </p:cNvSpPr>
          <p:nvPr/>
        </p:nvSpPr>
        <p:spPr>
          <a:xfrm>
            <a:off x="4000500" y="18859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8756F"/>
                </a:solidFill>
              </a:defRPr>
            </a:pPr>
            <a:r>
              <a:rPr sz="1575" b="1">
                <a:solidFill>
                  <a:srgbClr val="08756F"/>
                </a:solidFill>
              </a:rPr>
              <a:t>FIFO controller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5805BF-5ED7-4671-A27E-9A360EA9F990}"/>
              </a:ext>
            </a:extLst>
          </p:cNvPr>
          <p:cNvSpPr>
            <a:spLocks noGrp="1"/>
          </p:cNvSpPr>
          <p:nvPr/>
        </p:nvSpPr>
        <p:spPr>
          <a:xfrm>
            <a:off x="4019550" y="2266950"/>
            <a:ext cx="19621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wr_ptr, rd_ptr</a:t>
            </a:r>
          </a:p>
          <a:p>
            <a:pPr algn="ctr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fifo_count</a:t>
            </a:r>
          </a:p>
          <a:p>
            <a:pPr algn="ctr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do_write, do_read</a:t>
            </a:r>
          </a:p>
          <a:p>
            <a:pPr algn="ctr">
              <a:defRPr sz="1200" b="0">
                <a:solidFill>
                  <a:srgbClr val="142033"/>
                </a:solidFill>
              </a:defRPr>
            </a:pPr>
            <a:r>
              <a:rPr sz="1200" b="0">
                <a:solidFill>
                  <a:srgbClr val="142033"/>
                </a:solidFill>
              </a:rPr>
              <a:t>full, empty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4E86881-BB15-4480-A28B-D4E74BD7F956}"/>
              </a:ext>
            </a:extLst>
          </p:cNvPr>
          <p:cNvSpPr>
            <a:spLocks noGrp="1"/>
          </p:cNvSpPr>
          <p:nvPr/>
        </p:nvSpPr>
        <p:spPr>
          <a:xfrm>
            <a:off x="6534150" y="2257425"/>
            <a:ext cx="742950" cy="247650"/>
          </a:xfrm>
          <a:prstGeom prst="rightArrow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54C48DF-0753-48DB-9A41-FE3CA2B02491}"/>
              </a:ext>
            </a:extLst>
          </p:cNvPr>
          <p:cNvSpPr>
            <a:spLocks noGrp="1"/>
          </p:cNvSpPr>
          <p:nvPr/>
        </p:nvSpPr>
        <p:spPr>
          <a:xfrm>
            <a:off x="7477125" y="1600200"/>
            <a:ext cx="266700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1430">
            <a:solidFill>
              <a:srgbClr val="D9E1E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2C22B6-1C4D-408E-BC78-FCECEFCF32F1}"/>
              </a:ext>
            </a:extLst>
          </p:cNvPr>
          <p:cNvSpPr>
            <a:spLocks noGrp="1"/>
          </p:cNvSpPr>
          <p:nvPr/>
        </p:nvSpPr>
        <p:spPr>
          <a:xfrm>
            <a:off x="7810500" y="190500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42033"/>
                </a:solidFill>
              </a:defRPr>
            </a:pPr>
            <a:r>
              <a:rPr sz="1575" b="1">
                <a:solidFill>
                  <a:srgbClr val="142033"/>
                </a:solidFill>
              </a:rPr>
              <a:t>Synchronous RAM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FF76A1-FB07-42F0-9739-68D099AB104C}"/>
              </a:ext>
            </a:extLst>
          </p:cNvPr>
          <p:cNvSpPr>
            <a:spLocks noGrp="1"/>
          </p:cNvSpPr>
          <p:nvPr/>
        </p:nvSpPr>
        <p:spPr>
          <a:xfrm>
            <a:off x="7886700" y="2324100"/>
            <a:ext cx="18478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waddr, raddr</a:t>
            </a:r>
          </a:p>
          <a:p>
            <a:pPr algn="ctr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din, dout</a:t>
            </a:r>
          </a:p>
          <a:p>
            <a:pPr algn="ctr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write enable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0AD2F35-70D5-4311-BEEC-6914B623AD48}"/>
              </a:ext>
            </a:extLst>
          </p:cNvPr>
          <p:cNvSpPr>
            <a:spLocks noGrp="1"/>
          </p:cNvSpPr>
          <p:nvPr/>
        </p:nvSpPr>
        <p:spPr>
          <a:xfrm>
            <a:off x="10325100" y="2257425"/>
            <a:ext cx="647700" cy="247650"/>
          </a:xfrm>
          <a:prstGeom prst="rightArrow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279BCAF-A694-451F-AC44-FC5BA9328A4B}"/>
              </a:ext>
            </a:extLst>
          </p:cNvPr>
          <p:cNvSpPr>
            <a:spLocks noGrp="1"/>
          </p:cNvSpPr>
          <p:nvPr/>
        </p:nvSpPr>
        <p:spPr>
          <a:xfrm>
            <a:off x="11096625" y="1809750"/>
            <a:ext cx="666750" cy="11430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1430">
            <a:solidFill>
              <a:srgbClr val="D9E1EC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93228F-9BC4-42AB-A6DD-109CC6881748}"/>
              </a:ext>
            </a:extLst>
          </p:cNvPr>
          <p:cNvSpPr>
            <a:spLocks noGrp="1"/>
          </p:cNvSpPr>
          <p:nvPr/>
        </p:nvSpPr>
        <p:spPr>
          <a:xfrm>
            <a:off x="11144250" y="1943100"/>
            <a:ext cx="571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Outputs</a:t>
            </a:r>
          </a:p>
          <a:p>
            <a:endParaRPr sz="975" b="1">
              <a:solidFill>
                <a:srgbClr val="142033"/>
              </a:solidFill>
            </a:endParaRPr>
          </a:p>
          <a:p>
            <a:pPr algn="ctr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rd_data</a:t>
            </a:r>
          </a:p>
          <a:p>
            <a:pPr algn="ctr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full</a:t>
            </a:r>
          </a:p>
          <a:p>
            <a:pPr algn="ctr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empty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EF2C95A-E363-426C-93EF-C4C333236C50}"/>
              </a:ext>
            </a:extLst>
          </p:cNvPr>
          <p:cNvSpPr>
            <a:spLocks noGrp="1"/>
          </p:cNvSpPr>
          <p:nvPr/>
        </p:nvSpPr>
        <p:spPr>
          <a:xfrm>
            <a:off x="3333750" y="4229100"/>
            <a:ext cx="35242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383">
            <a:solidFill>
              <a:srgbClr val="B5122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399D75-A9FB-4C5A-977B-DC68B64A778B}"/>
              </a:ext>
            </a:extLst>
          </p:cNvPr>
          <p:cNvSpPr>
            <a:spLocks noGrp="1"/>
          </p:cNvSpPr>
          <p:nvPr/>
        </p:nvSpPr>
        <p:spPr>
          <a:xfrm>
            <a:off x="3619500" y="440055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B5122B"/>
                </a:solidFill>
              </a:defRPr>
            </a:pPr>
            <a:r>
              <a:rPr sz="1500" b="1">
                <a:solidFill>
                  <a:srgbClr val="B5122B"/>
                </a:solidFill>
              </a:rPr>
              <a:t>Bound SVA checker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EECE98-E919-47D1-9FF9-9190A508C3D6}"/>
              </a:ext>
            </a:extLst>
          </p:cNvPr>
          <p:cNvSpPr>
            <a:spLocks noGrp="1"/>
          </p:cNvSpPr>
          <p:nvPr/>
        </p:nvSpPr>
        <p:spPr>
          <a:xfrm>
            <a:off x="3600450" y="4695825"/>
            <a:ext cx="2990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7730"/>
          </a:bodyPr>
          <a:lstStyle/>
          <a:p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observes internal pointers, count, and accepted operations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149E59-CC2E-428D-BD46-CD4E595F06CE}"/>
              </a:ext>
            </a:extLst>
          </p:cNvPr>
          <p:cNvSpPr>
            <a:spLocks noGrp="1"/>
          </p:cNvSpPr>
          <p:nvPr/>
        </p:nvSpPr>
        <p:spPr>
          <a:xfrm>
            <a:off x="4972050" y="3162300"/>
            <a:ext cx="28575" cy="8953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4A7E616-1F96-4323-B8BE-1CE9DAE40C78}"/>
              </a:ext>
            </a:extLst>
          </p:cNvPr>
          <p:cNvSpPr>
            <a:spLocks noGrp="1"/>
          </p:cNvSpPr>
          <p:nvPr/>
        </p:nvSpPr>
        <p:spPr>
          <a:xfrm>
            <a:off x="7410450" y="4229100"/>
            <a:ext cx="35242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383">
            <a:solidFill>
              <a:srgbClr val="2563EB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A5C51E-22A1-4CFD-B329-6F4B6FE06E27}"/>
              </a:ext>
            </a:extLst>
          </p:cNvPr>
          <p:cNvSpPr>
            <a:spLocks noGrp="1"/>
          </p:cNvSpPr>
          <p:nvPr/>
        </p:nvSpPr>
        <p:spPr>
          <a:xfrm>
            <a:off x="7696200" y="440055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Scoreboard model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AF05C8-9798-4948-96C8-3CCF60BD5381}"/>
              </a:ext>
            </a:extLst>
          </p:cNvPr>
          <p:cNvSpPr>
            <a:spLocks noGrp="1"/>
          </p:cNvSpPr>
          <p:nvPr/>
        </p:nvSpPr>
        <p:spPr>
          <a:xfrm>
            <a:off x="7696200" y="4695825"/>
            <a:ext cx="2952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keeps expected FIFO order using a queue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93F5035-3608-474A-A453-C414F7647861}"/>
              </a:ext>
            </a:extLst>
          </p:cNvPr>
          <p:cNvSpPr>
            <a:spLocks noGrp="1"/>
          </p:cNvSpPr>
          <p:nvPr/>
        </p:nvSpPr>
        <p:spPr>
          <a:xfrm>
            <a:off x="8810625" y="3162300"/>
            <a:ext cx="28575" cy="8953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2196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11523DD6-F6F6-4C1D-961E-0BF38CB187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148488-E3C0-4F0D-A292-4023933C2F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905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A4998F-5943-40FD-98F8-AF0721ED5144}"/>
              </a:ext>
            </a:extLst>
          </p:cNvPr>
          <p:cNvSpPr>
            <a:spLocks noGrp="1"/>
          </p:cNvSpPr>
          <p:nvPr/>
        </p:nvSpPr>
        <p:spPr>
          <a:xfrm>
            <a:off x="0" y="581025"/>
            <a:ext cx="12192000" cy="190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9117B5-2821-46D7-822A-9EE5C84A079A}"/>
              </a:ext>
            </a:extLst>
          </p:cNvPr>
          <p:cNvSpPr>
            <a:spLocks noGrp="1"/>
          </p:cNvSpPr>
          <p:nvPr/>
        </p:nvSpPr>
        <p:spPr>
          <a:xfrm>
            <a:off x="495300" y="17145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SystemVerilog Verification Environment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6CC2B0-54ED-4A85-B05A-9BC7A49F8810}"/>
              </a:ext>
            </a:extLst>
          </p:cNvPr>
          <p:cNvSpPr>
            <a:spLocks noGrp="1"/>
          </p:cNvSpPr>
          <p:nvPr/>
        </p:nvSpPr>
        <p:spPr>
          <a:xfrm>
            <a:off x="8810625" y="180975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Class-based testbench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EEF1C5-0935-4D40-9CFD-ADD037C85245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D2EB06-0CAA-41D4-A259-460ED3401386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55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07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382C2F-4C60-43D9-AE44-BC1B5EC29920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1000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5644"/>
          </a:bodyPr>
          <a:lstStyle/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The environment separates stimulus generation, bus driving, monitoring, and result checking. This makes each failure easier to localize.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B365945-64B2-4442-8922-A22FC4C2B5A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6573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335">
            <a:solidFill>
              <a:srgbClr val="08756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58A079-06DC-43B4-9DCD-60BE92F85FA3}"/>
              </a:ext>
            </a:extLst>
          </p:cNvPr>
          <p:cNvSpPr>
            <a:spLocks noGrp="1"/>
          </p:cNvSpPr>
          <p:nvPr/>
        </p:nvSpPr>
        <p:spPr>
          <a:xfrm>
            <a:off x="838200" y="20002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Generator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BFA08C-9FF3-4945-AEF8-585DB955E8AE}"/>
              </a:ext>
            </a:extLst>
          </p:cNvPr>
          <p:cNvSpPr>
            <a:spLocks noGrp="1"/>
          </p:cNvSpPr>
          <p:nvPr/>
        </p:nvSpPr>
        <p:spPr>
          <a:xfrm>
            <a:off x="838200" y="2286000"/>
            <a:ext cx="1352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random</a:t>
            </a:r>
          </a:p>
          <a:p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transaction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4C72934-CFCA-4F26-8016-73AA1DC0FDB7}"/>
              </a:ext>
            </a:extLst>
          </p:cNvPr>
          <p:cNvSpPr>
            <a:spLocks noGrp="1"/>
          </p:cNvSpPr>
          <p:nvPr/>
        </p:nvSpPr>
        <p:spPr>
          <a:xfrm>
            <a:off x="2400300" y="2133600"/>
            <a:ext cx="400050" cy="209550"/>
          </a:xfrm>
          <a:prstGeom prst="rightArrow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BBAE5D0-3FF1-4A28-ACBA-EFA041196292}"/>
              </a:ext>
            </a:extLst>
          </p:cNvPr>
          <p:cNvSpPr>
            <a:spLocks noGrp="1"/>
          </p:cNvSpPr>
          <p:nvPr/>
        </p:nvSpPr>
        <p:spPr>
          <a:xfrm>
            <a:off x="2800350" y="1809750"/>
            <a:ext cx="16573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335">
            <a:solidFill>
              <a:srgbClr val="08756F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A1EE95-C269-43D6-AF9B-4CA1487DF5A1}"/>
              </a:ext>
            </a:extLst>
          </p:cNvPr>
          <p:cNvSpPr>
            <a:spLocks noGrp="1"/>
          </p:cNvSpPr>
          <p:nvPr/>
        </p:nvSpPr>
        <p:spPr>
          <a:xfrm>
            <a:off x="2952750" y="20002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8756F"/>
                </a:solidFill>
              </a:defRPr>
            </a:pPr>
            <a:r>
              <a:rPr sz="1350" b="1">
                <a:solidFill>
                  <a:srgbClr val="08756F"/>
                </a:solidFill>
              </a:rPr>
              <a:t>Driver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A2A62E-7E09-445E-BFA3-35E1AEB66873}"/>
              </a:ext>
            </a:extLst>
          </p:cNvPr>
          <p:cNvSpPr>
            <a:spLocks noGrp="1"/>
          </p:cNvSpPr>
          <p:nvPr/>
        </p:nvSpPr>
        <p:spPr>
          <a:xfrm>
            <a:off x="2952750" y="2286000"/>
            <a:ext cx="1352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drives</a:t>
            </a:r>
          </a:p>
          <a:p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fifo_if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A3DFEB0-31A1-428C-B83D-D4FEE06492B6}"/>
              </a:ext>
            </a:extLst>
          </p:cNvPr>
          <p:cNvSpPr>
            <a:spLocks noGrp="1"/>
          </p:cNvSpPr>
          <p:nvPr/>
        </p:nvSpPr>
        <p:spPr>
          <a:xfrm>
            <a:off x="4514850" y="2133600"/>
            <a:ext cx="400050" cy="209550"/>
          </a:xfrm>
          <a:prstGeom prst="rightArrow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F7CAD6A-22DA-4C31-8438-E66AB0925A63}"/>
              </a:ext>
            </a:extLst>
          </p:cNvPr>
          <p:cNvSpPr>
            <a:spLocks noGrp="1"/>
          </p:cNvSpPr>
          <p:nvPr/>
        </p:nvSpPr>
        <p:spPr>
          <a:xfrm>
            <a:off x="4914900" y="1809750"/>
            <a:ext cx="16573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335">
            <a:solidFill>
              <a:srgbClr val="2563E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CFB65F-9276-4179-B156-8C40CFE66611}"/>
              </a:ext>
            </a:extLst>
          </p:cNvPr>
          <p:cNvSpPr>
            <a:spLocks noGrp="1"/>
          </p:cNvSpPr>
          <p:nvPr/>
        </p:nvSpPr>
        <p:spPr>
          <a:xfrm>
            <a:off x="5067300" y="20002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Interface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6190AD-CE84-418F-A727-E4896D957DBA}"/>
              </a:ext>
            </a:extLst>
          </p:cNvPr>
          <p:cNvSpPr>
            <a:spLocks noGrp="1"/>
          </p:cNvSpPr>
          <p:nvPr/>
        </p:nvSpPr>
        <p:spPr>
          <a:xfrm>
            <a:off x="5067300" y="2286000"/>
            <a:ext cx="1352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clk/rst</a:t>
            </a:r>
          </a:p>
          <a:p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signals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6702D113-A233-4000-B6A8-C0134261F553}"/>
              </a:ext>
            </a:extLst>
          </p:cNvPr>
          <p:cNvSpPr>
            <a:spLocks noGrp="1"/>
          </p:cNvSpPr>
          <p:nvPr/>
        </p:nvSpPr>
        <p:spPr>
          <a:xfrm>
            <a:off x="6629400" y="2133600"/>
            <a:ext cx="400050" cy="209550"/>
          </a:xfrm>
          <a:prstGeom prst="rightArrow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6B32162-CDDB-4541-A295-D8B32FF21DA8}"/>
              </a:ext>
            </a:extLst>
          </p:cNvPr>
          <p:cNvSpPr>
            <a:spLocks noGrp="1"/>
          </p:cNvSpPr>
          <p:nvPr/>
        </p:nvSpPr>
        <p:spPr>
          <a:xfrm>
            <a:off x="7029450" y="1809750"/>
            <a:ext cx="16573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335">
            <a:solidFill>
              <a:srgbClr val="2563EB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F12043-9735-40B7-A676-6AF35578BACA}"/>
              </a:ext>
            </a:extLst>
          </p:cNvPr>
          <p:cNvSpPr>
            <a:spLocks noGrp="1"/>
          </p:cNvSpPr>
          <p:nvPr/>
        </p:nvSpPr>
        <p:spPr>
          <a:xfrm>
            <a:off x="7181850" y="20002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DUT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50A953-C411-4364-9D6C-C3DAFC774A84}"/>
              </a:ext>
            </a:extLst>
          </p:cNvPr>
          <p:cNvSpPr>
            <a:spLocks noGrp="1"/>
          </p:cNvSpPr>
          <p:nvPr/>
        </p:nvSpPr>
        <p:spPr>
          <a:xfrm>
            <a:off x="7181850" y="2286000"/>
            <a:ext cx="1352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sync_fifo_ram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A85A1A83-56E9-4C39-B7A7-8B6EBF816A4C}"/>
              </a:ext>
            </a:extLst>
          </p:cNvPr>
          <p:cNvSpPr>
            <a:spLocks noGrp="1"/>
          </p:cNvSpPr>
          <p:nvPr/>
        </p:nvSpPr>
        <p:spPr>
          <a:xfrm>
            <a:off x="8743950" y="2133600"/>
            <a:ext cx="400050" cy="209550"/>
          </a:xfrm>
          <a:prstGeom prst="rightArrow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0A956A5-BAAC-4F23-A656-75EEC4A0738C}"/>
              </a:ext>
            </a:extLst>
          </p:cNvPr>
          <p:cNvSpPr>
            <a:spLocks noGrp="1"/>
          </p:cNvSpPr>
          <p:nvPr/>
        </p:nvSpPr>
        <p:spPr>
          <a:xfrm>
            <a:off x="9144000" y="1809750"/>
            <a:ext cx="16573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335">
            <a:solidFill>
              <a:srgbClr val="B5122B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95D94C-D89F-4661-BEBD-F8F664B02070}"/>
              </a:ext>
            </a:extLst>
          </p:cNvPr>
          <p:cNvSpPr>
            <a:spLocks noGrp="1"/>
          </p:cNvSpPr>
          <p:nvPr/>
        </p:nvSpPr>
        <p:spPr>
          <a:xfrm>
            <a:off x="9296400" y="20002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B5122B"/>
                </a:solidFill>
              </a:defRPr>
            </a:pPr>
            <a:r>
              <a:rPr sz="1350" b="1">
                <a:solidFill>
                  <a:srgbClr val="B5122B"/>
                </a:solidFill>
              </a:rPr>
              <a:t>SVA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C7EC33-F9C4-47C9-802B-B633E467FAB4}"/>
              </a:ext>
            </a:extLst>
          </p:cNvPr>
          <p:cNvSpPr>
            <a:spLocks noGrp="1"/>
          </p:cNvSpPr>
          <p:nvPr/>
        </p:nvSpPr>
        <p:spPr>
          <a:xfrm>
            <a:off x="9296400" y="2286000"/>
            <a:ext cx="1352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bind checker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77652C2-C86B-4C69-BB3A-D50FF6D624C0}"/>
              </a:ext>
            </a:extLst>
          </p:cNvPr>
          <p:cNvSpPr>
            <a:spLocks noGrp="1"/>
          </p:cNvSpPr>
          <p:nvPr/>
        </p:nvSpPr>
        <p:spPr>
          <a:xfrm>
            <a:off x="3000375" y="4143375"/>
            <a:ext cx="20002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335">
            <a:solidFill>
              <a:srgbClr val="D97706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DF84CA-7CA9-4247-B74E-0BD7DDD3EA6E}"/>
              </a:ext>
            </a:extLst>
          </p:cNvPr>
          <p:cNvSpPr>
            <a:spLocks noGrp="1"/>
          </p:cNvSpPr>
          <p:nvPr/>
        </p:nvSpPr>
        <p:spPr>
          <a:xfrm>
            <a:off x="3286125" y="4352925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Monitor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25B7871-3E0F-411A-82DA-D41ED4411B3A}"/>
              </a:ext>
            </a:extLst>
          </p:cNvPr>
          <p:cNvSpPr>
            <a:spLocks noGrp="1"/>
          </p:cNvSpPr>
          <p:nvPr/>
        </p:nvSpPr>
        <p:spPr>
          <a:xfrm>
            <a:off x="3286125" y="46672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samples bus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AD8C6F3-DBCF-48E5-8F50-43DE1D4126BD}"/>
              </a:ext>
            </a:extLst>
          </p:cNvPr>
          <p:cNvSpPr>
            <a:spLocks noGrp="1"/>
          </p:cNvSpPr>
          <p:nvPr/>
        </p:nvSpPr>
        <p:spPr>
          <a:xfrm>
            <a:off x="7620000" y="4143375"/>
            <a:ext cx="21907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335">
            <a:solidFill>
              <a:srgbClr val="12805C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79875E0-6686-4C95-83A6-22C753296E09}"/>
              </a:ext>
            </a:extLst>
          </p:cNvPr>
          <p:cNvSpPr>
            <a:spLocks noGrp="1"/>
          </p:cNvSpPr>
          <p:nvPr/>
        </p:nvSpPr>
        <p:spPr>
          <a:xfrm>
            <a:off x="7953375" y="4352925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2805C"/>
                </a:solidFill>
              </a:defRPr>
            </a:pPr>
            <a:r>
              <a:rPr sz="1350" b="1">
                <a:solidFill>
                  <a:srgbClr val="12805C"/>
                </a:solidFill>
              </a:rPr>
              <a:t>Scoreboard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3701585-11D3-44A0-BAE3-78AFE4C8F1F6}"/>
              </a:ext>
            </a:extLst>
          </p:cNvPr>
          <p:cNvSpPr>
            <a:spLocks noGrp="1"/>
          </p:cNvSpPr>
          <p:nvPr/>
        </p:nvSpPr>
        <p:spPr>
          <a:xfrm>
            <a:off x="7953375" y="4629150"/>
            <a:ext cx="152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compares expected</a:t>
            </a:r>
          </a:p>
          <a:p>
            <a:pPr algn="ctr">
              <a:defRPr sz="1125" b="0">
                <a:solidFill>
                  <a:srgbClr val="5C6675"/>
                </a:solidFill>
              </a:defRPr>
            </a:pPr>
            <a:r>
              <a:rPr sz="1125" b="0">
                <a:solidFill>
                  <a:srgbClr val="5C6675"/>
                </a:solidFill>
              </a:rPr>
              <a:t>vs actual data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6252D8-9D9B-409E-A76E-BBC082FE287C}"/>
              </a:ext>
            </a:extLst>
          </p:cNvPr>
          <p:cNvSpPr>
            <a:spLocks noGrp="1"/>
          </p:cNvSpPr>
          <p:nvPr/>
        </p:nvSpPr>
        <p:spPr>
          <a:xfrm>
            <a:off x="5743575" y="2733675"/>
            <a:ext cx="28575" cy="8572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0F63F1F3-9579-4F70-A0BF-BE3023CF5513}"/>
              </a:ext>
            </a:extLst>
          </p:cNvPr>
          <p:cNvSpPr>
            <a:spLocks noGrp="1"/>
          </p:cNvSpPr>
          <p:nvPr/>
        </p:nvSpPr>
        <p:spPr>
          <a:xfrm>
            <a:off x="5762625" y="3438525"/>
            <a:ext cx="266700" cy="323850"/>
          </a:xfrm>
          <a:prstGeom prst="rightArrow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411E5556-3C48-430A-A09B-A6D0EFC42DFB}"/>
              </a:ext>
            </a:extLst>
          </p:cNvPr>
          <p:cNvSpPr>
            <a:spLocks noGrp="1"/>
          </p:cNvSpPr>
          <p:nvPr/>
        </p:nvSpPr>
        <p:spPr>
          <a:xfrm>
            <a:off x="5219700" y="4457700"/>
            <a:ext cx="2171700" cy="228600"/>
          </a:xfrm>
          <a:prstGeom prst="rightArrow">
            <a:avLst/>
          </a:prstGeom>
          <a:solidFill>
            <a:srgbClr val="12805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8857A9C-BBF4-4336-B3C8-028F4D388980}"/>
              </a:ext>
            </a:extLst>
          </p:cNvPr>
          <p:cNvSpPr>
            <a:spLocks noGrp="1"/>
          </p:cNvSpPr>
          <p:nvPr/>
        </p:nvSpPr>
        <p:spPr>
          <a:xfrm>
            <a:off x="666750" y="5429250"/>
            <a:ext cx="10287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256A40A-4E0F-41B4-A480-C8BE21308974}"/>
              </a:ext>
            </a:extLst>
          </p:cNvPr>
          <p:cNvSpPr>
            <a:spLocks noGrp="1"/>
          </p:cNvSpPr>
          <p:nvPr/>
        </p:nvSpPr>
        <p:spPr>
          <a:xfrm>
            <a:off x="666750" y="5429250"/>
            <a:ext cx="57150" cy="552450"/>
          </a:xfrm>
          <a:prstGeom prst="rect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F6C6602-34A7-461D-AAB6-75CB5DD4CD8D}"/>
              </a:ext>
            </a:extLst>
          </p:cNvPr>
          <p:cNvSpPr>
            <a:spLocks noGrp="1"/>
          </p:cNvSpPr>
          <p:nvPr/>
        </p:nvSpPr>
        <p:spPr>
          <a:xfrm>
            <a:off x="895350" y="5619750"/>
            <a:ext cx="986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SystemVerilog features used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A2F3EA1-6059-4DF3-9861-D515EBA18761}"/>
              </a:ext>
            </a:extLst>
          </p:cNvPr>
          <p:cNvSpPr>
            <a:spLocks noGrp="1"/>
          </p:cNvSpPr>
          <p:nvPr/>
        </p:nvSpPr>
        <p:spPr>
          <a:xfrm>
            <a:off x="895350" y="6000750"/>
            <a:ext cx="9867900" cy="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10000"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class-based transaction, randomized generator, mailbox communication, virtual interface, bind-based assertions</a:t>
            </a:r>
          </a:p>
        </p:txBody>
      </p:sp>
    </p:spTree>
    <p:extLst>
      <p:ext uri="{BB962C8B-B14F-4D97-AF65-F5344CB8AC3E}">
        <p14:creationId xmlns:p14="http://schemas.microsoft.com/office/powerpoint/2010/main" val="1481334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11523DD6-F6F6-4C1D-961E-0BF38CB187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B4174-A275-47D1-B212-0076A9FFFF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905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587CA3-8800-4A4F-ADB8-CB29A4D8557D}"/>
              </a:ext>
            </a:extLst>
          </p:cNvPr>
          <p:cNvSpPr>
            <a:spLocks noGrp="1"/>
          </p:cNvSpPr>
          <p:nvPr/>
        </p:nvSpPr>
        <p:spPr>
          <a:xfrm>
            <a:off x="0" y="581025"/>
            <a:ext cx="12192000" cy="190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3C3376-8096-47F7-9883-4BD46D3181CB}"/>
              </a:ext>
            </a:extLst>
          </p:cNvPr>
          <p:cNvSpPr>
            <a:spLocks noGrp="1"/>
          </p:cNvSpPr>
          <p:nvPr/>
        </p:nvSpPr>
        <p:spPr>
          <a:xfrm>
            <a:off x="495300" y="17145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Assertion-Based Verification Plan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F5CA4B-8631-45FB-B260-3C1382CF5EA4}"/>
              </a:ext>
            </a:extLst>
          </p:cNvPr>
          <p:cNvSpPr>
            <a:spLocks noGrp="1"/>
          </p:cNvSpPr>
          <p:nvPr/>
        </p:nvSpPr>
        <p:spPr>
          <a:xfrm>
            <a:off x="8810625" y="180975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SVA checker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B092F3-2D0D-421B-82D9-D926B3E1E2C4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6E43EA-9278-47E6-BBCA-A3CAB66ADFEB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55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BC6D89-7489-49CE-83FE-A9F261D9BEBB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Assertions observe internal controller state and state exactly what must be true after each accepted operation.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88701BF-516C-4367-8639-B8DB2657F96F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22860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1430">
            <a:solidFill>
              <a:srgbClr val="B5122B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0FEA11-CD03-4FB4-B404-2C7030C8D15F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2019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B5122B"/>
                </a:solidFill>
              </a:defRPr>
            </a:pPr>
            <a:r>
              <a:rPr sz="1050" b="1">
                <a:solidFill>
                  <a:srgbClr val="B5122B"/>
                </a:solidFill>
              </a:rPr>
              <a:t>RST_STATE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1389EE-E6F4-4E6A-A5B7-35041E124D77}"/>
              </a:ext>
            </a:extLst>
          </p:cNvPr>
          <p:cNvSpPr>
            <a:spLocks noGrp="1"/>
          </p:cNvSpPr>
          <p:nvPr/>
        </p:nvSpPr>
        <p:spPr>
          <a:xfrm>
            <a:off x="3333750" y="1590675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After reset: empty high, full low, pointers zero, count zero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F6998A2-F8EF-4B7F-8FBF-50A2975964BB}"/>
              </a:ext>
            </a:extLst>
          </p:cNvPr>
          <p:cNvSpPr>
            <a:spLocks noGrp="1"/>
          </p:cNvSpPr>
          <p:nvPr/>
        </p:nvSpPr>
        <p:spPr>
          <a:xfrm>
            <a:off x="781050" y="2038350"/>
            <a:ext cx="22860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1430">
            <a:solidFill>
              <a:srgbClr val="08756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AFF47B-2D2C-4890-96AB-802B8F6949BF}"/>
              </a:ext>
            </a:extLst>
          </p:cNvPr>
          <p:cNvSpPr>
            <a:spLocks noGrp="1"/>
          </p:cNvSpPr>
          <p:nvPr/>
        </p:nvSpPr>
        <p:spPr>
          <a:xfrm>
            <a:off x="914400" y="2114550"/>
            <a:ext cx="2019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08756F"/>
                </a:solidFill>
              </a:defRPr>
            </a:pPr>
            <a:r>
              <a:rPr sz="1050" b="1">
                <a:solidFill>
                  <a:srgbClr val="08756F"/>
                </a:solidFill>
              </a:rPr>
              <a:t>FULL_FLAG / EMPTY_FLAG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2F7259-6E61-43A3-9850-A63A5DAB19EB}"/>
              </a:ext>
            </a:extLst>
          </p:cNvPr>
          <p:cNvSpPr>
            <a:spLocks noGrp="1"/>
          </p:cNvSpPr>
          <p:nvPr/>
        </p:nvSpPr>
        <p:spPr>
          <a:xfrm>
            <a:off x="3333750" y="2105025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Flags must match fifo_count == DEPTH and fifo_count == 0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AAB482-2B82-4F02-ACAD-F97748DC0414}"/>
              </a:ext>
            </a:extLst>
          </p:cNvPr>
          <p:cNvSpPr>
            <a:spLocks noGrp="1"/>
          </p:cNvSpPr>
          <p:nvPr/>
        </p:nvSpPr>
        <p:spPr>
          <a:xfrm>
            <a:off x="781050" y="2552700"/>
            <a:ext cx="22860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1430">
            <a:solidFill>
              <a:srgbClr val="D9770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DF8C4C-7731-4BEC-8220-253E12EEFF3F}"/>
              </a:ext>
            </a:extLst>
          </p:cNvPr>
          <p:cNvSpPr>
            <a:spLocks noGrp="1"/>
          </p:cNvSpPr>
          <p:nvPr/>
        </p:nvSpPr>
        <p:spPr>
          <a:xfrm>
            <a:off x="914400" y="2628900"/>
            <a:ext cx="2019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COUNT_RANGE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B0416D-9C33-44D9-941A-CD9ADF41C601}"/>
              </a:ext>
            </a:extLst>
          </p:cNvPr>
          <p:cNvSpPr>
            <a:spLocks noGrp="1"/>
          </p:cNvSpPr>
          <p:nvPr/>
        </p:nvSpPr>
        <p:spPr>
          <a:xfrm>
            <a:off x="3333750" y="2619375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fifo_count must stay within 0..DEPTH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0603FE5-6902-4A77-B7A8-9B08035FE05C}"/>
              </a:ext>
            </a:extLst>
          </p:cNvPr>
          <p:cNvSpPr>
            <a:spLocks noGrp="1"/>
          </p:cNvSpPr>
          <p:nvPr/>
        </p:nvSpPr>
        <p:spPr>
          <a:xfrm>
            <a:off x="781050" y="3067050"/>
            <a:ext cx="22860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83635C-D9AE-4751-9B96-446B9C287DB7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2019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WRITE_ONLY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8FB324-0A7D-4AC5-A27E-2CBFB7280284}"/>
              </a:ext>
            </a:extLst>
          </p:cNvPr>
          <p:cNvSpPr>
            <a:spLocks noGrp="1"/>
          </p:cNvSpPr>
          <p:nvPr/>
        </p:nvSpPr>
        <p:spPr>
          <a:xfrm>
            <a:off x="3333750" y="3133725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write pointer increments, read pointer stable, count increments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8424358-7670-45E2-937A-242478CB578E}"/>
              </a:ext>
            </a:extLst>
          </p:cNvPr>
          <p:cNvSpPr>
            <a:spLocks noGrp="1"/>
          </p:cNvSpPr>
          <p:nvPr/>
        </p:nvSpPr>
        <p:spPr>
          <a:xfrm>
            <a:off x="781050" y="3581400"/>
            <a:ext cx="22860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7827AF-5781-4715-A424-7AC364C76CCD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2019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READ_ONLY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5B73C4-9A79-4D9D-979D-4A96C2D0421E}"/>
              </a:ext>
            </a:extLst>
          </p:cNvPr>
          <p:cNvSpPr>
            <a:spLocks noGrp="1"/>
          </p:cNvSpPr>
          <p:nvPr/>
        </p:nvSpPr>
        <p:spPr>
          <a:xfrm>
            <a:off x="3333750" y="3648075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read pointer increments, write pointer stable, count decrements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CDAE518-4213-4950-BE36-2F8DB8409689}"/>
              </a:ext>
            </a:extLst>
          </p:cNvPr>
          <p:cNvSpPr>
            <a:spLocks noGrp="1"/>
          </p:cNvSpPr>
          <p:nvPr/>
        </p:nvSpPr>
        <p:spPr>
          <a:xfrm>
            <a:off x="781050" y="4095750"/>
            <a:ext cx="22860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1430">
            <a:solidFill>
              <a:srgbClr val="12805C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779788-2E9B-4386-8815-B33249C3866C}"/>
              </a:ext>
            </a:extLst>
          </p:cNvPr>
          <p:cNvSpPr>
            <a:spLocks noGrp="1"/>
          </p:cNvSpPr>
          <p:nvPr/>
        </p:nvSpPr>
        <p:spPr>
          <a:xfrm>
            <a:off x="914400" y="4171950"/>
            <a:ext cx="2019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2805C"/>
                </a:solidFill>
              </a:defRPr>
            </a:pPr>
            <a:r>
              <a:rPr sz="1050" b="1">
                <a:solidFill>
                  <a:srgbClr val="12805C"/>
                </a:solidFill>
              </a:rPr>
              <a:t>READ_WRITE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8F9F8D-2415-4B9A-B377-49CE9A6E9AC6}"/>
              </a:ext>
            </a:extLst>
          </p:cNvPr>
          <p:cNvSpPr>
            <a:spLocks noGrp="1"/>
          </p:cNvSpPr>
          <p:nvPr/>
        </p:nvSpPr>
        <p:spPr>
          <a:xfrm>
            <a:off x="3333750" y="4162425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both pointers move while count remains stable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F8366F1-0763-4DAC-8D4F-1B5923D17818}"/>
              </a:ext>
            </a:extLst>
          </p:cNvPr>
          <p:cNvSpPr>
            <a:spLocks noGrp="1"/>
          </p:cNvSpPr>
          <p:nvPr/>
        </p:nvSpPr>
        <p:spPr>
          <a:xfrm>
            <a:off x="781050" y="4610100"/>
            <a:ext cx="22860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1430">
            <a:solidFill>
              <a:srgbClr val="B5122B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94E5282-ACEE-4026-A7BF-E27542CCC0AE}"/>
              </a:ext>
            </a:extLst>
          </p:cNvPr>
          <p:cNvSpPr>
            <a:spLocks noGrp="1"/>
          </p:cNvSpPr>
          <p:nvPr/>
        </p:nvSpPr>
        <p:spPr>
          <a:xfrm>
            <a:off x="914400" y="4686300"/>
            <a:ext cx="2019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B5122B"/>
                </a:solidFill>
              </a:defRPr>
            </a:pPr>
            <a:r>
              <a:rPr sz="1050" b="1">
                <a:solidFill>
                  <a:srgbClr val="B5122B"/>
                </a:solidFill>
              </a:rPr>
              <a:t>READ_EMPTY / WRITE_FULL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8BBE60-8F9A-48C8-B366-951B9D2DCA1F}"/>
              </a:ext>
            </a:extLst>
          </p:cNvPr>
          <p:cNvSpPr>
            <a:spLocks noGrp="1"/>
          </p:cNvSpPr>
          <p:nvPr/>
        </p:nvSpPr>
        <p:spPr>
          <a:xfrm>
            <a:off x="3333750" y="4676775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invalid requests must be blocked at boundaries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EC6CDB8-118C-4132-9749-A07499662CCF}"/>
              </a:ext>
            </a:extLst>
          </p:cNvPr>
          <p:cNvSpPr>
            <a:spLocks noGrp="1"/>
          </p:cNvSpPr>
          <p:nvPr/>
        </p:nvSpPr>
        <p:spPr>
          <a:xfrm>
            <a:off x="7239000" y="4905375"/>
            <a:ext cx="3905250" cy="1143000"/>
          </a:xfrm>
          <a:prstGeom prst="roundRect">
            <a:avLst>
              <a:gd name="adj" fmla="val 6667"/>
            </a:avLst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BD71D97-E506-4B08-8CFE-7B4813979E2F}"/>
              </a:ext>
            </a:extLst>
          </p:cNvPr>
          <p:cNvSpPr>
            <a:spLocks noGrp="1"/>
          </p:cNvSpPr>
          <p:nvPr/>
        </p:nvSpPr>
        <p:spPr>
          <a:xfrm>
            <a:off x="7410450" y="5019675"/>
            <a:ext cx="3562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1D5C9"/>
                </a:solidFill>
              </a:defRPr>
            </a:pPr>
            <a:r>
              <a:rPr sz="900" b="1">
                <a:solidFill>
                  <a:srgbClr val="91D5C9"/>
                </a:solidFill>
              </a:rPr>
              <a:t>Example property intent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3ADAF3D-DCDA-4D4A-861D-8A2B83FB04C9}"/>
              </a:ext>
            </a:extLst>
          </p:cNvPr>
          <p:cNvSpPr>
            <a:spLocks noGrp="1"/>
          </p:cNvSpPr>
          <p:nvPr/>
        </p:nvSpPr>
        <p:spPr>
          <a:xfrm>
            <a:off x="7410450" y="5248275"/>
            <a:ext cx="35623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8643"/>
          </a:bodyPr>
          <a:lstStyle/>
          <a:p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READ_ONLY:</a:t>
            </a:r>
          </a:p>
          <a:p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  (!do_write &amp;&amp; do_read) |=&gt;</a:t>
            </a:r>
          </a:p>
          <a:p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    wr_ptr == $past(wr_ptr) &amp;&amp;</a:t>
            </a:r>
          </a:p>
          <a:p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    rd_ptr == $past(rd_ptr) + 1'b1 &amp;&amp;</a:t>
            </a:r>
          </a:p>
          <a:p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    fifo_count == $past(fifo_count) - 1'b1;</a:t>
            </a:r>
          </a:p>
        </p:txBody>
      </p:sp>
    </p:spTree>
    <p:extLst>
      <p:ext uri="{BB962C8B-B14F-4D97-AF65-F5344CB8AC3E}">
        <p14:creationId xmlns:p14="http://schemas.microsoft.com/office/powerpoint/2010/main" val="1301317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lide Number Placeholder 5">
            <a:extLst>
              <a:ext uri="{FF2B5EF4-FFF2-40B4-BE49-F238E27FC236}">
                <a16:creationId xmlns:a16="http://schemas.microsoft.com/office/drawing/2014/main" id="{11523DD6-F6F6-4C1D-961E-0BF38CB187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11799-0BA2-4400-85EB-AC4C759C57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905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61FEAD-02A3-4952-92A1-4C2789BB2C4C}"/>
              </a:ext>
            </a:extLst>
          </p:cNvPr>
          <p:cNvSpPr>
            <a:spLocks noGrp="1"/>
          </p:cNvSpPr>
          <p:nvPr/>
        </p:nvSpPr>
        <p:spPr>
          <a:xfrm>
            <a:off x="0" y="581025"/>
            <a:ext cx="12192000" cy="190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90EF7F-4D96-471B-B209-3F6ED9BE4D74}"/>
              </a:ext>
            </a:extLst>
          </p:cNvPr>
          <p:cNvSpPr>
            <a:spLocks noGrp="1"/>
          </p:cNvSpPr>
          <p:nvPr/>
        </p:nvSpPr>
        <p:spPr>
          <a:xfrm>
            <a:off x="495300" y="17145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Fault Injection Methodology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503ED2-DE92-4AB8-BF2F-1E5B337D7CF3}"/>
              </a:ext>
            </a:extLst>
          </p:cNvPr>
          <p:cNvSpPr>
            <a:spLocks noGrp="1"/>
          </p:cNvSpPr>
          <p:nvPr/>
        </p:nvSpPr>
        <p:spPr>
          <a:xfrm>
            <a:off x="8810625" y="180975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Negative testing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5D2A7C-958D-40DE-953E-D866649DEF59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4F5148-9150-419C-80D9-AA1FA36C6685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55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09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66C898-5B4A-4D32-B126-5660427322EA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962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Five faulty RTL copies were tested one at a time. The clean testbench and assertion module stayed unchanged.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037F3C7-A309-49F0-B6C5-735B3804F23E}"/>
              </a:ext>
            </a:extLst>
          </p:cNvPr>
          <p:cNvSpPr>
            <a:spLocks noGrp="1"/>
          </p:cNvSpPr>
          <p:nvPr/>
        </p:nvSpPr>
        <p:spPr>
          <a:xfrm>
            <a:off x="800100" y="1752600"/>
            <a:ext cx="419100" cy="419100"/>
          </a:xfrm>
          <a:prstGeom prst="ellipse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829476-827F-4FEB-9AED-E5A26037309D}"/>
              </a:ext>
            </a:extLst>
          </p:cNvPr>
          <p:cNvSpPr>
            <a:spLocks noGrp="1"/>
          </p:cNvSpPr>
          <p:nvPr/>
        </p:nvSpPr>
        <p:spPr>
          <a:xfrm>
            <a:off x="800100" y="1809750"/>
            <a:ext cx="419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991FC5B-35E1-4669-8D5F-FCEDA48FECA0}"/>
              </a:ext>
            </a:extLst>
          </p:cNvPr>
          <p:cNvSpPr>
            <a:spLocks noGrp="1"/>
          </p:cNvSpPr>
          <p:nvPr/>
        </p:nvSpPr>
        <p:spPr>
          <a:xfrm>
            <a:off x="742950" y="2324100"/>
            <a:ext cx="21907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126FBA-9CB1-497B-8638-2EC678749E89}"/>
              </a:ext>
            </a:extLst>
          </p:cNvPr>
          <p:cNvSpPr>
            <a:spLocks noGrp="1"/>
          </p:cNvSpPr>
          <p:nvPr/>
        </p:nvSpPr>
        <p:spPr>
          <a:xfrm>
            <a:off x="742950" y="2324100"/>
            <a:ext cx="57150" cy="1162050"/>
          </a:xfrm>
          <a:prstGeom prst="rect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CE3C33-07D0-493A-AE67-85F4AD8526D8}"/>
              </a:ext>
            </a:extLst>
          </p:cNvPr>
          <p:cNvSpPr>
            <a:spLocks noGrp="1"/>
          </p:cNvSpPr>
          <p:nvPr/>
        </p:nvSpPr>
        <p:spPr>
          <a:xfrm>
            <a:off x="971550" y="2514600"/>
            <a:ext cx="1771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Start clean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E8EFB8-D87E-4DE8-ABFB-4C8ABD2D9DE9}"/>
              </a:ext>
            </a:extLst>
          </p:cNvPr>
          <p:cNvSpPr>
            <a:spLocks noGrp="1"/>
          </p:cNvSpPr>
          <p:nvPr/>
        </p:nvSpPr>
        <p:spPr>
          <a:xfrm>
            <a:off x="971550" y="2895600"/>
            <a:ext cx="17716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Run clean design and confirm zero errors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86545A8-7D71-4C4B-9F46-7C413D57B3AA}"/>
              </a:ext>
            </a:extLst>
          </p:cNvPr>
          <p:cNvSpPr>
            <a:spLocks noGrp="1"/>
          </p:cNvSpPr>
          <p:nvPr/>
        </p:nvSpPr>
        <p:spPr>
          <a:xfrm>
            <a:off x="3009900" y="2752725"/>
            <a:ext cx="476250" cy="209550"/>
          </a:xfrm>
          <a:prstGeom prst="rightArrow">
            <a:avLst/>
          </a:prstGeom>
          <a:solidFill>
            <a:srgbClr val="5C66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6DB602F-9EB4-4BC7-8FB7-49AFC174F9BA}"/>
              </a:ext>
            </a:extLst>
          </p:cNvPr>
          <p:cNvSpPr>
            <a:spLocks noGrp="1"/>
          </p:cNvSpPr>
          <p:nvPr/>
        </p:nvSpPr>
        <p:spPr>
          <a:xfrm>
            <a:off x="3581400" y="1752600"/>
            <a:ext cx="419100" cy="419100"/>
          </a:xfrm>
          <a:prstGeom prst="ellipse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1E18F7-12DF-49A0-9451-F1C1520CF65D}"/>
              </a:ext>
            </a:extLst>
          </p:cNvPr>
          <p:cNvSpPr>
            <a:spLocks noGrp="1"/>
          </p:cNvSpPr>
          <p:nvPr/>
        </p:nvSpPr>
        <p:spPr>
          <a:xfrm>
            <a:off x="3581400" y="1809750"/>
            <a:ext cx="419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DB0D3D2-F35A-4FF9-8712-BAF81367A9B7}"/>
              </a:ext>
            </a:extLst>
          </p:cNvPr>
          <p:cNvSpPr>
            <a:spLocks noGrp="1"/>
          </p:cNvSpPr>
          <p:nvPr/>
        </p:nvSpPr>
        <p:spPr>
          <a:xfrm>
            <a:off x="3524250" y="2324100"/>
            <a:ext cx="21907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4A02BB-9A14-4871-AE59-72EC48870C71}"/>
              </a:ext>
            </a:extLst>
          </p:cNvPr>
          <p:cNvSpPr>
            <a:spLocks noGrp="1"/>
          </p:cNvSpPr>
          <p:nvPr/>
        </p:nvSpPr>
        <p:spPr>
          <a:xfrm>
            <a:off x="3524250" y="2324100"/>
            <a:ext cx="57150" cy="11620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B0AF40-9673-4A81-8BE3-034E4D9788BD}"/>
              </a:ext>
            </a:extLst>
          </p:cNvPr>
          <p:cNvSpPr>
            <a:spLocks noGrp="1"/>
          </p:cNvSpPr>
          <p:nvPr/>
        </p:nvSpPr>
        <p:spPr>
          <a:xfrm>
            <a:off x="3752850" y="2514600"/>
            <a:ext cx="1771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 dirty="0">
                <a:solidFill>
                  <a:srgbClr val="142033"/>
                </a:solidFill>
              </a:rPr>
              <a:t>Insert one fault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DE01AD-9B9F-420A-9ED2-4467A0AC9F59}"/>
              </a:ext>
            </a:extLst>
          </p:cNvPr>
          <p:cNvSpPr>
            <a:spLocks noGrp="1"/>
          </p:cNvSpPr>
          <p:nvPr/>
        </p:nvSpPr>
        <p:spPr>
          <a:xfrm>
            <a:off x="3752850" y="2895600"/>
            <a:ext cx="17716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Copy one buggy design into EDA Playground design.sv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0849FBAB-9C6A-4E43-AB8A-A6693E2910B2}"/>
              </a:ext>
            </a:extLst>
          </p:cNvPr>
          <p:cNvSpPr>
            <a:spLocks noGrp="1"/>
          </p:cNvSpPr>
          <p:nvPr/>
        </p:nvSpPr>
        <p:spPr>
          <a:xfrm>
            <a:off x="5791200" y="2752725"/>
            <a:ext cx="476250" cy="209550"/>
          </a:xfrm>
          <a:prstGeom prst="rightArrow">
            <a:avLst/>
          </a:prstGeom>
          <a:solidFill>
            <a:srgbClr val="5C66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83789B4-BCDE-48C1-8FF7-30D80E81B963}"/>
              </a:ext>
            </a:extLst>
          </p:cNvPr>
          <p:cNvSpPr>
            <a:spLocks noGrp="1"/>
          </p:cNvSpPr>
          <p:nvPr/>
        </p:nvSpPr>
        <p:spPr>
          <a:xfrm>
            <a:off x="6362700" y="1752600"/>
            <a:ext cx="419100" cy="419100"/>
          </a:xfrm>
          <a:prstGeom prst="ellipse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98E248-2832-4A53-A842-1E6BEC4BCEC4}"/>
              </a:ext>
            </a:extLst>
          </p:cNvPr>
          <p:cNvSpPr>
            <a:spLocks noGrp="1"/>
          </p:cNvSpPr>
          <p:nvPr/>
        </p:nvSpPr>
        <p:spPr>
          <a:xfrm>
            <a:off x="6362700" y="1809750"/>
            <a:ext cx="419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958048E-8783-4553-B019-4FF30CE836DB}"/>
              </a:ext>
            </a:extLst>
          </p:cNvPr>
          <p:cNvSpPr>
            <a:spLocks noGrp="1"/>
          </p:cNvSpPr>
          <p:nvPr/>
        </p:nvSpPr>
        <p:spPr>
          <a:xfrm>
            <a:off x="6305550" y="2324100"/>
            <a:ext cx="21907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C01D30-D5A1-49AE-BFE7-430AB91B617F}"/>
              </a:ext>
            </a:extLst>
          </p:cNvPr>
          <p:cNvSpPr>
            <a:spLocks noGrp="1"/>
          </p:cNvSpPr>
          <p:nvPr/>
        </p:nvSpPr>
        <p:spPr>
          <a:xfrm>
            <a:off x="6305550" y="2324100"/>
            <a:ext cx="57150" cy="1162050"/>
          </a:xfrm>
          <a:prstGeom prst="rect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71642B-D902-4DF5-8536-01362D00813D}"/>
              </a:ext>
            </a:extLst>
          </p:cNvPr>
          <p:cNvSpPr>
            <a:spLocks noGrp="1"/>
          </p:cNvSpPr>
          <p:nvPr/>
        </p:nvSpPr>
        <p:spPr>
          <a:xfrm>
            <a:off x="6534150" y="2514600"/>
            <a:ext cx="1771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Run simulation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28A5DE-50DC-43B4-9BD1-5E8B442F75E9}"/>
              </a:ext>
            </a:extLst>
          </p:cNvPr>
          <p:cNvSpPr>
            <a:spLocks noGrp="1"/>
          </p:cNvSpPr>
          <p:nvPr/>
        </p:nvSpPr>
        <p:spPr>
          <a:xfrm>
            <a:off x="6534150" y="2895600"/>
            <a:ext cx="17716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 dirty="0">
                <a:solidFill>
                  <a:srgbClr val="5C6675"/>
                </a:solidFill>
              </a:rPr>
              <a:t>Keep testbench.sv and assert_fifo_ram.sv fixed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56E43EC7-9E62-45D9-9CF2-82FFF059EDD0}"/>
              </a:ext>
            </a:extLst>
          </p:cNvPr>
          <p:cNvSpPr>
            <a:spLocks noGrp="1"/>
          </p:cNvSpPr>
          <p:nvPr/>
        </p:nvSpPr>
        <p:spPr>
          <a:xfrm>
            <a:off x="8572500" y="2752725"/>
            <a:ext cx="476250" cy="209550"/>
          </a:xfrm>
          <a:prstGeom prst="rightArrow">
            <a:avLst/>
          </a:prstGeom>
          <a:solidFill>
            <a:srgbClr val="5C66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7F537FB-1499-4580-8A9F-0419A017528D}"/>
              </a:ext>
            </a:extLst>
          </p:cNvPr>
          <p:cNvSpPr>
            <a:spLocks noGrp="1"/>
          </p:cNvSpPr>
          <p:nvPr/>
        </p:nvSpPr>
        <p:spPr>
          <a:xfrm>
            <a:off x="9144000" y="1752600"/>
            <a:ext cx="419100" cy="419100"/>
          </a:xfrm>
          <a:prstGeom prst="ellipse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C023C8-0857-4392-92A5-3F08DC876A80}"/>
              </a:ext>
            </a:extLst>
          </p:cNvPr>
          <p:cNvSpPr>
            <a:spLocks noGrp="1"/>
          </p:cNvSpPr>
          <p:nvPr/>
        </p:nvSpPr>
        <p:spPr>
          <a:xfrm>
            <a:off x="9144000" y="1809750"/>
            <a:ext cx="419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3AABB1E-F1F4-4157-8568-6459A2831A59}"/>
              </a:ext>
            </a:extLst>
          </p:cNvPr>
          <p:cNvSpPr>
            <a:spLocks noGrp="1"/>
          </p:cNvSpPr>
          <p:nvPr/>
        </p:nvSpPr>
        <p:spPr>
          <a:xfrm>
            <a:off x="9086850" y="2324100"/>
            <a:ext cx="21907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6E2F316-8698-4EF3-997E-53021CA12F48}"/>
              </a:ext>
            </a:extLst>
          </p:cNvPr>
          <p:cNvSpPr>
            <a:spLocks noGrp="1"/>
          </p:cNvSpPr>
          <p:nvPr/>
        </p:nvSpPr>
        <p:spPr>
          <a:xfrm>
            <a:off x="9086850" y="2324100"/>
            <a:ext cx="57150" cy="1162050"/>
          </a:xfrm>
          <a:prstGeom prst="rect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F9BFAF0-AA4A-412D-B687-2A0B87BAA27C}"/>
              </a:ext>
            </a:extLst>
          </p:cNvPr>
          <p:cNvSpPr>
            <a:spLocks noGrp="1"/>
          </p:cNvSpPr>
          <p:nvPr/>
        </p:nvSpPr>
        <p:spPr>
          <a:xfrm>
            <a:off x="9315450" y="2514600"/>
            <a:ext cx="1771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Capture evidence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07AE536-9E58-4F94-AD45-42F9622CB365}"/>
              </a:ext>
            </a:extLst>
          </p:cNvPr>
          <p:cNvSpPr>
            <a:spLocks noGrp="1"/>
          </p:cNvSpPr>
          <p:nvPr/>
        </p:nvSpPr>
        <p:spPr>
          <a:xfrm>
            <a:off x="9315450" y="2895600"/>
            <a:ext cx="17716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 dirty="0">
                <a:solidFill>
                  <a:srgbClr val="5C6675"/>
                </a:solidFill>
              </a:rPr>
              <a:t>Save transcript failures and </a:t>
            </a:r>
            <a:r>
              <a:rPr sz="1200" b="0" dirty="0" err="1">
                <a:solidFill>
                  <a:srgbClr val="5C6675"/>
                </a:solidFill>
              </a:rPr>
              <a:t>EPWave</a:t>
            </a:r>
            <a:r>
              <a:rPr sz="1200" b="0" dirty="0">
                <a:solidFill>
                  <a:srgbClr val="5C6675"/>
                </a:solidFill>
              </a:rPr>
              <a:t> waveform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214B825-B459-4C64-BCDD-9A96A63C200E}"/>
              </a:ext>
            </a:extLst>
          </p:cNvPr>
          <p:cNvSpPr>
            <a:spLocks noGrp="1"/>
          </p:cNvSpPr>
          <p:nvPr/>
        </p:nvSpPr>
        <p:spPr>
          <a:xfrm>
            <a:off x="876300" y="4267200"/>
            <a:ext cx="28575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3219DA3-BCD4-4080-8107-9443199A4356}"/>
              </a:ext>
            </a:extLst>
          </p:cNvPr>
          <p:cNvSpPr>
            <a:spLocks noGrp="1"/>
          </p:cNvSpPr>
          <p:nvPr/>
        </p:nvSpPr>
        <p:spPr>
          <a:xfrm>
            <a:off x="1009650" y="4391025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B5122B"/>
                </a:solidFill>
              </a:defRPr>
            </a:pPr>
            <a:r>
              <a:rPr sz="975" b="1">
                <a:solidFill>
                  <a:srgbClr val="B5122B"/>
                </a:solidFill>
              </a:rPr>
              <a:t>Issue 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6D33EB1-BF22-4D63-A564-53FAF0C8F9E9}"/>
              </a:ext>
            </a:extLst>
          </p:cNvPr>
          <p:cNvSpPr>
            <a:spLocks noGrp="1"/>
          </p:cNvSpPr>
          <p:nvPr/>
        </p:nvSpPr>
        <p:spPr>
          <a:xfrm>
            <a:off x="1752600" y="4391025"/>
            <a:ext cx="1752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75" b="0">
                <a:solidFill>
                  <a:srgbClr val="142033"/>
                </a:solidFill>
              </a:defRPr>
            </a:pPr>
            <a:r>
              <a:rPr sz="975" b="0">
                <a:solidFill>
                  <a:srgbClr val="142033"/>
                </a:solidFill>
              </a:rPr>
              <a:t>Reset count not cleared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2B7562E-8526-4614-9C08-EEAA69987B78}"/>
              </a:ext>
            </a:extLst>
          </p:cNvPr>
          <p:cNvSpPr>
            <a:spLocks noGrp="1"/>
          </p:cNvSpPr>
          <p:nvPr/>
        </p:nvSpPr>
        <p:spPr>
          <a:xfrm>
            <a:off x="4305300" y="4267200"/>
            <a:ext cx="28575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7AE2572-F27F-4833-A1CD-2984CF9D5F3C}"/>
              </a:ext>
            </a:extLst>
          </p:cNvPr>
          <p:cNvSpPr>
            <a:spLocks noGrp="1"/>
          </p:cNvSpPr>
          <p:nvPr/>
        </p:nvSpPr>
        <p:spPr>
          <a:xfrm>
            <a:off x="4438650" y="4391025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B5122B"/>
                </a:solidFill>
              </a:defRPr>
            </a:pPr>
            <a:r>
              <a:rPr sz="975" b="1">
                <a:solidFill>
                  <a:srgbClr val="B5122B"/>
                </a:solidFill>
              </a:rPr>
              <a:t>Issue 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41856BA-3401-4223-98D0-4FF8BEB17854}"/>
              </a:ext>
            </a:extLst>
          </p:cNvPr>
          <p:cNvSpPr>
            <a:spLocks noGrp="1"/>
          </p:cNvSpPr>
          <p:nvPr/>
        </p:nvSpPr>
        <p:spPr>
          <a:xfrm>
            <a:off x="5181600" y="4391025"/>
            <a:ext cx="1752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75" b="0">
                <a:solidFill>
                  <a:srgbClr val="142033"/>
                </a:solidFill>
              </a:defRPr>
            </a:pPr>
            <a:r>
              <a:rPr sz="975" b="0">
                <a:solidFill>
                  <a:srgbClr val="142033"/>
                </a:solidFill>
              </a:rPr>
              <a:t>Read accepted while empty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57DC904-58B9-4D28-BEB7-785A629911B4}"/>
              </a:ext>
            </a:extLst>
          </p:cNvPr>
          <p:cNvSpPr>
            <a:spLocks noGrp="1"/>
          </p:cNvSpPr>
          <p:nvPr/>
        </p:nvSpPr>
        <p:spPr>
          <a:xfrm>
            <a:off x="7734300" y="4267200"/>
            <a:ext cx="28575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85E0809-5656-43AC-88F7-5E24F5B84738}"/>
              </a:ext>
            </a:extLst>
          </p:cNvPr>
          <p:cNvSpPr>
            <a:spLocks noGrp="1"/>
          </p:cNvSpPr>
          <p:nvPr/>
        </p:nvSpPr>
        <p:spPr>
          <a:xfrm>
            <a:off x="7867650" y="4391025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B5122B"/>
                </a:solidFill>
              </a:defRPr>
            </a:pPr>
            <a:r>
              <a:rPr sz="975" b="1">
                <a:solidFill>
                  <a:srgbClr val="B5122B"/>
                </a:solidFill>
              </a:rPr>
              <a:t>Issue 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3DF4CD0-94E8-41E6-8CBE-C71195C86E71}"/>
              </a:ext>
            </a:extLst>
          </p:cNvPr>
          <p:cNvSpPr>
            <a:spLocks noGrp="1"/>
          </p:cNvSpPr>
          <p:nvPr/>
        </p:nvSpPr>
        <p:spPr>
          <a:xfrm>
            <a:off x="8610600" y="4391025"/>
            <a:ext cx="1752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75" b="0">
                <a:solidFill>
                  <a:srgbClr val="142033"/>
                </a:solidFill>
              </a:defRPr>
            </a:pPr>
            <a:r>
              <a:rPr sz="975" b="0">
                <a:solidFill>
                  <a:srgbClr val="142033"/>
                </a:solidFill>
              </a:rPr>
              <a:t>Full flag asserted too early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35EB790-60E7-4800-A9B7-B29597011614}"/>
              </a:ext>
            </a:extLst>
          </p:cNvPr>
          <p:cNvSpPr>
            <a:spLocks noGrp="1"/>
          </p:cNvSpPr>
          <p:nvPr/>
        </p:nvSpPr>
        <p:spPr>
          <a:xfrm>
            <a:off x="876300" y="4953000"/>
            <a:ext cx="28575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2DE6158-5D9E-4773-BF31-74E7DAEF72C0}"/>
              </a:ext>
            </a:extLst>
          </p:cNvPr>
          <p:cNvSpPr>
            <a:spLocks noGrp="1"/>
          </p:cNvSpPr>
          <p:nvPr/>
        </p:nvSpPr>
        <p:spPr>
          <a:xfrm>
            <a:off x="1009650" y="5076825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B5122B"/>
                </a:solidFill>
              </a:defRPr>
            </a:pPr>
            <a:r>
              <a:rPr sz="975" b="1">
                <a:solidFill>
                  <a:srgbClr val="B5122B"/>
                </a:solidFill>
              </a:rPr>
              <a:t>Issue 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72FAB18-7479-4CD3-B7BD-F692CCF7A899}"/>
              </a:ext>
            </a:extLst>
          </p:cNvPr>
          <p:cNvSpPr>
            <a:spLocks noGrp="1"/>
          </p:cNvSpPr>
          <p:nvPr/>
        </p:nvSpPr>
        <p:spPr>
          <a:xfrm>
            <a:off x="1752600" y="5076825"/>
            <a:ext cx="1752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97388"/>
          </a:bodyPr>
          <a:lstStyle/>
          <a:p>
            <a:pPr algn="l">
              <a:defRPr sz="975" b="0">
                <a:solidFill>
                  <a:srgbClr val="142033"/>
                </a:solidFill>
              </a:defRPr>
            </a:pPr>
            <a:r>
              <a:rPr sz="975" b="0">
                <a:solidFill>
                  <a:srgbClr val="142033"/>
                </a:solidFill>
              </a:rPr>
              <a:t>Empty flag asserted one count early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4B65F89-655F-4054-AAAB-A5E08E2A88B3}"/>
              </a:ext>
            </a:extLst>
          </p:cNvPr>
          <p:cNvSpPr>
            <a:spLocks noGrp="1"/>
          </p:cNvSpPr>
          <p:nvPr/>
        </p:nvSpPr>
        <p:spPr>
          <a:xfrm>
            <a:off x="4305300" y="4953000"/>
            <a:ext cx="2857500" cy="457200"/>
          </a:xfrm>
          <a:prstGeom prst="roundRect">
            <a:avLst>
              <a:gd name="adj" fmla="val 16667"/>
            </a:avLst>
          </a:prstGeom>
          <a:solidFill>
            <a:srgbClr val="FFF1D6"/>
          </a:solidFill>
          <a:ln w="10478">
            <a:solidFill>
              <a:srgbClr val="D97706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848C450-FB73-4A15-834E-E5E2DCC29B72}"/>
              </a:ext>
            </a:extLst>
          </p:cNvPr>
          <p:cNvSpPr>
            <a:spLocks noGrp="1"/>
          </p:cNvSpPr>
          <p:nvPr/>
        </p:nvSpPr>
        <p:spPr>
          <a:xfrm>
            <a:off x="4438650" y="5076825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D97706"/>
                </a:solidFill>
              </a:defRPr>
            </a:pPr>
            <a:r>
              <a:rPr sz="975" b="1">
                <a:solidFill>
                  <a:srgbClr val="D97706"/>
                </a:solidFill>
              </a:rPr>
              <a:t>Issue 5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D84A521-44A0-4D6E-AFCA-D81465FCE393}"/>
              </a:ext>
            </a:extLst>
          </p:cNvPr>
          <p:cNvSpPr>
            <a:spLocks noGrp="1"/>
          </p:cNvSpPr>
          <p:nvPr/>
        </p:nvSpPr>
        <p:spPr>
          <a:xfrm>
            <a:off x="5181600" y="5076825"/>
            <a:ext cx="1752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75" b="0">
                <a:solidFill>
                  <a:srgbClr val="142033"/>
                </a:solidFill>
              </a:defRPr>
            </a:pPr>
            <a:r>
              <a:rPr sz="975" b="0">
                <a:solidFill>
                  <a:srgbClr val="142033"/>
                </a:solidFill>
              </a:rPr>
              <a:t>Read pointer does not advance</a:t>
            </a:r>
          </a:p>
        </p:txBody>
      </p:sp>
    </p:spTree>
    <p:extLst>
      <p:ext uri="{BB962C8B-B14F-4D97-AF65-F5344CB8AC3E}">
        <p14:creationId xmlns:p14="http://schemas.microsoft.com/office/powerpoint/2010/main" val="137145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11523DD6-F6F6-4C1D-961E-0BF38CB187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C992F9-EB41-4F5C-906E-11DBE931D6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905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E9A701-0239-4775-AA64-10363913FA0C}"/>
              </a:ext>
            </a:extLst>
          </p:cNvPr>
          <p:cNvSpPr>
            <a:spLocks noGrp="1"/>
          </p:cNvSpPr>
          <p:nvPr/>
        </p:nvSpPr>
        <p:spPr>
          <a:xfrm>
            <a:off x="0" y="581025"/>
            <a:ext cx="12192000" cy="190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E34343-AD82-46B8-9E3A-B33C9286632F}"/>
              </a:ext>
            </a:extLst>
          </p:cNvPr>
          <p:cNvSpPr>
            <a:spLocks noGrp="1"/>
          </p:cNvSpPr>
          <p:nvPr/>
        </p:nvSpPr>
        <p:spPr>
          <a:xfrm>
            <a:off x="495300" y="17145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Baseline Expected Behaviour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039D16-6370-4940-89DC-D60AED5D157F}"/>
              </a:ext>
            </a:extLst>
          </p:cNvPr>
          <p:cNvSpPr>
            <a:spLocks noGrp="1"/>
          </p:cNvSpPr>
          <p:nvPr/>
        </p:nvSpPr>
        <p:spPr>
          <a:xfrm>
            <a:off x="8810625" y="180975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Clean RTL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6E8200-4D58-47F1-AEC8-A3284D49FB43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B90385-29A2-40F9-A12D-29A1D2249A83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55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023692-4E48-43CB-A0CA-0BF1384AB131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Before negative testing, the clean FIFO must satisfy normal state transitions and boundary blocking rules.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DEC6D7-E2FF-47AB-8270-8AF676C3B420}"/>
              </a:ext>
            </a:extLst>
          </p:cNvPr>
          <p:cNvSpPr>
            <a:spLocks noGrp="1"/>
          </p:cNvSpPr>
          <p:nvPr/>
        </p:nvSpPr>
        <p:spPr>
          <a:xfrm>
            <a:off x="914400" y="1524000"/>
            <a:ext cx="24765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E744CE-1789-4C98-8164-B8DB0A910DA5}"/>
              </a:ext>
            </a:extLst>
          </p:cNvPr>
          <p:cNvSpPr>
            <a:spLocks noGrp="1"/>
          </p:cNvSpPr>
          <p:nvPr/>
        </p:nvSpPr>
        <p:spPr>
          <a:xfrm>
            <a:off x="1066800" y="1647825"/>
            <a:ext cx="2171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12805C"/>
                </a:solidFill>
              </a:defRPr>
            </a:pPr>
            <a:r>
              <a:rPr sz="1875" b="1">
                <a:solidFill>
                  <a:srgbClr val="12805C"/>
                </a:solidFill>
              </a:rPr>
              <a:t>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CE6080-681F-4DDA-83C0-3AD14412C605}"/>
              </a:ext>
            </a:extLst>
          </p:cNvPr>
          <p:cNvSpPr>
            <a:spLocks noGrp="1"/>
          </p:cNvSpPr>
          <p:nvPr/>
        </p:nvSpPr>
        <p:spPr>
          <a:xfrm>
            <a:off x="1066800" y="2000250"/>
            <a:ext cx="2171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expected scoreboard errors for clean run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F687DD3-5F0B-4A39-BD69-580C44C0B5FA}"/>
              </a:ext>
            </a:extLst>
          </p:cNvPr>
          <p:cNvSpPr>
            <a:spLocks noGrp="1"/>
          </p:cNvSpPr>
          <p:nvPr/>
        </p:nvSpPr>
        <p:spPr>
          <a:xfrm>
            <a:off x="3714750" y="1524000"/>
            <a:ext cx="21907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2019F2-4248-4D05-BBCC-43768CBC338B}"/>
              </a:ext>
            </a:extLst>
          </p:cNvPr>
          <p:cNvSpPr>
            <a:spLocks noGrp="1"/>
          </p:cNvSpPr>
          <p:nvPr/>
        </p:nvSpPr>
        <p:spPr>
          <a:xfrm>
            <a:off x="3867150" y="1647825"/>
            <a:ext cx="1885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16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021AB1-72AE-4E7E-983C-DA835276ABF3}"/>
              </a:ext>
            </a:extLst>
          </p:cNvPr>
          <p:cNvSpPr>
            <a:spLocks noGrp="1"/>
          </p:cNvSpPr>
          <p:nvPr/>
        </p:nvSpPr>
        <p:spPr>
          <a:xfrm>
            <a:off x="3867150" y="200025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FIFO depth when AW = 4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1A1376B-C9EC-4E4C-A983-97558AE36F1F}"/>
              </a:ext>
            </a:extLst>
          </p:cNvPr>
          <p:cNvSpPr>
            <a:spLocks noGrp="1"/>
          </p:cNvSpPr>
          <p:nvPr/>
        </p:nvSpPr>
        <p:spPr>
          <a:xfrm>
            <a:off x="6229350" y="1524000"/>
            <a:ext cx="23812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1C158F-BC0D-42F9-B2EA-96710525D872}"/>
              </a:ext>
            </a:extLst>
          </p:cNvPr>
          <p:cNvSpPr>
            <a:spLocks noGrp="1"/>
          </p:cNvSpPr>
          <p:nvPr/>
        </p:nvSpPr>
        <p:spPr>
          <a:xfrm>
            <a:off x="6381750" y="1647825"/>
            <a:ext cx="2076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B5122B"/>
                </a:solidFill>
              </a:defRPr>
            </a:pPr>
            <a:r>
              <a:rPr sz="1875" b="1">
                <a:solidFill>
                  <a:srgbClr val="B5122B"/>
                </a:solidFill>
              </a:rPr>
              <a:t>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8D07C8-EBF5-447F-9F34-DADFE2556455}"/>
              </a:ext>
            </a:extLst>
          </p:cNvPr>
          <p:cNvSpPr>
            <a:spLocks noGrp="1"/>
          </p:cNvSpPr>
          <p:nvPr/>
        </p:nvSpPr>
        <p:spPr>
          <a:xfrm>
            <a:off x="6381750" y="2000250"/>
            <a:ext cx="2076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intentional faulty RTL versions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3500690-F360-4F46-B57B-261BEABD0744}"/>
              </a:ext>
            </a:extLst>
          </p:cNvPr>
          <p:cNvSpPr>
            <a:spLocks noGrp="1"/>
          </p:cNvSpPr>
          <p:nvPr/>
        </p:nvSpPr>
        <p:spPr>
          <a:xfrm>
            <a:off x="8934450" y="1524000"/>
            <a:ext cx="21907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4300CF-F16C-49A2-B217-16049C78D53C}"/>
              </a:ext>
            </a:extLst>
          </p:cNvPr>
          <p:cNvSpPr>
            <a:spLocks noGrp="1"/>
          </p:cNvSpPr>
          <p:nvPr/>
        </p:nvSpPr>
        <p:spPr>
          <a:xfrm>
            <a:off x="9086850" y="1647825"/>
            <a:ext cx="1885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08756F"/>
                </a:solidFill>
              </a:defRPr>
            </a:pPr>
            <a:r>
              <a:rPr sz="1875" b="1">
                <a:solidFill>
                  <a:srgbClr val="08756F"/>
                </a:solidFill>
              </a:rPr>
              <a:t>SVA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CDBF54-D56F-4B65-A568-21E9E3164C20}"/>
              </a:ext>
            </a:extLst>
          </p:cNvPr>
          <p:cNvSpPr>
            <a:spLocks noGrp="1"/>
          </p:cNvSpPr>
          <p:nvPr/>
        </p:nvSpPr>
        <p:spPr>
          <a:xfrm>
            <a:off x="9086850" y="200025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structural/protocol checks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AD005CF-6405-4F43-9C56-A48791F71EF9}"/>
              </a:ext>
            </a:extLst>
          </p:cNvPr>
          <p:cNvSpPr>
            <a:spLocks noGrp="1"/>
          </p:cNvSpPr>
          <p:nvPr/>
        </p:nvSpPr>
        <p:spPr>
          <a:xfrm>
            <a:off x="1123950" y="3000375"/>
            <a:ext cx="22860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0478">
            <a:solidFill>
              <a:srgbClr val="08756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ADE6E0-47C6-4E06-970D-D518D08000FD}"/>
              </a:ext>
            </a:extLst>
          </p:cNvPr>
          <p:cNvSpPr>
            <a:spLocks noGrp="1"/>
          </p:cNvSpPr>
          <p:nvPr/>
        </p:nvSpPr>
        <p:spPr>
          <a:xfrm>
            <a:off x="1352550" y="3076575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08756F"/>
                </a:solidFill>
              </a:defRPr>
            </a:pPr>
            <a:r>
              <a:rPr sz="1125" b="1">
                <a:solidFill>
                  <a:srgbClr val="08756F"/>
                </a:solidFill>
              </a:rPr>
              <a:t>Reset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BBE6BF-8FF5-48C8-AE6C-A0B0CB14A12C}"/>
              </a:ext>
            </a:extLst>
          </p:cNvPr>
          <p:cNvSpPr>
            <a:spLocks noGrp="1"/>
          </p:cNvSpPr>
          <p:nvPr/>
        </p:nvSpPr>
        <p:spPr>
          <a:xfrm>
            <a:off x="3714750" y="3067050"/>
            <a:ext cx="685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wr_ptr = 0, rd_ptr = 0, fifo_count = 0, empty = 1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2FC470C-A824-4936-9B20-890382AB33E0}"/>
              </a:ext>
            </a:extLst>
          </p:cNvPr>
          <p:cNvSpPr>
            <a:spLocks noGrp="1"/>
          </p:cNvSpPr>
          <p:nvPr/>
        </p:nvSpPr>
        <p:spPr>
          <a:xfrm>
            <a:off x="1123950" y="3476625"/>
            <a:ext cx="22860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0478">
            <a:solidFill>
              <a:srgbClr val="08756F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A233771-89C4-470F-95EC-D03278B1CA69}"/>
              </a:ext>
            </a:extLst>
          </p:cNvPr>
          <p:cNvSpPr>
            <a:spLocks noGrp="1"/>
          </p:cNvSpPr>
          <p:nvPr/>
        </p:nvSpPr>
        <p:spPr>
          <a:xfrm>
            <a:off x="1352550" y="3552825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08756F"/>
                </a:solidFill>
              </a:defRPr>
            </a:pPr>
            <a:r>
              <a:rPr sz="1125" b="1">
                <a:solidFill>
                  <a:srgbClr val="08756F"/>
                </a:solidFill>
              </a:rPr>
              <a:t>Write-only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53E7024-4B21-4534-8EB3-1F060EDF15CC}"/>
              </a:ext>
            </a:extLst>
          </p:cNvPr>
          <p:cNvSpPr>
            <a:spLocks noGrp="1"/>
          </p:cNvSpPr>
          <p:nvPr/>
        </p:nvSpPr>
        <p:spPr>
          <a:xfrm>
            <a:off x="3714750" y="3543300"/>
            <a:ext cx="685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wr_ptr increments and fifo_count increases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5C8D031-82F2-4521-8658-F470A0B0868B}"/>
              </a:ext>
            </a:extLst>
          </p:cNvPr>
          <p:cNvSpPr>
            <a:spLocks noGrp="1"/>
          </p:cNvSpPr>
          <p:nvPr/>
        </p:nvSpPr>
        <p:spPr>
          <a:xfrm>
            <a:off x="1123950" y="3952875"/>
            <a:ext cx="22860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0478">
            <a:solidFill>
              <a:srgbClr val="08756F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68862B-E86F-4709-A2A2-6FC10C353E09}"/>
              </a:ext>
            </a:extLst>
          </p:cNvPr>
          <p:cNvSpPr>
            <a:spLocks noGrp="1"/>
          </p:cNvSpPr>
          <p:nvPr/>
        </p:nvSpPr>
        <p:spPr>
          <a:xfrm>
            <a:off x="1352550" y="4029075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08756F"/>
                </a:solidFill>
              </a:defRPr>
            </a:pPr>
            <a:r>
              <a:rPr sz="1125" b="1">
                <a:solidFill>
                  <a:srgbClr val="08756F"/>
                </a:solidFill>
              </a:rPr>
              <a:t>Read-only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7C6776-82AE-4013-B992-7F0500C83592}"/>
              </a:ext>
            </a:extLst>
          </p:cNvPr>
          <p:cNvSpPr>
            <a:spLocks noGrp="1"/>
          </p:cNvSpPr>
          <p:nvPr/>
        </p:nvSpPr>
        <p:spPr>
          <a:xfrm>
            <a:off x="3714750" y="4019550"/>
            <a:ext cx="685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rd_ptr increments and fifo_count decreases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06B79EF-C95C-491C-BFB0-4E43DE21B8B1}"/>
              </a:ext>
            </a:extLst>
          </p:cNvPr>
          <p:cNvSpPr>
            <a:spLocks noGrp="1"/>
          </p:cNvSpPr>
          <p:nvPr/>
        </p:nvSpPr>
        <p:spPr>
          <a:xfrm>
            <a:off x="1123950" y="4429125"/>
            <a:ext cx="22860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0478">
            <a:solidFill>
              <a:srgbClr val="08756F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726CC4-4E9D-4884-B318-A369FABB4676}"/>
              </a:ext>
            </a:extLst>
          </p:cNvPr>
          <p:cNvSpPr>
            <a:spLocks noGrp="1"/>
          </p:cNvSpPr>
          <p:nvPr/>
        </p:nvSpPr>
        <p:spPr>
          <a:xfrm>
            <a:off x="1352550" y="4505325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08756F"/>
                </a:solidFill>
              </a:defRPr>
            </a:pPr>
            <a:r>
              <a:rPr sz="1125" b="1">
                <a:solidFill>
                  <a:srgbClr val="08756F"/>
                </a:solidFill>
              </a:rPr>
              <a:t>Simultaneous read/write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687A208-2265-437D-B2A8-964D5E6110C3}"/>
              </a:ext>
            </a:extLst>
          </p:cNvPr>
          <p:cNvSpPr>
            <a:spLocks noGrp="1"/>
          </p:cNvSpPr>
          <p:nvPr/>
        </p:nvSpPr>
        <p:spPr>
          <a:xfrm>
            <a:off x="3714750" y="4495800"/>
            <a:ext cx="685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both pointers move and fifo_count stays stable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83AC61D-D5E0-4D19-8A6B-CC6017EBF686}"/>
              </a:ext>
            </a:extLst>
          </p:cNvPr>
          <p:cNvSpPr>
            <a:spLocks noGrp="1"/>
          </p:cNvSpPr>
          <p:nvPr/>
        </p:nvSpPr>
        <p:spPr>
          <a:xfrm>
            <a:off x="1123950" y="4905375"/>
            <a:ext cx="22860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0478">
            <a:solidFill>
              <a:srgbClr val="08756F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85F0C4A-1AE9-48EB-AFDF-02C02050583F}"/>
              </a:ext>
            </a:extLst>
          </p:cNvPr>
          <p:cNvSpPr>
            <a:spLocks noGrp="1"/>
          </p:cNvSpPr>
          <p:nvPr/>
        </p:nvSpPr>
        <p:spPr>
          <a:xfrm>
            <a:off x="1352550" y="4981575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08756F"/>
                </a:solidFill>
              </a:defRPr>
            </a:pPr>
            <a:r>
              <a:rPr sz="1125" b="1">
                <a:solidFill>
                  <a:srgbClr val="08756F"/>
                </a:solidFill>
              </a:rPr>
              <a:t>Boundary rules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FF913D2-79E6-41E8-8805-C52F2B77AA27}"/>
              </a:ext>
            </a:extLst>
          </p:cNvPr>
          <p:cNvSpPr>
            <a:spLocks noGrp="1"/>
          </p:cNvSpPr>
          <p:nvPr/>
        </p:nvSpPr>
        <p:spPr>
          <a:xfrm>
            <a:off x="3714750" y="4972050"/>
            <a:ext cx="685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read blocked when empty; write blocked when full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CD28587-479A-41CD-9F98-7B4E417E7746}"/>
              </a:ext>
            </a:extLst>
          </p:cNvPr>
          <p:cNvSpPr>
            <a:spLocks noGrp="1"/>
          </p:cNvSpPr>
          <p:nvPr/>
        </p:nvSpPr>
        <p:spPr>
          <a:xfrm>
            <a:off x="7105650" y="4686300"/>
            <a:ext cx="3333750" cy="990600"/>
          </a:xfrm>
          <a:prstGeom prst="roundRect">
            <a:avLst>
              <a:gd name="adj" fmla="val 7692"/>
            </a:avLst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8CF0590-BB49-4AE7-BAD6-C6C5282EC43B}"/>
              </a:ext>
            </a:extLst>
          </p:cNvPr>
          <p:cNvSpPr>
            <a:spLocks noGrp="1"/>
          </p:cNvSpPr>
          <p:nvPr/>
        </p:nvSpPr>
        <p:spPr>
          <a:xfrm>
            <a:off x="7277100" y="4800600"/>
            <a:ext cx="2990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1D5C9"/>
                </a:solidFill>
              </a:defRPr>
            </a:pPr>
            <a:r>
              <a:rPr sz="900" b="1">
                <a:solidFill>
                  <a:srgbClr val="91D5C9"/>
                </a:solidFill>
              </a:rPr>
              <a:t>Pointer update example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1E35D73-D800-4900-AC49-281EF2DB869C}"/>
              </a:ext>
            </a:extLst>
          </p:cNvPr>
          <p:cNvSpPr>
            <a:spLocks noGrp="1"/>
          </p:cNvSpPr>
          <p:nvPr/>
        </p:nvSpPr>
        <p:spPr>
          <a:xfrm>
            <a:off x="7277100" y="5029200"/>
            <a:ext cx="2990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61167"/>
          </a:bodyPr>
          <a:lstStyle/>
          <a:p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Correct RTL target:</a:t>
            </a:r>
          </a:p>
          <a:p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rd_ptr &lt;= rd_ptr + 1'b1;</a:t>
            </a:r>
          </a:p>
          <a:p>
            <a:endParaRPr sz="1125" b="0">
              <a:solidFill>
                <a:srgbClr val="F8FAFC"/>
              </a:solidFill>
            </a:endParaRPr>
          </a:p>
          <a:p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Issue 5 bug changes this to:</a:t>
            </a:r>
          </a:p>
          <a:p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rd_ptr &lt;= rd_ptr;</a:t>
            </a:r>
          </a:p>
        </p:txBody>
      </p:sp>
    </p:spTree>
    <p:extLst>
      <p:ext uri="{BB962C8B-B14F-4D97-AF65-F5344CB8AC3E}">
        <p14:creationId xmlns:p14="http://schemas.microsoft.com/office/powerpoint/2010/main" val="740807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11523DD6-F6F6-4C1D-961E-0BF38CB187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C0B677-27A3-45BC-BA02-7D13D12B1B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905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32BC76-AD89-429A-A753-FEEE8924CB25}"/>
              </a:ext>
            </a:extLst>
          </p:cNvPr>
          <p:cNvSpPr>
            <a:spLocks noGrp="1"/>
          </p:cNvSpPr>
          <p:nvPr/>
        </p:nvSpPr>
        <p:spPr>
          <a:xfrm>
            <a:off x="0" y="581025"/>
            <a:ext cx="12192000" cy="190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95F977-711B-45A6-89E6-61AC20169AEA}"/>
              </a:ext>
            </a:extLst>
          </p:cNvPr>
          <p:cNvSpPr>
            <a:spLocks noGrp="1"/>
          </p:cNvSpPr>
          <p:nvPr/>
        </p:nvSpPr>
        <p:spPr>
          <a:xfrm>
            <a:off x="495300" y="17145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Fault Results: Issues 1 and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5FF739-7579-4CF5-A2EA-019A4721EC93}"/>
              </a:ext>
            </a:extLst>
          </p:cNvPr>
          <p:cNvSpPr>
            <a:spLocks noGrp="1"/>
          </p:cNvSpPr>
          <p:nvPr/>
        </p:nvSpPr>
        <p:spPr>
          <a:xfrm>
            <a:off x="8810625" y="180975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Reset and underflow protection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7CB74C-C289-4162-8118-32B393C84CCC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66CA4E-E036-4B8C-863B-7F4299C5DF91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55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11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B29EEAA-0660-4CA8-8BD8-DC2206B1550B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52197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99ED83-1F3C-4CE9-BCDA-97242CCF8FC6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57150" cy="11239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C9E22-413E-4CD7-9201-8CA6EBEE222C}"/>
              </a:ext>
            </a:extLst>
          </p:cNvPr>
          <p:cNvSpPr>
            <a:spLocks noGrp="1"/>
          </p:cNvSpPr>
          <p:nvPr/>
        </p:nvSpPr>
        <p:spPr>
          <a:xfrm>
            <a:off x="838200" y="1066800"/>
            <a:ext cx="480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Issue 1: reset count not cleared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98216B-E2BD-4821-B146-FD68D1F5DC3C}"/>
              </a:ext>
            </a:extLst>
          </p:cNvPr>
          <p:cNvSpPr>
            <a:spLocks noGrp="1"/>
          </p:cNvSpPr>
          <p:nvPr/>
        </p:nvSpPr>
        <p:spPr>
          <a:xfrm>
            <a:off x="838200" y="1447800"/>
            <a:ext cx="4800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1680"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Bug: fifo_count reset to 1 instead of 0.</a:t>
            </a:r>
          </a:p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Caught by: RST_STATE assertion.</a:t>
            </a:r>
          </a:p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Effect: empty flag becomes wrong immediately after reset.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AB30C4B-6CBB-46E6-BB82-F040F2A5896C}"/>
              </a:ext>
            </a:extLst>
          </p:cNvPr>
          <p:cNvSpPr>
            <a:spLocks noGrp="1"/>
          </p:cNvSpPr>
          <p:nvPr/>
        </p:nvSpPr>
        <p:spPr>
          <a:xfrm>
            <a:off x="6362700" y="876300"/>
            <a:ext cx="52197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FD543E-6404-4A8C-AB21-8E217B11251F}"/>
              </a:ext>
            </a:extLst>
          </p:cNvPr>
          <p:cNvSpPr>
            <a:spLocks noGrp="1"/>
          </p:cNvSpPr>
          <p:nvPr/>
        </p:nvSpPr>
        <p:spPr>
          <a:xfrm>
            <a:off x="6362700" y="876300"/>
            <a:ext cx="57150" cy="11239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8D59A4-8D71-4B88-8910-9771A0AF0516}"/>
              </a:ext>
            </a:extLst>
          </p:cNvPr>
          <p:cNvSpPr>
            <a:spLocks noGrp="1"/>
          </p:cNvSpPr>
          <p:nvPr/>
        </p:nvSpPr>
        <p:spPr>
          <a:xfrm>
            <a:off x="6591300" y="1066800"/>
            <a:ext cx="480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Issue 2: read while empty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A72971-6E13-4F8F-8BAA-532B963BFB3C}"/>
              </a:ext>
            </a:extLst>
          </p:cNvPr>
          <p:cNvSpPr>
            <a:spLocks noGrp="1"/>
          </p:cNvSpPr>
          <p:nvPr/>
        </p:nvSpPr>
        <p:spPr>
          <a:xfrm>
            <a:off x="6591300" y="1447800"/>
            <a:ext cx="4800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1680"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Bug: do_read uses rd_en without checking empty.</a:t>
            </a:r>
          </a:p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Caught by: READ_EMPTY and COUNT_RANGE.</a:t>
            </a:r>
          </a:p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Effect: fifo_count underflows and rd_data becomes invalid.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018AEED-359C-4DA7-98B9-56FE32DB3F0B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52197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35D861-5077-4985-98C0-4B76AAD849BE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5219700" cy="323850"/>
          </a:xfrm>
          <a:prstGeom prst="rect">
            <a:avLst/>
          </a:prstGeom>
          <a:solidFill>
            <a:srgbClr val="EEF2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C6A429-A523-4E9D-9411-89B82AD3141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5219700" cy="190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689D77-6675-44E7-AB27-614AD0DCE97A}"/>
              </a:ext>
            </a:extLst>
          </p:cNvPr>
          <p:cNvSpPr>
            <a:spLocks noGrp="1"/>
          </p:cNvSpPr>
          <p:nvPr/>
        </p:nvSpPr>
        <p:spPr>
          <a:xfrm>
            <a:off x="742950" y="2352675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Issue 1 waveform: fifo_count starts at 1 during reset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50542" y="2705099"/>
            <a:ext cx="4438680" cy="1223963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12A7B98-40FB-4B68-A8B6-6DD2F71F8B21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52197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791DBB-4B3B-4DDC-9E29-AA3ADCC39794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5219700" cy="323850"/>
          </a:xfrm>
          <a:prstGeom prst="rect">
            <a:avLst/>
          </a:prstGeom>
          <a:solidFill>
            <a:srgbClr val="EEF2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C08A6B-DB2B-4754-BCF8-5C5A8B3F0A2F}"/>
              </a:ext>
            </a:extLst>
          </p:cNvPr>
          <p:cNvSpPr>
            <a:spLocks noGrp="1"/>
          </p:cNvSpPr>
          <p:nvPr/>
        </p:nvSpPr>
        <p:spPr>
          <a:xfrm>
            <a:off x="609600" y="4410075"/>
            <a:ext cx="5219700" cy="190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43A30E-C9AE-4C0F-A529-2A87DEEEA3D4}"/>
              </a:ext>
            </a:extLst>
          </p:cNvPr>
          <p:cNvSpPr>
            <a:spLocks noGrp="1"/>
          </p:cNvSpPr>
          <p:nvPr/>
        </p:nvSpPr>
        <p:spPr>
          <a:xfrm>
            <a:off x="742950" y="4162425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Issue 1 log: reset assertion failures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232132" y="4514850"/>
            <a:ext cx="1974636" cy="1485900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51D0E19-0A94-4951-8F78-E2A41FB0BA9B}"/>
              </a:ext>
            </a:extLst>
          </p:cNvPr>
          <p:cNvSpPr>
            <a:spLocks noGrp="1"/>
          </p:cNvSpPr>
          <p:nvPr/>
        </p:nvSpPr>
        <p:spPr>
          <a:xfrm>
            <a:off x="6448425" y="2381250"/>
            <a:ext cx="52197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4D7F46-E20B-4174-991A-0BE4ACBF500D}"/>
              </a:ext>
            </a:extLst>
          </p:cNvPr>
          <p:cNvSpPr>
            <a:spLocks noGrp="1"/>
          </p:cNvSpPr>
          <p:nvPr/>
        </p:nvSpPr>
        <p:spPr>
          <a:xfrm>
            <a:off x="6362700" y="2286000"/>
            <a:ext cx="5219700" cy="323850"/>
          </a:xfrm>
          <a:prstGeom prst="rect">
            <a:avLst/>
          </a:prstGeom>
          <a:solidFill>
            <a:srgbClr val="EEF2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B6A58B4-336B-4A37-8DF6-806B5A0FFAC3}"/>
              </a:ext>
            </a:extLst>
          </p:cNvPr>
          <p:cNvSpPr>
            <a:spLocks noGrp="1"/>
          </p:cNvSpPr>
          <p:nvPr/>
        </p:nvSpPr>
        <p:spPr>
          <a:xfrm>
            <a:off x="6362700" y="2600325"/>
            <a:ext cx="5219700" cy="190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E3C080-587B-41AD-8BEC-1CFD88866EFC}"/>
              </a:ext>
            </a:extLst>
          </p:cNvPr>
          <p:cNvSpPr>
            <a:spLocks noGrp="1"/>
          </p:cNvSpPr>
          <p:nvPr/>
        </p:nvSpPr>
        <p:spPr>
          <a:xfrm>
            <a:off x="6496050" y="2352675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Issue 2 waveform: do_read accepted while empty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147204" y="2695575"/>
            <a:ext cx="3688792" cy="1276350"/>
          </a:xfrm>
          <a:prstGeom prst="rect">
            <a:avLst/>
          </a:prstGeom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262B7AB-4AD8-4DE9-AEB0-6C96E10267E0}"/>
              </a:ext>
            </a:extLst>
          </p:cNvPr>
          <p:cNvSpPr>
            <a:spLocks noGrp="1"/>
          </p:cNvSpPr>
          <p:nvPr/>
        </p:nvSpPr>
        <p:spPr>
          <a:xfrm>
            <a:off x="6362700" y="4095750"/>
            <a:ext cx="52197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5A766E7-F0C1-42BF-A062-28E2A31FF7A5}"/>
              </a:ext>
            </a:extLst>
          </p:cNvPr>
          <p:cNvSpPr>
            <a:spLocks noGrp="1"/>
          </p:cNvSpPr>
          <p:nvPr/>
        </p:nvSpPr>
        <p:spPr>
          <a:xfrm>
            <a:off x="6362700" y="4095750"/>
            <a:ext cx="5219700" cy="323850"/>
          </a:xfrm>
          <a:prstGeom prst="rect">
            <a:avLst/>
          </a:prstGeom>
          <a:solidFill>
            <a:srgbClr val="EEF2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1C8CA72-8DC4-41BD-83D2-61551401E507}"/>
              </a:ext>
            </a:extLst>
          </p:cNvPr>
          <p:cNvSpPr>
            <a:spLocks noGrp="1"/>
          </p:cNvSpPr>
          <p:nvPr/>
        </p:nvSpPr>
        <p:spPr>
          <a:xfrm>
            <a:off x="6362700" y="4410075"/>
            <a:ext cx="5219700" cy="190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3D4DDBF-AA25-491C-9D02-DD7D384D436E}"/>
              </a:ext>
            </a:extLst>
          </p:cNvPr>
          <p:cNvSpPr>
            <a:spLocks noGrp="1"/>
          </p:cNvSpPr>
          <p:nvPr/>
        </p:nvSpPr>
        <p:spPr>
          <a:xfrm>
            <a:off x="6496050" y="4162425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Issue 2 log: READ_EMPTY, unknown data, count range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78333" y="4514850"/>
            <a:ext cx="2988433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623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11523DD6-F6F6-4C1D-961E-0BF38CB187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33AEA3-0707-4A56-A942-28C9AACE97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905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23BB7D-7E0E-4B98-A604-6CA0BCE0D205}"/>
              </a:ext>
            </a:extLst>
          </p:cNvPr>
          <p:cNvSpPr>
            <a:spLocks noGrp="1"/>
          </p:cNvSpPr>
          <p:nvPr/>
        </p:nvSpPr>
        <p:spPr>
          <a:xfrm>
            <a:off x="0" y="581025"/>
            <a:ext cx="12192000" cy="190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DD6276-296C-4CD2-9090-1511626A25A2}"/>
              </a:ext>
            </a:extLst>
          </p:cNvPr>
          <p:cNvSpPr>
            <a:spLocks noGrp="1"/>
          </p:cNvSpPr>
          <p:nvPr/>
        </p:nvSpPr>
        <p:spPr>
          <a:xfrm>
            <a:off x="495300" y="17145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Fault Result: Issue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C467EA-FE1C-40A1-8D20-14982607C606}"/>
              </a:ext>
            </a:extLst>
          </p:cNvPr>
          <p:cNvSpPr>
            <a:spLocks noGrp="1"/>
          </p:cNvSpPr>
          <p:nvPr/>
        </p:nvSpPr>
        <p:spPr>
          <a:xfrm>
            <a:off x="8810625" y="180975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Full flag asserted too early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D0391C-3D11-4E11-AA1E-731C7B1CCB83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E26067-F478-481B-96F4-0A4B84B6BE9B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55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12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D43190-0E81-4826-82E4-99601A3DE403}"/>
              </a:ext>
            </a:extLst>
          </p:cNvPr>
          <p:cNvSpPr>
            <a:spLocks noGrp="1"/>
          </p:cNvSpPr>
          <p:nvPr/>
        </p:nvSpPr>
        <p:spPr>
          <a:xfrm>
            <a:off x="704850" y="914400"/>
            <a:ext cx="32194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410CA9-D60C-4322-AF4B-06ECD2E821DC}"/>
              </a:ext>
            </a:extLst>
          </p:cNvPr>
          <p:cNvSpPr>
            <a:spLocks noGrp="1"/>
          </p:cNvSpPr>
          <p:nvPr/>
        </p:nvSpPr>
        <p:spPr>
          <a:xfrm>
            <a:off x="704850" y="914400"/>
            <a:ext cx="57150" cy="125730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7D0EA8-3B71-482B-9F0F-6A36307E17CB}"/>
              </a:ext>
            </a:extLst>
          </p:cNvPr>
          <p:cNvSpPr>
            <a:spLocks noGrp="1"/>
          </p:cNvSpPr>
          <p:nvPr/>
        </p:nvSpPr>
        <p:spPr>
          <a:xfrm>
            <a:off x="933450" y="1104900"/>
            <a:ext cx="280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Bug inserted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3A859C-2C48-43EB-A554-D4E788248684}"/>
              </a:ext>
            </a:extLst>
          </p:cNvPr>
          <p:cNvSpPr>
            <a:spLocks noGrp="1"/>
          </p:cNvSpPr>
          <p:nvPr/>
        </p:nvSpPr>
        <p:spPr>
          <a:xfrm>
            <a:off x="933450" y="1485900"/>
            <a:ext cx="2800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573"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assign full = (fifo_count == 1);</a:t>
            </a:r>
          </a:p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Correct: full should assert only when fifo_count == DEPTH.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743D7D1-3B2A-4346-983E-22C33E729723}"/>
              </a:ext>
            </a:extLst>
          </p:cNvPr>
          <p:cNvSpPr>
            <a:spLocks noGrp="1"/>
          </p:cNvSpPr>
          <p:nvPr/>
        </p:nvSpPr>
        <p:spPr>
          <a:xfrm>
            <a:off x="704850" y="2438400"/>
            <a:ext cx="321945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DA9A65-8D46-48C7-8058-98B37192847B}"/>
              </a:ext>
            </a:extLst>
          </p:cNvPr>
          <p:cNvSpPr>
            <a:spLocks noGrp="1"/>
          </p:cNvSpPr>
          <p:nvPr/>
        </p:nvSpPr>
        <p:spPr>
          <a:xfrm>
            <a:off x="704850" y="2438400"/>
            <a:ext cx="57150" cy="10477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82469B-1796-450D-A852-65C446FF0710}"/>
              </a:ext>
            </a:extLst>
          </p:cNvPr>
          <p:cNvSpPr>
            <a:spLocks noGrp="1"/>
          </p:cNvSpPr>
          <p:nvPr/>
        </p:nvSpPr>
        <p:spPr>
          <a:xfrm>
            <a:off x="933450" y="2628900"/>
            <a:ext cx="280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Observed failure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842F1A-C0AB-4165-B927-B36E407F93E8}"/>
              </a:ext>
            </a:extLst>
          </p:cNvPr>
          <p:cNvSpPr>
            <a:spLocks noGrp="1"/>
          </p:cNvSpPr>
          <p:nvPr/>
        </p:nvSpPr>
        <p:spPr>
          <a:xfrm>
            <a:off x="933450" y="3009900"/>
            <a:ext cx="2800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7040"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At fifo_count = 1, the DUT reports full even though 15 locations remain available.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CFACACF-73BC-46CD-9707-FF2A6330963C}"/>
              </a:ext>
            </a:extLst>
          </p:cNvPr>
          <p:cNvSpPr>
            <a:spLocks noGrp="1"/>
          </p:cNvSpPr>
          <p:nvPr/>
        </p:nvSpPr>
        <p:spPr>
          <a:xfrm>
            <a:off x="704850" y="3733800"/>
            <a:ext cx="321945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705C62-4E59-4AFD-962B-3D072BDBB1EE}"/>
              </a:ext>
            </a:extLst>
          </p:cNvPr>
          <p:cNvSpPr>
            <a:spLocks noGrp="1"/>
          </p:cNvSpPr>
          <p:nvPr/>
        </p:nvSpPr>
        <p:spPr>
          <a:xfrm>
            <a:off x="704850" y="3733800"/>
            <a:ext cx="57150" cy="1047750"/>
          </a:xfrm>
          <a:prstGeom prst="rect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47B515-BB36-4FC8-8ADE-FDADF7FC7CBE}"/>
              </a:ext>
            </a:extLst>
          </p:cNvPr>
          <p:cNvSpPr>
            <a:spLocks noGrp="1"/>
          </p:cNvSpPr>
          <p:nvPr/>
        </p:nvSpPr>
        <p:spPr>
          <a:xfrm>
            <a:off x="933450" y="3924300"/>
            <a:ext cx="280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Checker response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E31780-1FC1-4D51-87A7-07985C945778}"/>
              </a:ext>
            </a:extLst>
          </p:cNvPr>
          <p:cNvSpPr>
            <a:spLocks noGrp="1"/>
          </p:cNvSpPr>
          <p:nvPr/>
        </p:nvSpPr>
        <p:spPr>
          <a:xfrm>
            <a:off x="933450" y="4305300"/>
            <a:ext cx="2800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7040"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FULL_FLAG assertion compares the flag against fifo_count == DEPTH and fails repeatedly.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B182343-FF89-42AC-80F8-194A80922BC1}"/>
              </a:ext>
            </a:extLst>
          </p:cNvPr>
          <p:cNvSpPr>
            <a:spLocks noGrp="1"/>
          </p:cNvSpPr>
          <p:nvPr/>
        </p:nvSpPr>
        <p:spPr>
          <a:xfrm>
            <a:off x="4381500" y="952500"/>
            <a:ext cx="701040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A1A6FC-C71E-4C9F-A36D-21C07FA85349}"/>
              </a:ext>
            </a:extLst>
          </p:cNvPr>
          <p:cNvSpPr>
            <a:spLocks noGrp="1"/>
          </p:cNvSpPr>
          <p:nvPr/>
        </p:nvSpPr>
        <p:spPr>
          <a:xfrm>
            <a:off x="4381500" y="952500"/>
            <a:ext cx="7010400" cy="323850"/>
          </a:xfrm>
          <a:prstGeom prst="rect">
            <a:avLst/>
          </a:prstGeom>
          <a:solidFill>
            <a:srgbClr val="EEF2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2387D3-0362-4545-950C-DC8335B6D57B}"/>
              </a:ext>
            </a:extLst>
          </p:cNvPr>
          <p:cNvSpPr>
            <a:spLocks noGrp="1"/>
          </p:cNvSpPr>
          <p:nvPr/>
        </p:nvSpPr>
        <p:spPr>
          <a:xfrm>
            <a:off x="4381500" y="1266825"/>
            <a:ext cx="7010400" cy="190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F7AC8D-509C-4B9C-BB9A-2A7A936BDC94}"/>
              </a:ext>
            </a:extLst>
          </p:cNvPr>
          <p:cNvSpPr>
            <a:spLocks noGrp="1"/>
          </p:cNvSpPr>
          <p:nvPr/>
        </p:nvSpPr>
        <p:spPr>
          <a:xfrm>
            <a:off x="4514850" y="1019175"/>
            <a:ext cx="6743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Waveform: full asserted when fifo_count is one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80756" y="1371600"/>
            <a:ext cx="5211889" cy="1733550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E75144C-19B4-4253-B8F4-A2C7ACF65990}"/>
              </a:ext>
            </a:extLst>
          </p:cNvPr>
          <p:cNvSpPr>
            <a:spLocks noGrp="1"/>
          </p:cNvSpPr>
          <p:nvPr/>
        </p:nvSpPr>
        <p:spPr>
          <a:xfrm>
            <a:off x="4381500" y="3467100"/>
            <a:ext cx="7010400" cy="232410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FD41D9-D3D0-49B8-B5DD-3F10B595108C}"/>
              </a:ext>
            </a:extLst>
          </p:cNvPr>
          <p:cNvSpPr>
            <a:spLocks noGrp="1"/>
          </p:cNvSpPr>
          <p:nvPr/>
        </p:nvSpPr>
        <p:spPr>
          <a:xfrm>
            <a:off x="4381500" y="3467100"/>
            <a:ext cx="7010400" cy="323850"/>
          </a:xfrm>
          <a:prstGeom prst="rect">
            <a:avLst/>
          </a:prstGeom>
          <a:solidFill>
            <a:srgbClr val="EEF2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6E28F04-1B5C-41BE-B382-389BC79A21DA}"/>
              </a:ext>
            </a:extLst>
          </p:cNvPr>
          <p:cNvSpPr>
            <a:spLocks noGrp="1"/>
          </p:cNvSpPr>
          <p:nvPr/>
        </p:nvSpPr>
        <p:spPr>
          <a:xfrm>
            <a:off x="4381500" y="3781425"/>
            <a:ext cx="7010400" cy="190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8A9CD0-D1D0-423A-BB61-37EE6276C162}"/>
              </a:ext>
            </a:extLst>
          </p:cNvPr>
          <p:cNvSpPr>
            <a:spLocks noGrp="1"/>
          </p:cNvSpPr>
          <p:nvPr/>
        </p:nvSpPr>
        <p:spPr>
          <a:xfrm>
            <a:off x="4514850" y="3533775"/>
            <a:ext cx="6743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Simulation log: repeated FULL_FLAG assertion failures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44326" y="3886200"/>
            <a:ext cx="3084748" cy="180975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7ADCDB9F-8BD4-48AE-B21C-014F442B972A}"/>
              </a:ext>
            </a:extLst>
          </p:cNvPr>
          <p:cNvSpPr>
            <a:spLocks noGrp="1"/>
          </p:cNvSpPr>
          <p:nvPr/>
        </p:nvSpPr>
        <p:spPr>
          <a:xfrm>
            <a:off x="4400550" y="5934075"/>
            <a:ext cx="6953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160"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Interpretation: this bug does not necessarily corrupt data immediately, but it destroys usable FIFO capacity and blocks valid writes too early.</a:t>
            </a:r>
          </a:p>
        </p:txBody>
      </p:sp>
    </p:spTree>
    <p:extLst>
      <p:ext uri="{BB962C8B-B14F-4D97-AF65-F5344CB8AC3E}">
        <p14:creationId xmlns:p14="http://schemas.microsoft.com/office/powerpoint/2010/main" val="998210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11523DD6-F6F6-4C1D-961E-0BF38CB187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3E8CB9-627F-477E-AC00-CD57451841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905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9CE97-36B9-4028-8630-EB4C6C991394}"/>
              </a:ext>
            </a:extLst>
          </p:cNvPr>
          <p:cNvSpPr>
            <a:spLocks noGrp="1"/>
          </p:cNvSpPr>
          <p:nvPr/>
        </p:nvSpPr>
        <p:spPr>
          <a:xfrm>
            <a:off x="0" y="581025"/>
            <a:ext cx="12192000" cy="190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9CC322-5B88-441D-95AC-5108784115FC}"/>
              </a:ext>
            </a:extLst>
          </p:cNvPr>
          <p:cNvSpPr>
            <a:spLocks noGrp="1"/>
          </p:cNvSpPr>
          <p:nvPr/>
        </p:nvSpPr>
        <p:spPr>
          <a:xfrm>
            <a:off x="495300" y="17145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Fault Result: Issue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B0D7CF-6092-4F42-8BF0-8976431C78B5}"/>
              </a:ext>
            </a:extLst>
          </p:cNvPr>
          <p:cNvSpPr>
            <a:spLocks noGrp="1"/>
          </p:cNvSpPr>
          <p:nvPr/>
        </p:nvSpPr>
        <p:spPr>
          <a:xfrm>
            <a:off x="8810625" y="180975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Empty flag asserted one count early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C6C0C5-E166-4583-9837-ECA068C5BFFC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B4B59B-009F-492C-B56A-FD9CD32B5052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55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13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32F22AB-5DFD-40F6-81D1-64B492D017F6}"/>
              </a:ext>
            </a:extLst>
          </p:cNvPr>
          <p:cNvSpPr>
            <a:spLocks noGrp="1"/>
          </p:cNvSpPr>
          <p:nvPr/>
        </p:nvSpPr>
        <p:spPr>
          <a:xfrm>
            <a:off x="704850" y="914400"/>
            <a:ext cx="32194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93EE6F-3B48-48AE-A757-F4F7088F3A1E}"/>
              </a:ext>
            </a:extLst>
          </p:cNvPr>
          <p:cNvSpPr>
            <a:spLocks noGrp="1"/>
          </p:cNvSpPr>
          <p:nvPr/>
        </p:nvSpPr>
        <p:spPr>
          <a:xfrm>
            <a:off x="704850" y="914400"/>
            <a:ext cx="57150" cy="125730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C3A435-1729-49EB-A3EA-9879F4255364}"/>
              </a:ext>
            </a:extLst>
          </p:cNvPr>
          <p:cNvSpPr>
            <a:spLocks noGrp="1"/>
          </p:cNvSpPr>
          <p:nvPr/>
        </p:nvSpPr>
        <p:spPr>
          <a:xfrm>
            <a:off x="933450" y="1104900"/>
            <a:ext cx="280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Bug inserted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1C11D3-1839-4491-94D4-07FAD54BEDB4}"/>
              </a:ext>
            </a:extLst>
          </p:cNvPr>
          <p:cNvSpPr>
            <a:spLocks noGrp="1"/>
          </p:cNvSpPr>
          <p:nvPr/>
        </p:nvSpPr>
        <p:spPr>
          <a:xfrm>
            <a:off x="933450" y="1485900"/>
            <a:ext cx="2800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573"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assign empty = (fifo_count == 1);</a:t>
            </a:r>
          </a:p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Correct: empty should assert only when fifo_count == 0.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726AEFA-CD24-49F3-B9FA-685EC5FEBC5F}"/>
              </a:ext>
            </a:extLst>
          </p:cNvPr>
          <p:cNvSpPr>
            <a:spLocks noGrp="1"/>
          </p:cNvSpPr>
          <p:nvPr/>
        </p:nvSpPr>
        <p:spPr>
          <a:xfrm>
            <a:off x="704850" y="2438400"/>
            <a:ext cx="321945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076C1F-1B10-4341-A766-6FAFC249DD33}"/>
              </a:ext>
            </a:extLst>
          </p:cNvPr>
          <p:cNvSpPr>
            <a:spLocks noGrp="1"/>
          </p:cNvSpPr>
          <p:nvPr/>
        </p:nvSpPr>
        <p:spPr>
          <a:xfrm>
            <a:off x="704850" y="2438400"/>
            <a:ext cx="57150" cy="10477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A4D4CB-AD7F-4065-AE34-6E6F88537C08}"/>
              </a:ext>
            </a:extLst>
          </p:cNvPr>
          <p:cNvSpPr>
            <a:spLocks noGrp="1"/>
          </p:cNvSpPr>
          <p:nvPr/>
        </p:nvSpPr>
        <p:spPr>
          <a:xfrm>
            <a:off x="933450" y="2628900"/>
            <a:ext cx="280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Observed failure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81EE2D-99C4-4ECD-8F7C-2A17D5C8B45C}"/>
              </a:ext>
            </a:extLst>
          </p:cNvPr>
          <p:cNvSpPr>
            <a:spLocks noGrp="1"/>
          </p:cNvSpPr>
          <p:nvPr/>
        </p:nvSpPr>
        <p:spPr>
          <a:xfrm>
            <a:off x="933450" y="3009900"/>
            <a:ext cx="2800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7040"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The DUT reports empty while one valid FIFO entry still remains.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79148D9-9FC1-4C8E-8A84-505F806A45E1}"/>
              </a:ext>
            </a:extLst>
          </p:cNvPr>
          <p:cNvSpPr>
            <a:spLocks noGrp="1"/>
          </p:cNvSpPr>
          <p:nvPr/>
        </p:nvSpPr>
        <p:spPr>
          <a:xfrm>
            <a:off x="704850" y="3733800"/>
            <a:ext cx="321945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81BBB8-7461-46E4-80AB-1AF6B1AA126D}"/>
              </a:ext>
            </a:extLst>
          </p:cNvPr>
          <p:cNvSpPr>
            <a:spLocks noGrp="1"/>
          </p:cNvSpPr>
          <p:nvPr/>
        </p:nvSpPr>
        <p:spPr>
          <a:xfrm>
            <a:off x="704850" y="3733800"/>
            <a:ext cx="57150" cy="1047750"/>
          </a:xfrm>
          <a:prstGeom prst="rect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55247D-4402-43DC-A4B1-36A32EFA6A33}"/>
              </a:ext>
            </a:extLst>
          </p:cNvPr>
          <p:cNvSpPr>
            <a:spLocks noGrp="1"/>
          </p:cNvSpPr>
          <p:nvPr/>
        </p:nvSpPr>
        <p:spPr>
          <a:xfrm>
            <a:off x="933450" y="3924300"/>
            <a:ext cx="280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Checker response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C7992E-4DDE-477B-AC05-46C379338623}"/>
              </a:ext>
            </a:extLst>
          </p:cNvPr>
          <p:cNvSpPr>
            <a:spLocks noGrp="1"/>
          </p:cNvSpPr>
          <p:nvPr/>
        </p:nvSpPr>
        <p:spPr>
          <a:xfrm>
            <a:off x="933450" y="4305300"/>
            <a:ext cx="2800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7040"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EMPTY_FLAG assertion fails because empty no longer represents the true count-zero condition.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9EFB78E-7251-4102-813E-21F0A2C21609}"/>
              </a:ext>
            </a:extLst>
          </p:cNvPr>
          <p:cNvSpPr>
            <a:spLocks noGrp="1"/>
          </p:cNvSpPr>
          <p:nvPr/>
        </p:nvSpPr>
        <p:spPr>
          <a:xfrm>
            <a:off x="4381500" y="952500"/>
            <a:ext cx="701040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ED9E40-44AC-4387-B909-1A233A9EB124}"/>
              </a:ext>
            </a:extLst>
          </p:cNvPr>
          <p:cNvSpPr>
            <a:spLocks noGrp="1"/>
          </p:cNvSpPr>
          <p:nvPr/>
        </p:nvSpPr>
        <p:spPr>
          <a:xfrm>
            <a:off x="4381500" y="952500"/>
            <a:ext cx="7010400" cy="323850"/>
          </a:xfrm>
          <a:prstGeom prst="rect">
            <a:avLst/>
          </a:prstGeom>
          <a:solidFill>
            <a:srgbClr val="EEF2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68AD14-28D0-4504-BDDC-18288A811B56}"/>
              </a:ext>
            </a:extLst>
          </p:cNvPr>
          <p:cNvSpPr>
            <a:spLocks noGrp="1"/>
          </p:cNvSpPr>
          <p:nvPr/>
        </p:nvSpPr>
        <p:spPr>
          <a:xfrm>
            <a:off x="4381500" y="1266825"/>
            <a:ext cx="7010400" cy="190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A60FD9-838B-466E-913E-09F2A234490B}"/>
              </a:ext>
            </a:extLst>
          </p:cNvPr>
          <p:cNvSpPr>
            <a:spLocks noGrp="1"/>
          </p:cNvSpPr>
          <p:nvPr/>
        </p:nvSpPr>
        <p:spPr>
          <a:xfrm>
            <a:off x="4514850" y="1019175"/>
            <a:ext cx="6743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Waveform: empty high while fifo_count equals one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3755" y="1371600"/>
            <a:ext cx="5105890" cy="1733550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327107B-CC79-49D3-B416-37DB30C89611}"/>
              </a:ext>
            </a:extLst>
          </p:cNvPr>
          <p:cNvSpPr>
            <a:spLocks noGrp="1"/>
          </p:cNvSpPr>
          <p:nvPr/>
        </p:nvSpPr>
        <p:spPr>
          <a:xfrm>
            <a:off x="4381500" y="3467100"/>
            <a:ext cx="7010400" cy="232410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E4B15D-322D-42C8-9268-3CB5729286E5}"/>
              </a:ext>
            </a:extLst>
          </p:cNvPr>
          <p:cNvSpPr>
            <a:spLocks noGrp="1"/>
          </p:cNvSpPr>
          <p:nvPr/>
        </p:nvSpPr>
        <p:spPr>
          <a:xfrm>
            <a:off x="4381500" y="3467100"/>
            <a:ext cx="7010400" cy="323850"/>
          </a:xfrm>
          <a:prstGeom prst="rect">
            <a:avLst/>
          </a:prstGeom>
          <a:solidFill>
            <a:srgbClr val="EEF2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D460D6-344C-4DC6-AE82-165FD2C8AA86}"/>
              </a:ext>
            </a:extLst>
          </p:cNvPr>
          <p:cNvSpPr>
            <a:spLocks noGrp="1"/>
          </p:cNvSpPr>
          <p:nvPr/>
        </p:nvSpPr>
        <p:spPr>
          <a:xfrm>
            <a:off x="4381500" y="3781425"/>
            <a:ext cx="7010400" cy="190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513DAC-985D-4E1D-9F5D-E43616875737}"/>
              </a:ext>
            </a:extLst>
          </p:cNvPr>
          <p:cNvSpPr>
            <a:spLocks noGrp="1"/>
          </p:cNvSpPr>
          <p:nvPr/>
        </p:nvSpPr>
        <p:spPr>
          <a:xfrm>
            <a:off x="4514850" y="3533775"/>
            <a:ext cx="6743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Simulation log: EMPTY_FLAG assertion failures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617051" y="3886200"/>
            <a:ext cx="2539298" cy="180975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C76D9F08-5616-44BB-9540-A8FCCD38853A}"/>
              </a:ext>
            </a:extLst>
          </p:cNvPr>
          <p:cNvSpPr>
            <a:spLocks noGrp="1"/>
          </p:cNvSpPr>
          <p:nvPr/>
        </p:nvSpPr>
        <p:spPr>
          <a:xfrm>
            <a:off x="4400550" y="5934075"/>
            <a:ext cx="6953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160"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Interpretation: status flag correctness is part of functional correctness because empty directly controls whether reads are accepted.</a:t>
            </a:r>
          </a:p>
        </p:txBody>
      </p:sp>
    </p:spTree>
    <p:extLst>
      <p:ext uri="{BB962C8B-B14F-4D97-AF65-F5344CB8AC3E}">
        <p14:creationId xmlns:p14="http://schemas.microsoft.com/office/powerpoint/2010/main" val="2050762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11523DD6-F6F6-4C1D-961E-0BF38CB187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12F004-780E-489C-BAE7-4060C0AD1E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905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A7E0A5-AC16-45CB-9CE6-2DE3CE02E08B}"/>
              </a:ext>
            </a:extLst>
          </p:cNvPr>
          <p:cNvSpPr>
            <a:spLocks noGrp="1"/>
          </p:cNvSpPr>
          <p:nvPr/>
        </p:nvSpPr>
        <p:spPr>
          <a:xfrm>
            <a:off x="0" y="581025"/>
            <a:ext cx="12192000" cy="190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2F6536-8D04-4674-9A70-C58681C4144D}"/>
              </a:ext>
            </a:extLst>
          </p:cNvPr>
          <p:cNvSpPr>
            <a:spLocks noGrp="1"/>
          </p:cNvSpPr>
          <p:nvPr/>
        </p:nvSpPr>
        <p:spPr>
          <a:xfrm>
            <a:off x="495300" y="17145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Fault Result: Issue 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48AFE5-42C1-4211-9A08-2AEC211564A8}"/>
              </a:ext>
            </a:extLst>
          </p:cNvPr>
          <p:cNvSpPr>
            <a:spLocks noGrp="1"/>
          </p:cNvSpPr>
          <p:nvPr/>
        </p:nvSpPr>
        <p:spPr>
          <a:xfrm>
            <a:off x="8810625" y="180975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Read pointer does not advance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A96794-9AAD-43ED-AADA-AB8526064197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CC63A3-87AD-4C17-9ECB-D0EC01FC481C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55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14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8349456-436E-4659-969D-F3F345BFB67C}"/>
              </a:ext>
            </a:extLst>
          </p:cNvPr>
          <p:cNvSpPr>
            <a:spLocks noGrp="1"/>
          </p:cNvSpPr>
          <p:nvPr/>
        </p:nvSpPr>
        <p:spPr>
          <a:xfrm>
            <a:off x="647700" y="914400"/>
            <a:ext cx="33909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81B88A-5519-4787-89E7-B1F8E6BE2901}"/>
              </a:ext>
            </a:extLst>
          </p:cNvPr>
          <p:cNvSpPr>
            <a:spLocks noGrp="1"/>
          </p:cNvSpPr>
          <p:nvPr/>
        </p:nvSpPr>
        <p:spPr>
          <a:xfrm>
            <a:off x="647700" y="914400"/>
            <a:ext cx="57150" cy="10477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0A7767-9066-4175-8C9F-A3779E6A777B}"/>
              </a:ext>
            </a:extLst>
          </p:cNvPr>
          <p:cNvSpPr>
            <a:spLocks noGrp="1"/>
          </p:cNvSpPr>
          <p:nvPr/>
        </p:nvSpPr>
        <p:spPr>
          <a:xfrm>
            <a:off x="876300" y="1104900"/>
            <a:ext cx="2971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Real affected RTL file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7B575B-2A49-4AB6-A647-7320B47E5CFB}"/>
              </a:ext>
            </a:extLst>
          </p:cNvPr>
          <p:cNvSpPr>
            <a:spLocks noGrp="1"/>
          </p:cNvSpPr>
          <p:nvPr/>
        </p:nvSpPr>
        <p:spPr>
          <a:xfrm>
            <a:off x="876300" y="1485900"/>
            <a:ext cx="2971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61884"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rtl/sync_fifo_ram.sv</a:t>
            </a:r>
          </a:p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The selected write-side code is correct; the fault is in the read pointer update.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43E7315-8D01-4D08-B399-A693FBDE0C4E}"/>
              </a:ext>
            </a:extLst>
          </p:cNvPr>
          <p:cNvSpPr>
            <a:spLocks noGrp="1"/>
          </p:cNvSpPr>
          <p:nvPr/>
        </p:nvSpPr>
        <p:spPr>
          <a:xfrm>
            <a:off x="647700" y="2266950"/>
            <a:ext cx="3390900" cy="1485900"/>
          </a:xfrm>
          <a:prstGeom prst="roundRect">
            <a:avLst>
              <a:gd name="adj" fmla="val 5128"/>
            </a:avLst>
          </a:prstGeom>
          <a:solidFill>
            <a:srgbClr val="1018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903707-001C-4859-B19E-3733A2D65D33}"/>
              </a:ext>
            </a:extLst>
          </p:cNvPr>
          <p:cNvSpPr>
            <a:spLocks noGrp="1"/>
          </p:cNvSpPr>
          <p:nvPr/>
        </p:nvSpPr>
        <p:spPr>
          <a:xfrm>
            <a:off x="819150" y="238125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1D5C9"/>
                </a:solidFill>
              </a:defRPr>
            </a:pPr>
            <a:r>
              <a:rPr sz="900" b="1">
                <a:solidFill>
                  <a:srgbClr val="91D5C9"/>
                </a:solidFill>
              </a:rPr>
              <a:t>Issue 5 code focus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CDE01B-7D7B-47AA-8144-E5590C2FC66F}"/>
              </a:ext>
            </a:extLst>
          </p:cNvPr>
          <p:cNvSpPr>
            <a:spLocks noGrp="1"/>
          </p:cNvSpPr>
          <p:nvPr/>
        </p:nvSpPr>
        <p:spPr>
          <a:xfrm>
            <a:off x="819150" y="2609850"/>
            <a:ext cx="3048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4261"/>
          </a:bodyPr>
          <a:lstStyle/>
          <a:p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Bug:</a:t>
            </a:r>
          </a:p>
          <a:p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if (do_read) begin</a:t>
            </a:r>
          </a:p>
          <a:p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  rd_ptr &lt;= rd_ptr;</a:t>
            </a:r>
          </a:p>
          <a:p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end</a:t>
            </a:r>
          </a:p>
          <a:p>
            <a:endParaRPr sz="1125" b="0">
              <a:solidFill>
                <a:srgbClr val="F8FAFC"/>
              </a:solidFill>
            </a:endParaRPr>
          </a:p>
          <a:p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Correct:</a:t>
            </a:r>
          </a:p>
          <a:p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rd_ptr &lt;= rd_ptr + 1'b1;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6717481-DEFE-4356-8F2E-CD3F0AFE17F4}"/>
              </a:ext>
            </a:extLst>
          </p:cNvPr>
          <p:cNvSpPr>
            <a:spLocks noGrp="1"/>
          </p:cNvSpPr>
          <p:nvPr/>
        </p:nvSpPr>
        <p:spPr>
          <a:xfrm>
            <a:off x="647700" y="4019550"/>
            <a:ext cx="33909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B379FB-705D-486D-B295-187D5CC1A41D}"/>
              </a:ext>
            </a:extLst>
          </p:cNvPr>
          <p:cNvSpPr>
            <a:spLocks noGrp="1"/>
          </p:cNvSpPr>
          <p:nvPr/>
        </p:nvSpPr>
        <p:spPr>
          <a:xfrm>
            <a:off x="647700" y="4019550"/>
            <a:ext cx="57150" cy="114300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996359-B3B6-48E5-889F-DD8EE065B565}"/>
              </a:ext>
            </a:extLst>
          </p:cNvPr>
          <p:cNvSpPr>
            <a:spLocks noGrp="1"/>
          </p:cNvSpPr>
          <p:nvPr/>
        </p:nvSpPr>
        <p:spPr>
          <a:xfrm>
            <a:off x="876300" y="4210050"/>
            <a:ext cx="2971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Effect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7AB6A0-DB83-43D8-ABA5-657B91C804C0}"/>
              </a:ext>
            </a:extLst>
          </p:cNvPr>
          <p:cNvSpPr>
            <a:spLocks noGrp="1"/>
          </p:cNvSpPr>
          <p:nvPr/>
        </p:nvSpPr>
        <p:spPr>
          <a:xfrm>
            <a:off x="876300" y="4591050"/>
            <a:ext cx="2971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5093"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Valid reads are accepted and fifo_count changes, but rd_ptr remains fixed. The FIFO repeatedly reads the same RAM address.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A6E64EA-166E-443E-A779-8260A4905D98}"/>
              </a:ext>
            </a:extLst>
          </p:cNvPr>
          <p:cNvSpPr>
            <a:spLocks noGrp="1"/>
          </p:cNvSpPr>
          <p:nvPr/>
        </p:nvSpPr>
        <p:spPr>
          <a:xfrm>
            <a:off x="4476750" y="914400"/>
            <a:ext cx="70866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4DBFE2-9078-4E80-84FA-A297F4B59F04}"/>
              </a:ext>
            </a:extLst>
          </p:cNvPr>
          <p:cNvSpPr>
            <a:spLocks noGrp="1"/>
          </p:cNvSpPr>
          <p:nvPr/>
        </p:nvSpPr>
        <p:spPr>
          <a:xfrm>
            <a:off x="4476750" y="914400"/>
            <a:ext cx="7086600" cy="323850"/>
          </a:xfrm>
          <a:prstGeom prst="rect">
            <a:avLst/>
          </a:prstGeom>
          <a:solidFill>
            <a:srgbClr val="EEF2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ECF7CE-970A-44B3-877F-CE93A15F408C}"/>
              </a:ext>
            </a:extLst>
          </p:cNvPr>
          <p:cNvSpPr>
            <a:spLocks noGrp="1"/>
          </p:cNvSpPr>
          <p:nvPr/>
        </p:nvSpPr>
        <p:spPr>
          <a:xfrm>
            <a:off x="4476750" y="1228725"/>
            <a:ext cx="7086600" cy="190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5AD9D9-B6CE-4314-8FB2-7EB264C89B54}"/>
              </a:ext>
            </a:extLst>
          </p:cNvPr>
          <p:cNvSpPr>
            <a:spLocks noGrp="1"/>
          </p:cNvSpPr>
          <p:nvPr/>
        </p:nvSpPr>
        <p:spPr>
          <a:xfrm>
            <a:off x="4610100" y="981075"/>
            <a:ext cx="6819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Waveform: rd_ptr remains fixed while reads occur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8347" y="1333500"/>
            <a:ext cx="5363406" cy="1866900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7CF44A4-17E1-473B-82EA-0D8E79606E43}"/>
              </a:ext>
            </a:extLst>
          </p:cNvPr>
          <p:cNvSpPr>
            <a:spLocks noGrp="1"/>
          </p:cNvSpPr>
          <p:nvPr/>
        </p:nvSpPr>
        <p:spPr>
          <a:xfrm>
            <a:off x="4476750" y="3581400"/>
            <a:ext cx="7086600" cy="21717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D3FBE1-8369-4A34-B539-EAD019AB66BE}"/>
              </a:ext>
            </a:extLst>
          </p:cNvPr>
          <p:cNvSpPr>
            <a:spLocks noGrp="1"/>
          </p:cNvSpPr>
          <p:nvPr/>
        </p:nvSpPr>
        <p:spPr>
          <a:xfrm>
            <a:off x="4476750" y="3581400"/>
            <a:ext cx="7086600" cy="323850"/>
          </a:xfrm>
          <a:prstGeom prst="rect">
            <a:avLst/>
          </a:prstGeom>
          <a:solidFill>
            <a:srgbClr val="EEF2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6AE98E-A66A-4C13-A3EB-3623998E3534}"/>
              </a:ext>
            </a:extLst>
          </p:cNvPr>
          <p:cNvSpPr>
            <a:spLocks noGrp="1"/>
          </p:cNvSpPr>
          <p:nvPr/>
        </p:nvSpPr>
        <p:spPr>
          <a:xfrm>
            <a:off x="4476750" y="3895725"/>
            <a:ext cx="7086600" cy="190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4F6CFA6-8716-48E9-81BA-84AF415AA68D}"/>
              </a:ext>
            </a:extLst>
          </p:cNvPr>
          <p:cNvSpPr>
            <a:spLocks noGrp="1"/>
          </p:cNvSpPr>
          <p:nvPr/>
        </p:nvSpPr>
        <p:spPr>
          <a:xfrm>
            <a:off x="4610100" y="3648075"/>
            <a:ext cx="6819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75" b="1">
                <a:solidFill>
                  <a:srgbClr val="142033"/>
                </a:solidFill>
              </a:defRPr>
            </a:pPr>
            <a:r>
              <a:rPr sz="975" b="1">
                <a:solidFill>
                  <a:srgbClr val="142033"/>
                </a:solidFill>
              </a:rPr>
              <a:t>Simulation log: READ_ONLY assertion and data mismatch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71704" y="4000500"/>
            <a:ext cx="3096693" cy="165735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7A1D4A9D-7F1B-4367-9844-6C62FB3DECD5}"/>
              </a:ext>
            </a:extLst>
          </p:cNvPr>
          <p:cNvSpPr>
            <a:spLocks noGrp="1"/>
          </p:cNvSpPr>
          <p:nvPr/>
        </p:nvSpPr>
        <p:spPr>
          <a:xfrm>
            <a:off x="4495800" y="5924550"/>
            <a:ext cx="7048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42033"/>
                </a:solidFill>
              </a:defRPr>
            </a:pPr>
            <a:r>
              <a:rPr sz="1275" b="1">
                <a:solidFill>
                  <a:srgbClr val="142033"/>
                </a:solidFill>
              </a:rPr>
              <a:t>Assertion localizes the internal pointer failure; scoreboard confirms the visible FIFO-order failure.</a:t>
            </a:r>
          </a:p>
        </p:txBody>
      </p:sp>
    </p:spTree>
    <p:extLst>
      <p:ext uri="{BB962C8B-B14F-4D97-AF65-F5344CB8AC3E}">
        <p14:creationId xmlns:p14="http://schemas.microsoft.com/office/powerpoint/2010/main" val="178676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1523DD6-F6F6-4C1D-961E-0BF38CB187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318B5F-E88E-4DED-8DA4-BBC43085A9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905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E47C49-DFD1-4D49-A229-143F95ACF4C5}"/>
              </a:ext>
            </a:extLst>
          </p:cNvPr>
          <p:cNvSpPr>
            <a:spLocks noGrp="1"/>
          </p:cNvSpPr>
          <p:nvPr/>
        </p:nvSpPr>
        <p:spPr>
          <a:xfrm>
            <a:off x="0" y="581025"/>
            <a:ext cx="12192000" cy="190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6E9827-F385-4B46-8131-FBD15D91A332}"/>
              </a:ext>
            </a:extLst>
          </p:cNvPr>
          <p:cNvSpPr>
            <a:spLocks noGrp="1"/>
          </p:cNvSpPr>
          <p:nvPr/>
        </p:nvSpPr>
        <p:spPr>
          <a:xfrm>
            <a:off x="495300" y="17145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Comparative Result 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4341BF-5F6F-4C53-8595-68D3889C3425}"/>
              </a:ext>
            </a:extLst>
          </p:cNvPr>
          <p:cNvSpPr>
            <a:spLocks noGrp="1"/>
          </p:cNvSpPr>
          <p:nvPr/>
        </p:nvSpPr>
        <p:spPr>
          <a:xfrm>
            <a:off x="8810625" y="180975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Assertions + scoreboard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23AF99-EB10-499F-9A5E-74509018D23F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BDBEDD-6A38-46CD-9832-857611DEFB6A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55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230FE5-19CC-4B02-8BD6-7F84285DD2A7}"/>
              </a:ext>
            </a:extLst>
          </p:cNvPr>
          <p:cNvSpPr>
            <a:spLocks noGrp="1"/>
          </p:cNvSpPr>
          <p:nvPr/>
        </p:nvSpPr>
        <p:spPr>
          <a:xfrm>
            <a:off x="533400" y="1143000"/>
            <a:ext cx="1143000" cy="419100"/>
          </a:xfrm>
          <a:prstGeom prst="rect">
            <a:avLst/>
          </a:prstGeom>
          <a:solidFill>
            <a:srgbClr val="162033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585D11-6A44-4FF9-B623-E859A7C8C06F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Issue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741D1D-624B-4109-9634-33615602030E}"/>
              </a:ext>
            </a:extLst>
          </p:cNvPr>
          <p:cNvSpPr>
            <a:spLocks noGrp="1"/>
          </p:cNvSpPr>
          <p:nvPr/>
        </p:nvSpPr>
        <p:spPr>
          <a:xfrm>
            <a:off x="1676400" y="1143000"/>
            <a:ext cx="3429000" cy="419100"/>
          </a:xfrm>
          <a:prstGeom prst="rect">
            <a:avLst/>
          </a:prstGeom>
          <a:solidFill>
            <a:srgbClr val="162033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ED783B-EF77-45DA-A216-132B6B1CBB38}"/>
              </a:ext>
            </a:extLst>
          </p:cNvPr>
          <p:cNvSpPr>
            <a:spLocks noGrp="1"/>
          </p:cNvSpPr>
          <p:nvPr/>
        </p:nvSpPr>
        <p:spPr>
          <a:xfrm>
            <a:off x="1752600" y="1238250"/>
            <a:ext cx="3276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Fault injected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EA2F52-E51C-41A8-B36F-5FB6B468A8F0}"/>
              </a:ext>
            </a:extLst>
          </p:cNvPr>
          <p:cNvSpPr>
            <a:spLocks noGrp="1"/>
          </p:cNvSpPr>
          <p:nvPr/>
        </p:nvSpPr>
        <p:spPr>
          <a:xfrm>
            <a:off x="5105400" y="1143000"/>
            <a:ext cx="2476500" cy="419100"/>
          </a:xfrm>
          <a:prstGeom prst="rect">
            <a:avLst/>
          </a:prstGeom>
          <a:solidFill>
            <a:srgbClr val="162033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8CAA48-234A-47A8-A891-0D206A80D7A0}"/>
              </a:ext>
            </a:extLst>
          </p:cNvPr>
          <p:cNvSpPr>
            <a:spLocks noGrp="1"/>
          </p:cNvSpPr>
          <p:nvPr/>
        </p:nvSpPr>
        <p:spPr>
          <a:xfrm>
            <a:off x="5181600" y="1238250"/>
            <a:ext cx="2324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Primary assertion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A8252D-B931-4110-B4CF-512946584149}"/>
              </a:ext>
            </a:extLst>
          </p:cNvPr>
          <p:cNvSpPr>
            <a:spLocks noGrp="1"/>
          </p:cNvSpPr>
          <p:nvPr/>
        </p:nvSpPr>
        <p:spPr>
          <a:xfrm>
            <a:off x="7581900" y="1143000"/>
            <a:ext cx="2476500" cy="419100"/>
          </a:xfrm>
          <a:prstGeom prst="rect">
            <a:avLst/>
          </a:prstGeom>
          <a:solidFill>
            <a:srgbClr val="162033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DD584C-744E-4F7D-9511-6034E850A228}"/>
              </a:ext>
            </a:extLst>
          </p:cNvPr>
          <p:cNvSpPr>
            <a:spLocks noGrp="1"/>
          </p:cNvSpPr>
          <p:nvPr/>
        </p:nvSpPr>
        <p:spPr>
          <a:xfrm>
            <a:off x="7658100" y="1238250"/>
            <a:ext cx="2324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Scoreboard effect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A92FDA-419E-4FC3-B14F-A62E7D513662}"/>
              </a:ext>
            </a:extLst>
          </p:cNvPr>
          <p:cNvSpPr>
            <a:spLocks noGrp="1"/>
          </p:cNvSpPr>
          <p:nvPr/>
        </p:nvSpPr>
        <p:spPr>
          <a:xfrm>
            <a:off x="10058400" y="1143000"/>
            <a:ext cx="1714500" cy="419100"/>
          </a:xfrm>
          <a:prstGeom prst="rect">
            <a:avLst/>
          </a:prstGeom>
          <a:solidFill>
            <a:srgbClr val="162033"/>
          </a:solidFill>
          <a:ln w="4763">
            <a:solidFill>
              <a:srgbClr val="FFFFFF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AE110D-34E5-4C91-86DB-950B8AC0B95B}"/>
              </a:ext>
            </a:extLst>
          </p:cNvPr>
          <p:cNvSpPr>
            <a:spLocks noGrp="1"/>
          </p:cNvSpPr>
          <p:nvPr/>
        </p:nvSpPr>
        <p:spPr>
          <a:xfrm>
            <a:off x="10134600" y="1238250"/>
            <a:ext cx="1562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C332AE-5220-43AC-BA51-2BDFFDDA8B44}"/>
              </a:ext>
            </a:extLst>
          </p:cNvPr>
          <p:cNvSpPr>
            <a:spLocks noGrp="1"/>
          </p:cNvSpPr>
          <p:nvPr/>
        </p:nvSpPr>
        <p:spPr>
          <a:xfrm>
            <a:off x="533400" y="1562100"/>
            <a:ext cx="1143000" cy="666750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80F3F5-34EE-4D48-88A5-7007DDEC36F5}"/>
              </a:ext>
            </a:extLst>
          </p:cNvPr>
          <p:cNvSpPr>
            <a:spLocks noGrp="1"/>
          </p:cNvSpPr>
          <p:nvPr/>
        </p:nvSpPr>
        <p:spPr>
          <a:xfrm>
            <a:off x="628650" y="1666875"/>
            <a:ext cx="952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B5122B"/>
                </a:solidFill>
              </a:defRPr>
            </a:pPr>
            <a:r>
              <a:rPr sz="1650" b="1">
                <a:solidFill>
                  <a:srgbClr val="B5122B"/>
                </a:solidFill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B804A1-3616-477A-81C8-D54F4BBAB6BD}"/>
              </a:ext>
            </a:extLst>
          </p:cNvPr>
          <p:cNvSpPr>
            <a:spLocks noGrp="1"/>
          </p:cNvSpPr>
          <p:nvPr/>
        </p:nvSpPr>
        <p:spPr>
          <a:xfrm>
            <a:off x="1676400" y="1562100"/>
            <a:ext cx="3429000" cy="666750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A9AAFC-BF60-4C9E-878B-8C2616FBEF0D}"/>
              </a:ext>
            </a:extLst>
          </p:cNvPr>
          <p:cNvSpPr>
            <a:spLocks noGrp="1"/>
          </p:cNvSpPr>
          <p:nvPr/>
        </p:nvSpPr>
        <p:spPr>
          <a:xfrm>
            <a:off x="1771650" y="1666875"/>
            <a:ext cx="3238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fifo_count not cleared on reset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451E58-AE8E-4BD2-84FE-19C06A41E1F3}"/>
              </a:ext>
            </a:extLst>
          </p:cNvPr>
          <p:cNvSpPr>
            <a:spLocks noGrp="1"/>
          </p:cNvSpPr>
          <p:nvPr/>
        </p:nvSpPr>
        <p:spPr>
          <a:xfrm>
            <a:off x="5105400" y="1562100"/>
            <a:ext cx="2476500" cy="666750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B863BD-C201-4C33-B5F4-B935CDAF3481}"/>
              </a:ext>
            </a:extLst>
          </p:cNvPr>
          <p:cNvSpPr>
            <a:spLocks noGrp="1"/>
          </p:cNvSpPr>
          <p:nvPr/>
        </p:nvSpPr>
        <p:spPr>
          <a:xfrm>
            <a:off x="5200650" y="1666875"/>
            <a:ext cx="2286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142033"/>
                </a:solidFill>
              </a:defRPr>
            </a:pPr>
            <a:r>
              <a:rPr sz="1050" b="1">
                <a:solidFill>
                  <a:srgbClr val="142033"/>
                </a:solidFill>
              </a:rPr>
              <a:t>RST_STATE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968DA6-FE1B-4197-8CE1-3F6D7D38FE1D}"/>
              </a:ext>
            </a:extLst>
          </p:cNvPr>
          <p:cNvSpPr>
            <a:spLocks noGrp="1"/>
          </p:cNvSpPr>
          <p:nvPr/>
        </p:nvSpPr>
        <p:spPr>
          <a:xfrm>
            <a:off x="7581900" y="1562100"/>
            <a:ext cx="2476500" cy="666750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D9C1FA9-27A7-428D-BC4B-B5B08578A222}"/>
              </a:ext>
            </a:extLst>
          </p:cNvPr>
          <p:cNvSpPr>
            <a:spLocks noGrp="1"/>
          </p:cNvSpPr>
          <p:nvPr/>
        </p:nvSpPr>
        <p:spPr>
          <a:xfrm>
            <a:off x="7677150" y="1666875"/>
            <a:ext cx="2286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Queue/data mismatch later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804338-3351-4810-A53A-3DF35D438448}"/>
              </a:ext>
            </a:extLst>
          </p:cNvPr>
          <p:cNvSpPr>
            <a:spLocks noGrp="1"/>
          </p:cNvSpPr>
          <p:nvPr/>
        </p:nvSpPr>
        <p:spPr>
          <a:xfrm>
            <a:off x="10058400" y="1562100"/>
            <a:ext cx="1714500" cy="666750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9C6FD61-B8F1-486B-9A58-8757A55FE0C1}"/>
              </a:ext>
            </a:extLst>
          </p:cNvPr>
          <p:cNvSpPr>
            <a:spLocks noGrp="1"/>
          </p:cNvSpPr>
          <p:nvPr/>
        </p:nvSpPr>
        <p:spPr>
          <a:xfrm>
            <a:off x="10153650" y="1666875"/>
            <a:ext cx="152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reset state bug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B55FCB-DB1A-4600-8DCD-760815161420}"/>
              </a:ext>
            </a:extLst>
          </p:cNvPr>
          <p:cNvSpPr>
            <a:spLocks noGrp="1"/>
          </p:cNvSpPr>
          <p:nvPr/>
        </p:nvSpPr>
        <p:spPr>
          <a:xfrm>
            <a:off x="533400" y="2228850"/>
            <a:ext cx="1143000" cy="666750"/>
          </a:xfrm>
          <a:prstGeom prst="rect">
            <a:avLst/>
          </a:prstGeom>
          <a:solidFill>
            <a:srgbClr val="F1F5F9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36B168-167E-40E6-A3EF-D08361AA29E0}"/>
              </a:ext>
            </a:extLst>
          </p:cNvPr>
          <p:cNvSpPr>
            <a:spLocks noGrp="1"/>
          </p:cNvSpPr>
          <p:nvPr/>
        </p:nvSpPr>
        <p:spPr>
          <a:xfrm>
            <a:off x="628650" y="2333625"/>
            <a:ext cx="952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B5122B"/>
                </a:solidFill>
              </a:defRPr>
            </a:pPr>
            <a:r>
              <a:rPr sz="1650" b="1">
                <a:solidFill>
                  <a:srgbClr val="B5122B"/>
                </a:solidFill>
              </a:rPr>
              <a:t>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3BF461-8F4B-40BD-BF68-58E051B13E97}"/>
              </a:ext>
            </a:extLst>
          </p:cNvPr>
          <p:cNvSpPr>
            <a:spLocks noGrp="1"/>
          </p:cNvSpPr>
          <p:nvPr/>
        </p:nvSpPr>
        <p:spPr>
          <a:xfrm>
            <a:off x="1676400" y="2228850"/>
            <a:ext cx="3429000" cy="666750"/>
          </a:xfrm>
          <a:prstGeom prst="rect">
            <a:avLst/>
          </a:prstGeom>
          <a:solidFill>
            <a:srgbClr val="F1F5F9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45F9789-DA5C-4F55-A453-C37D2CD48051}"/>
              </a:ext>
            </a:extLst>
          </p:cNvPr>
          <p:cNvSpPr>
            <a:spLocks noGrp="1"/>
          </p:cNvSpPr>
          <p:nvPr/>
        </p:nvSpPr>
        <p:spPr>
          <a:xfrm>
            <a:off x="1771650" y="2333625"/>
            <a:ext cx="3238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do_read ignores empty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DAB9CD2-E0FF-4F3C-9C50-337FFF5786FF}"/>
              </a:ext>
            </a:extLst>
          </p:cNvPr>
          <p:cNvSpPr>
            <a:spLocks noGrp="1"/>
          </p:cNvSpPr>
          <p:nvPr/>
        </p:nvSpPr>
        <p:spPr>
          <a:xfrm>
            <a:off x="5105400" y="2228850"/>
            <a:ext cx="2476500" cy="666750"/>
          </a:xfrm>
          <a:prstGeom prst="rect">
            <a:avLst/>
          </a:prstGeom>
          <a:solidFill>
            <a:srgbClr val="F1F5F9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9B64728-6458-4978-93E1-AB247991F686}"/>
              </a:ext>
            </a:extLst>
          </p:cNvPr>
          <p:cNvSpPr>
            <a:spLocks noGrp="1"/>
          </p:cNvSpPr>
          <p:nvPr/>
        </p:nvSpPr>
        <p:spPr>
          <a:xfrm>
            <a:off x="5200650" y="2333625"/>
            <a:ext cx="2286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142033"/>
                </a:solidFill>
              </a:defRPr>
            </a:pPr>
            <a:r>
              <a:rPr sz="1050" b="1">
                <a:solidFill>
                  <a:srgbClr val="142033"/>
                </a:solidFill>
              </a:rPr>
              <a:t>READ_EMPTY, COUNT_RANGE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B9C0EC5-BC0C-4E1D-8E70-22A7F9826BD0}"/>
              </a:ext>
            </a:extLst>
          </p:cNvPr>
          <p:cNvSpPr>
            <a:spLocks noGrp="1"/>
          </p:cNvSpPr>
          <p:nvPr/>
        </p:nvSpPr>
        <p:spPr>
          <a:xfrm>
            <a:off x="7581900" y="2228850"/>
            <a:ext cx="2476500" cy="666750"/>
          </a:xfrm>
          <a:prstGeom prst="rect">
            <a:avLst/>
          </a:prstGeom>
          <a:solidFill>
            <a:srgbClr val="F1F5F9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D35B5B9-4545-4551-97C9-BE89A8CD3C07}"/>
              </a:ext>
            </a:extLst>
          </p:cNvPr>
          <p:cNvSpPr>
            <a:spLocks noGrp="1"/>
          </p:cNvSpPr>
          <p:nvPr/>
        </p:nvSpPr>
        <p:spPr>
          <a:xfrm>
            <a:off x="7677150" y="2333625"/>
            <a:ext cx="2286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Data mismatch after underflow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2AB0865-0C1C-492C-8135-416BC5738C63}"/>
              </a:ext>
            </a:extLst>
          </p:cNvPr>
          <p:cNvSpPr>
            <a:spLocks noGrp="1"/>
          </p:cNvSpPr>
          <p:nvPr/>
        </p:nvSpPr>
        <p:spPr>
          <a:xfrm>
            <a:off x="10058400" y="2228850"/>
            <a:ext cx="1714500" cy="666750"/>
          </a:xfrm>
          <a:prstGeom prst="rect">
            <a:avLst/>
          </a:prstGeom>
          <a:solidFill>
            <a:srgbClr val="F1F5F9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9A8F7E1-D5B6-4ADC-BC5D-40991161202A}"/>
              </a:ext>
            </a:extLst>
          </p:cNvPr>
          <p:cNvSpPr>
            <a:spLocks noGrp="1"/>
          </p:cNvSpPr>
          <p:nvPr/>
        </p:nvSpPr>
        <p:spPr>
          <a:xfrm>
            <a:off x="10153650" y="2333625"/>
            <a:ext cx="152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boundary bug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4B48791-76C4-4C53-986C-4C0CCF64EB18}"/>
              </a:ext>
            </a:extLst>
          </p:cNvPr>
          <p:cNvSpPr>
            <a:spLocks noGrp="1"/>
          </p:cNvSpPr>
          <p:nvPr/>
        </p:nvSpPr>
        <p:spPr>
          <a:xfrm>
            <a:off x="533400" y="2895600"/>
            <a:ext cx="1143000" cy="666750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5052DD8-9ADB-4C63-97E5-3D3C1D86606C}"/>
              </a:ext>
            </a:extLst>
          </p:cNvPr>
          <p:cNvSpPr>
            <a:spLocks noGrp="1"/>
          </p:cNvSpPr>
          <p:nvPr/>
        </p:nvSpPr>
        <p:spPr>
          <a:xfrm>
            <a:off x="628650" y="3000375"/>
            <a:ext cx="952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B5122B"/>
                </a:solidFill>
              </a:defRPr>
            </a:pPr>
            <a:r>
              <a:rPr sz="1650" b="1">
                <a:solidFill>
                  <a:srgbClr val="B5122B"/>
                </a:solidFill>
              </a:rPr>
              <a:t>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86373D4-FA3E-4796-B621-9A7BABFBA678}"/>
              </a:ext>
            </a:extLst>
          </p:cNvPr>
          <p:cNvSpPr>
            <a:spLocks noGrp="1"/>
          </p:cNvSpPr>
          <p:nvPr/>
        </p:nvSpPr>
        <p:spPr>
          <a:xfrm>
            <a:off x="1676400" y="2895600"/>
            <a:ext cx="3429000" cy="666750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603A3DF-EA94-4B26-85B1-4C79C54C9AD5}"/>
              </a:ext>
            </a:extLst>
          </p:cNvPr>
          <p:cNvSpPr>
            <a:spLocks noGrp="1"/>
          </p:cNvSpPr>
          <p:nvPr/>
        </p:nvSpPr>
        <p:spPr>
          <a:xfrm>
            <a:off x="1771650" y="3000375"/>
            <a:ext cx="3238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full high at count 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607529C-1A25-4292-9C32-9D9F505FCE1F}"/>
              </a:ext>
            </a:extLst>
          </p:cNvPr>
          <p:cNvSpPr>
            <a:spLocks noGrp="1"/>
          </p:cNvSpPr>
          <p:nvPr/>
        </p:nvSpPr>
        <p:spPr>
          <a:xfrm>
            <a:off x="5105400" y="2895600"/>
            <a:ext cx="2476500" cy="666750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A3C61C-0EB0-4FD7-B14A-35377AC9B165}"/>
              </a:ext>
            </a:extLst>
          </p:cNvPr>
          <p:cNvSpPr>
            <a:spLocks noGrp="1"/>
          </p:cNvSpPr>
          <p:nvPr/>
        </p:nvSpPr>
        <p:spPr>
          <a:xfrm>
            <a:off x="5200650" y="3000375"/>
            <a:ext cx="2286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142033"/>
                </a:solidFill>
              </a:defRPr>
            </a:pPr>
            <a:r>
              <a:rPr sz="1050" b="1">
                <a:solidFill>
                  <a:srgbClr val="142033"/>
                </a:solidFill>
              </a:rPr>
              <a:t>FULL_FLAG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6E76367-B0AA-4390-A92C-00A99FBD6F7A}"/>
              </a:ext>
            </a:extLst>
          </p:cNvPr>
          <p:cNvSpPr>
            <a:spLocks noGrp="1"/>
          </p:cNvSpPr>
          <p:nvPr/>
        </p:nvSpPr>
        <p:spPr>
          <a:xfrm>
            <a:off x="7581900" y="2895600"/>
            <a:ext cx="2476500" cy="666750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2FA6270-CD96-4849-ACE7-64D09C4BB467}"/>
              </a:ext>
            </a:extLst>
          </p:cNvPr>
          <p:cNvSpPr>
            <a:spLocks noGrp="1"/>
          </p:cNvSpPr>
          <p:nvPr/>
        </p:nvSpPr>
        <p:spPr>
          <a:xfrm>
            <a:off x="7677150" y="3000375"/>
            <a:ext cx="2286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False full messages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BF09BBC-E325-4FF6-ABB9-2F95335CC4D0}"/>
              </a:ext>
            </a:extLst>
          </p:cNvPr>
          <p:cNvSpPr>
            <a:spLocks noGrp="1"/>
          </p:cNvSpPr>
          <p:nvPr/>
        </p:nvSpPr>
        <p:spPr>
          <a:xfrm>
            <a:off x="10058400" y="2895600"/>
            <a:ext cx="1714500" cy="666750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8E0AEAC-94B9-426A-96D2-6087F33F2DEB}"/>
              </a:ext>
            </a:extLst>
          </p:cNvPr>
          <p:cNvSpPr>
            <a:spLocks noGrp="1"/>
          </p:cNvSpPr>
          <p:nvPr/>
        </p:nvSpPr>
        <p:spPr>
          <a:xfrm>
            <a:off x="10153650" y="3000375"/>
            <a:ext cx="152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capacity loss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5C4EFFF-2B84-4305-A379-189099E9E311}"/>
              </a:ext>
            </a:extLst>
          </p:cNvPr>
          <p:cNvSpPr>
            <a:spLocks noGrp="1"/>
          </p:cNvSpPr>
          <p:nvPr/>
        </p:nvSpPr>
        <p:spPr>
          <a:xfrm>
            <a:off x="533400" y="3562350"/>
            <a:ext cx="1143000" cy="666750"/>
          </a:xfrm>
          <a:prstGeom prst="rect">
            <a:avLst/>
          </a:prstGeom>
          <a:solidFill>
            <a:srgbClr val="F1F5F9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D133789-3409-4AE4-B6C3-1D512AEC7276}"/>
              </a:ext>
            </a:extLst>
          </p:cNvPr>
          <p:cNvSpPr>
            <a:spLocks noGrp="1"/>
          </p:cNvSpPr>
          <p:nvPr/>
        </p:nvSpPr>
        <p:spPr>
          <a:xfrm>
            <a:off x="628650" y="3667125"/>
            <a:ext cx="952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B5122B"/>
                </a:solidFill>
              </a:defRPr>
            </a:pPr>
            <a:r>
              <a:rPr sz="1650" b="1">
                <a:solidFill>
                  <a:srgbClr val="B5122B"/>
                </a:solidFill>
              </a:rPr>
              <a:t>4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3765D8-2A1B-4F98-8ED6-A055AF65BBC0}"/>
              </a:ext>
            </a:extLst>
          </p:cNvPr>
          <p:cNvSpPr>
            <a:spLocks noGrp="1"/>
          </p:cNvSpPr>
          <p:nvPr/>
        </p:nvSpPr>
        <p:spPr>
          <a:xfrm>
            <a:off x="1676400" y="3562350"/>
            <a:ext cx="3429000" cy="666750"/>
          </a:xfrm>
          <a:prstGeom prst="rect">
            <a:avLst/>
          </a:prstGeom>
          <a:solidFill>
            <a:srgbClr val="F1F5F9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AD39C92-26AF-4CD1-8F3F-1F57A3998AA2}"/>
              </a:ext>
            </a:extLst>
          </p:cNvPr>
          <p:cNvSpPr>
            <a:spLocks noGrp="1"/>
          </p:cNvSpPr>
          <p:nvPr/>
        </p:nvSpPr>
        <p:spPr>
          <a:xfrm>
            <a:off x="1771650" y="3667125"/>
            <a:ext cx="3238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empty high at count 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99ACAF2-003E-48D4-8F82-BB86533CFF81}"/>
              </a:ext>
            </a:extLst>
          </p:cNvPr>
          <p:cNvSpPr>
            <a:spLocks noGrp="1"/>
          </p:cNvSpPr>
          <p:nvPr/>
        </p:nvSpPr>
        <p:spPr>
          <a:xfrm>
            <a:off x="5105400" y="3562350"/>
            <a:ext cx="2476500" cy="666750"/>
          </a:xfrm>
          <a:prstGeom prst="rect">
            <a:avLst/>
          </a:prstGeom>
          <a:solidFill>
            <a:srgbClr val="F1F5F9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7DEC99F-E909-4472-8292-7949C927F2F8}"/>
              </a:ext>
            </a:extLst>
          </p:cNvPr>
          <p:cNvSpPr>
            <a:spLocks noGrp="1"/>
          </p:cNvSpPr>
          <p:nvPr/>
        </p:nvSpPr>
        <p:spPr>
          <a:xfrm>
            <a:off x="5200650" y="3667125"/>
            <a:ext cx="2286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142033"/>
                </a:solidFill>
              </a:defRPr>
            </a:pPr>
            <a:r>
              <a:rPr sz="1050" b="1">
                <a:solidFill>
                  <a:srgbClr val="142033"/>
                </a:solidFill>
              </a:rPr>
              <a:t>EMPTY_FLAG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61ADB30-5877-4EEB-8B27-A32343BF80D2}"/>
              </a:ext>
            </a:extLst>
          </p:cNvPr>
          <p:cNvSpPr>
            <a:spLocks noGrp="1"/>
          </p:cNvSpPr>
          <p:nvPr/>
        </p:nvSpPr>
        <p:spPr>
          <a:xfrm>
            <a:off x="7581900" y="3562350"/>
            <a:ext cx="2476500" cy="666750"/>
          </a:xfrm>
          <a:prstGeom prst="rect">
            <a:avLst/>
          </a:prstGeom>
          <a:solidFill>
            <a:srgbClr val="F1F5F9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68B5581-8C68-4B65-AA4A-D92CB8079EE3}"/>
              </a:ext>
            </a:extLst>
          </p:cNvPr>
          <p:cNvSpPr>
            <a:spLocks noGrp="1"/>
          </p:cNvSpPr>
          <p:nvPr/>
        </p:nvSpPr>
        <p:spPr>
          <a:xfrm>
            <a:off x="7677150" y="3667125"/>
            <a:ext cx="2286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False empty messages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AD2CA54-085D-4C87-A13C-951EBC8BD37F}"/>
              </a:ext>
            </a:extLst>
          </p:cNvPr>
          <p:cNvSpPr>
            <a:spLocks noGrp="1"/>
          </p:cNvSpPr>
          <p:nvPr/>
        </p:nvSpPr>
        <p:spPr>
          <a:xfrm>
            <a:off x="10058400" y="3562350"/>
            <a:ext cx="1714500" cy="666750"/>
          </a:xfrm>
          <a:prstGeom prst="rect">
            <a:avLst/>
          </a:prstGeom>
          <a:solidFill>
            <a:srgbClr val="F1F5F9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1D0D264-5DDB-44F3-8C65-AF8C1370C4D2}"/>
              </a:ext>
            </a:extLst>
          </p:cNvPr>
          <p:cNvSpPr>
            <a:spLocks noGrp="1"/>
          </p:cNvSpPr>
          <p:nvPr/>
        </p:nvSpPr>
        <p:spPr>
          <a:xfrm>
            <a:off x="10153650" y="3667125"/>
            <a:ext cx="152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valid reads blocked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9015206-F1E0-4B25-821D-8CCACCF54A1E}"/>
              </a:ext>
            </a:extLst>
          </p:cNvPr>
          <p:cNvSpPr>
            <a:spLocks noGrp="1"/>
          </p:cNvSpPr>
          <p:nvPr/>
        </p:nvSpPr>
        <p:spPr>
          <a:xfrm>
            <a:off x="533400" y="4229100"/>
            <a:ext cx="1143000" cy="666750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0314817-0A23-4309-883B-B6BE645AB2DC}"/>
              </a:ext>
            </a:extLst>
          </p:cNvPr>
          <p:cNvSpPr>
            <a:spLocks noGrp="1"/>
          </p:cNvSpPr>
          <p:nvPr/>
        </p:nvSpPr>
        <p:spPr>
          <a:xfrm>
            <a:off x="628650" y="4333875"/>
            <a:ext cx="952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B5122B"/>
                </a:solidFill>
              </a:defRPr>
            </a:pPr>
            <a:r>
              <a:rPr sz="1650" b="1">
                <a:solidFill>
                  <a:srgbClr val="B5122B"/>
                </a:solidFill>
              </a:rPr>
              <a:t>5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1EFE9C3-6595-4B22-BD6F-52245468615E}"/>
              </a:ext>
            </a:extLst>
          </p:cNvPr>
          <p:cNvSpPr>
            <a:spLocks noGrp="1"/>
          </p:cNvSpPr>
          <p:nvPr/>
        </p:nvSpPr>
        <p:spPr>
          <a:xfrm>
            <a:off x="1676400" y="4229100"/>
            <a:ext cx="3429000" cy="666750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5065C67-4FE4-43DD-AA67-2ADCD92517BC}"/>
              </a:ext>
            </a:extLst>
          </p:cNvPr>
          <p:cNvSpPr>
            <a:spLocks noGrp="1"/>
          </p:cNvSpPr>
          <p:nvPr/>
        </p:nvSpPr>
        <p:spPr>
          <a:xfrm>
            <a:off x="1771650" y="4333875"/>
            <a:ext cx="3238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rd_ptr stuck during reads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77D2A3E-3C5A-4580-9BB6-996214D80117}"/>
              </a:ext>
            </a:extLst>
          </p:cNvPr>
          <p:cNvSpPr>
            <a:spLocks noGrp="1"/>
          </p:cNvSpPr>
          <p:nvPr/>
        </p:nvSpPr>
        <p:spPr>
          <a:xfrm>
            <a:off x="5105400" y="4229100"/>
            <a:ext cx="2476500" cy="666750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CDEBE85-9A9A-46E1-9110-862F623F7AD8}"/>
              </a:ext>
            </a:extLst>
          </p:cNvPr>
          <p:cNvSpPr>
            <a:spLocks noGrp="1"/>
          </p:cNvSpPr>
          <p:nvPr/>
        </p:nvSpPr>
        <p:spPr>
          <a:xfrm>
            <a:off x="5200650" y="4333875"/>
            <a:ext cx="2286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142033"/>
                </a:solidFill>
              </a:defRPr>
            </a:pPr>
            <a:r>
              <a:rPr sz="1050" b="1">
                <a:solidFill>
                  <a:srgbClr val="142033"/>
                </a:solidFill>
              </a:rPr>
              <a:t>READ_ONLY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CD12D95-476C-477F-9C4C-20304ECEB127}"/>
              </a:ext>
            </a:extLst>
          </p:cNvPr>
          <p:cNvSpPr>
            <a:spLocks noGrp="1"/>
          </p:cNvSpPr>
          <p:nvPr/>
        </p:nvSpPr>
        <p:spPr>
          <a:xfrm>
            <a:off x="7581900" y="4229100"/>
            <a:ext cx="2476500" cy="666750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294DA4F-75F3-41CB-9972-A99A84E3DE9B}"/>
              </a:ext>
            </a:extLst>
          </p:cNvPr>
          <p:cNvSpPr>
            <a:spLocks noGrp="1"/>
          </p:cNvSpPr>
          <p:nvPr/>
        </p:nvSpPr>
        <p:spPr>
          <a:xfrm>
            <a:off x="7677150" y="4333875"/>
            <a:ext cx="2286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Expected order breaks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76DDDE1-9820-448A-A563-E7F43C5F5763}"/>
              </a:ext>
            </a:extLst>
          </p:cNvPr>
          <p:cNvSpPr>
            <a:spLocks noGrp="1"/>
          </p:cNvSpPr>
          <p:nvPr/>
        </p:nvSpPr>
        <p:spPr>
          <a:xfrm>
            <a:off x="10058400" y="4229100"/>
            <a:ext cx="1714500" cy="666750"/>
          </a:xfrm>
          <a:prstGeom prst="rect">
            <a:avLst/>
          </a:prstGeom>
          <a:solidFill>
            <a:srgbClr val="FFFFFF"/>
          </a:solidFill>
          <a:ln w="7620">
            <a:solidFill>
              <a:srgbClr val="D9E1EC"/>
            </a:solidFill>
            <a:prstDash val="solid"/>
          </a:ln>
        </p:spPr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3A770F0-093B-4F03-96DF-3D35F8D61046}"/>
              </a:ext>
            </a:extLst>
          </p:cNvPr>
          <p:cNvSpPr>
            <a:spLocks noGrp="1"/>
          </p:cNvSpPr>
          <p:nvPr/>
        </p:nvSpPr>
        <p:spPr>
          <a:xfrm>
            <a:off x="10153650" y="4333875"/>
            <a:ext cx="1524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142033"/>
                </a:solidFill>
              </a:defRPr>
            </a:pPr>
            <a:r>
              <a:rPr sz="1050" b="0">
                <a:solidFill>
                  <a:srgbClr val="142033"/>
                </a:solidFill>
              </a:rPr>
              <a:t>pointer/data bug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59CC920-1098-4182-AD6A-C0087642BE2F}"/>
              </a:ext>
            </a:extLst>
          </p:cNvPr>
          <p:cNvSpPr>
            <a:spLocks noGrp="1"/>
          </p:cNvSpPr>
          <p:nvPr/>
        </p:nvSpPr>
        <p:spPr>
          <a:xfrm>
            <a:off x="933450" y="5657850"/>
            <a:ext cx="10191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269"/>
          </a:bodyPr>
          <a:lstStyle/>
          <a:p>
            <a:pPr algn="ctr">
              <a:defRPr sz="1350" b="1">
                <a:solidFill>
                  <a:srgbClr val="142033"/>
                </a:solidFill>
              </a:defRPr>
            </a:pPr>
            <a:r>
              <a:rPr sz="1350" b="1">
                <a:solidFill>
                  <a:srgbClr val="142033"/>
                </a:solidFill>
              </a:rPr>
              <a:t>Pattern: assertions catch control/protocol violations at the exact clocked condition; the scoreboard catches externally visible data-order consequences.</a:t>
            </a:r>
          </a:p>
        </p:txBody>
      </p:sp>
    </p:spTree>
    <p:extLst>
      <p:ext uri="{BB962C8B-B14F-4D97-AF65-F5344CB8AC3E}">
        <p14:creationId xmlns:p14="http://schemas.microsoft.com/office/powerpoint/2010/main" val="1998361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11523DD6-F6F6-4C1D-961E-0BF38CB187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39F8D1-2179-4D11-94E3-57A426E6AC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905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01CE81-9F03-4A35-8E75-D6F8C6E92715}"/>
              </a:ext>
            </a:extLst>
          </p:cNvPr>
          <p:cNvSpPr>
            <a:spLocks noGrp="1"/>
          </p:cNvSpPr>
          <p:nvPr/>
        </p:nvSpPr>
        <p:spPr>
          <a:xfrm>
            <a:off x="0" y="581025"/>
            <a:ext cx="12192000" cy="190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4421B2-6C4B-4EEA-B32E-F2648CF887B4}"/>
              </a:ext>
            </a:extLst>
          </p:cNvPr>
          <p:cNvSpPr>
            <a:spLocks noGrp="1"/>
          </p:cNvSpPr>
          <p:nvPr/>
        </p:nvSpPr>
        <p:spPr>
          <a:xfrm>
            <a:off x="495300" y="17145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Key Findings and Contribution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25E6C3-2B24-496E-80A3-6E1048856E1A}"/>
              </a:ext>
            </a:extLst>
          </p:cNvPr>
          <p:cNvSpPr>
            <a:spLocks noGrp="1"/>
          </p:cNvSpPr>
          <p:nvPr/>
        </p:nvSpPr>
        <p:spPr>
          <a:xfrm>
            <a:off x="8810625" y="180975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What the project demonstrates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4E7751-C78B-4955-B95C-B36258F7F8A8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8A8D10-3BD6-4F02-BBFF-24F94B36D762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55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16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AAFCAE-6C92-47B8-B6EC-A934B816AFD9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10001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352"/>
          </a:bodyPr>
          <a:lstStyle/>
          <a:p>
            <a:pPr algn="l">
              <a:defRPr sz="1650" b="1">
                <a:solidFill>
                  <a:srgbClr val="142033"/>
                </a:solidFill>
              </a:defRPr>
            </a:pPr>
            <a:r>
              <a:rPr sz="1650" b="1">
                <a:solidFill>
                  <a:srgbClr val="142033"/>
                </a:solidFill>
              </a:rPr>
              <a:t>The project demonstrates that assertion-based verification improves observability beyond transaction-level checking alone.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8687FEE-E1FA-4516-AB54-E8DFC80321D5}"/>
              </a:ext>
            </a:extLst>
          </p:cNvPr>
          <p:cNvSpPr>
            <a:spLocks noGrp="1"/>
          </p:cNvSpPr>
          <p:nvPr/>
        </p:nvSpPr>
        <p:spPr>
          <a:xfrm>
            <a:off x="742950" y="1676400"/>
            <a:ext cx="32766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99A114-13A7-488B-8410-A41AAB33FC3B}"/>
              </a:ext>
            </a:extLst>
          </p:cNvPr>
          <p:cNvSpPr>
            <a:spLocks noGrp="1"/>
          </p:cNvSpPr>
          <p:nvPr/>
        </p:nvSpPr>
        <p:spPr>
          <a:xfrm>
            <a:off x="742950" y="1676400"/>
            <a:ext cx="57150" cy="171450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AF8831-6C0C-48DD-BC1F-D34B2A044332}"/>
              </a:ext>
            </a:extLst>
          </p:cNvPr>
          <p:cNvSpPr>
            <a:spLocks noGrp="1"/>
          </p:cNvSpPr>
          <p:nvPr/>
        </p:nvSpPr>
        <p:spPr>
          <a:xfrm>
            <a:off x="971550" y="18669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1. Assertions localize failures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2DF9C-7D5B-41F5-8EF6-BA133182740A}"/>
              </a:ext>
            </a:extLst>
          </p:cNvPr>
          <p:cNvSpPr>
            <a:spLocks noGrp="1"/>
          </p:cNvSpPr>
          <p:nvPr/>
        </p:nvSpPr>
        <p:spPr>
          <a:xfrm>
            <a:off x="971550" y="2247900"/>
            <a:ext cx="2857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Internal signals such as wr_ptr, rd_ptr, fifo_count, do_write, and do_read are checked at the clock where the rule is violated.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E0EC482-10F9-47B0-A9F8-AFC88499FE88}"/>
              </a:ext>
            </a:extLst>
          </p:cNvPr>
          <p:cNvSpPr>
            <a:spLocks noGrp="1"/>
          </p:cNvSpPr>
          <p:nvPr/>
        </p:nvSpPr>
        <p:spPr>
          <a:xfrm>
            <a:off x="4457700" y="1676400"/>
            <a:ext cx="32766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6D2132-7AF7-42C3-A69D-D05E31ACA692}"/>
              </a:ext>
            </a:extLst>
          </p:cNvPr>
          <p:cNvSpPr>
            <a:spLocks noGrp="1"/>
          </p:cNvSpPr>
          <p:nvPr/>
        </p:nvSpPr>
        <p:spPr>
          <a:xfrm>
            <a:off x="4457700" y="1676400"/>
            <a:ext cx="57150" cy="1714500"/>
          </a:xfrm>
          <a:prstGeom prst="rect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26F2DE-B050-42F4-9AC6-8C63C759A44A}"/>
              </a:ext>
            </a:extLst>
          </p:cNvPr>
          <p:cNvSpPr>
            <a:spLocks noGrp="1"/>
          </p:cNvSpPr>
          <p:nvPr/>
        </p:nvSpPr>
        <p:spPr>
          <a:xfrm>
            <a:off x="4686300" y="18669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2. Scoreboard validates behavior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1F278B-C668-4EEA-86A6-0547214C2300}"/>
              </a:ext>
            </a:extLst>
          </p:cNvPr>
          <p:cNvSpPr>
            <a:spLocks noGrp="1"/>
          </p:cNvSpPr>
          <p:nvPr/>
        </p:nvSpPr>
        <p:spPr>
          <a:xfrm>
            <a:off x="4686300" y="2247900"/>
            <a:ext cx="2857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The queue-based reference model confirms whether the output data still follows FIFO order after control faults.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2C96764-1577-4187-B796-05FEB15AB254}"/>
              </a:ext>
            </a:extLst>
          </p:cNvPr>
          <p:cNvSpPr>
            <a:spLocks noGrp="1"/>
          </p:cNvSpPr>
          <p:nvPr/>
        </p:nvSpPr>
        <p:spPr>
          <a:xfrm>
            <a:off x="8172450" y="1676400"/>
            <a:ext cx="32766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9607E0-DA8A-418E-B92D-523E3D8B6680}"/>
              </a:ext>
            </a:extLst>
          </p:cNvPr>
          <p:cNvSpPr>
            <a:spLocks noGrp="1"/>
          </p:cNvSpPr>
          <p:nvPr/>
        </p:nvSpPr>
        <p:spPr>
          <a:xfrm>
            <a:off x="8172450" y="1676400"/>
            <a:ext cx="57150" cy="1714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4C0F75-EEF9-43C2-B7C9-C566F01F0745}"/>
              </a:ext>
            </a:extLst>
          </p:cNvPr>
          <p:cNvSpPr>
            <a:spLocks noGrp="1"/>
          </p:cNvSpPr>
          <p:nvPr/>
        </p:nvSpPr>
        <p:spPr>
          <a:xfrm>
            <a:off x="8401050" y="18669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3. Waveforms explain timing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DF91E3-D8FC-4DA2-AB64-C26B09A3F8EE}"/>
              </a:ext>
            </a:extLst>
          </p:cNvPr>
          <p:cNvSpPr>
            <a:spLocks noGrp="1"/>
          </p:cNvSpPr>
          <p:nvPr/>
        </p:nvSpPr>
        <p:spPr>
          <a:xfrm>
            <a:off x="8401050" y="2247900"/>
            <a:ext cx="2857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EPWave evidence connects assertion timestamps to signal transitions, making root cause analysis clear.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BE9E6C5-F1C1-4D1F-9BFD-32B4BDC16EEE}"/>
              </a:ext>
            </a:extLst>
          </p:cNvPr>
          <p:cNvSpPr>
            <a:spLocks noGrp="1"/>
          </p:cNvSpPr>
          <p:nvPr/>
        </p:nvSpPr>
        <p:spPr>
          <a:xfrm>
            <a:off x="1200150" y="4114800"/>
            <a:ext cx="98107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23BEC3-65FD-4A5E-A968-99EA12F6D702}"/>
              </a:ext>
            </a:extLst>
          </p:cNvPr>
          <p:cNvSpPr>
            <a:spLocks noGrp="1"/>
          </p:cNvSpPr>
          <p:nvPr/>
        </p:nvSpPr>
        <p:spPr>
          <a:xfrm>
            <a:off x="1524000" y="432435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B5122B"/>
                </a:solidFill>
              </a:defRPr>
            </a:pPr>
            <a:r>
              <a:rPr sz="1650" b="1">
                <a:solidFill>
                  <a:srgbClr val="B5122B"/>
                </a:solidFill>
              </a:rPr>
              <a:t>Main contribution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705628-8FF0-405E-9B70-1A6C08C03762}"/>
              </a:ext>
            </a:extLst>
          </p:cNvPr>
          <p:cNvSpPr>
            <a:spLocks noGrp="1"/>
          </p:cNvSpPr>
          <p:nvPr/>
        </p:nvSpPr>
        <p:spPr>
          <a:xfrm>
            <a:off x="1524000" y="4686300"/>
            <a:ext cx="8763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103"/>
          </a:bodyPr>
          <a:lstStyle/>
          <a:p>
            <a:pPr algn="l">
              <a:defRPr sz="1425" b="0">
                <a:solidFill>
                  <a:srgbClr val="142033"/>
                </a:solidFill>
              </a:defRPr>
            </a:pPr>
            <a:r>
              <a:rPr sz="1425" b="0">
                <a:solidFill>
                  <a:srgbClr val="142033"/>
                </a:solidFill>
              </a:rPr>
              <a:t>A parameterized synchronous FIFO was verified with a SystemVerilog class-based environment, bound SVA checker, scoreboard, and five intentional negative tests. The result is a reusable verification base that can be extended toward UVM.</a:t>
            </a:r>
          </a:p>
        </p:txBody>
      </p:sp>
    </p:spTree>
    <p:extLst>
      <p:ext uri="{BB962C8B-B14F-4D97-AF65-F5344CB8AC3E}">
        <p14:creationId xmlns:p14="http://schemas.microsoft.com/office/powerpoint/2010/main" val="990332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11523DD6-F6F6-4C1D-961E-0BF38CB187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B0F599-65A3-4937-B6CD-BCC0AC42BE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905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FFDFA7-154B-4E81-97A3-1076B92F938B}"/>
              </a:ext>
            </a:extLst>
          </p:cNvPr>
          <p:cNvSpPr>
            <a:spLocks noGrp="1"/>
          </p:cNvSpPr>
          <p:nvPr/>
        </p:nvSpPr>
        <p:spPr>
          <a:xfrm>
            <a:off x="0" y="581025"/>
            <a:ext cx="12192000" cy="19050"/>
          </a:xfrm>
          <a:prstGeom prst="rect">
            <a:avLst/>
          </a:prstGeom>
          <a:solidFill>
            <a:srgbClr val="B512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322503-F70E-411C-BFE0-59891402C243}"/>
              </a:ext>
            </a:extLst>
          </p:cNvPr>
          <p:cNvSpPr>
            <a:spLocks noGrp="1"/>
          </p:cNvSpPr>
          <p:nvPr/>
        </p:nvSpPr>
        <p:spPr>
          <a:xfrm>
            <a:off x="495300" y="17145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75" b="1">
                <a:solidFill>
                  <a:srgbClr val="142033"/>
                </a:solidFill>
              </a:defRPr>
            </a:pPr>
            <a:r>
              <a:rPr sz="1875" b="1">
                <a:solidFill>
                  <a:srgbClr val="142033"/>
                </a:solidFill>
              </a:rPr>
              <a:t>Conclusion, Future Work, and References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757AD4-39DE-47D5-8F13-A73B0CCB9B21}"/>
              </a:ext>
            </a:extLst>
          </p:cNvPr>
          <p:cNvSpPr>
            <a:spLocks noGrp="1"/>
          </p:cNvSpPr>
          <p:nvPr/>
        </p:nvSpPr>
        <p:spPr>
          <a:xfrm>
            <a:off x="8810625" y="180975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5C6675"/>
                </a:solidFill>
              </a:defRPr>
            </a:pPr>
            <a:r>
              <a:rPr sz="975" b="0">
                <a:solidFill>
                  <a:srgbClr val="5C6675"/>
                </a:solidFill>
              </a:rPr>
              <a:t>Close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881A85-B254-4D0D-9510-7C231DF25E69}"/>
              </a:ext>
            </a:extLst>
          </p:cNvPr>
          <p:cNvSpPr>
            <a:spLocks noGrp="1"/>
          </p:cNvSpPr>
          <p:nvPr/>
        </p:nvSpPr>
        <p:spPr>
          <a:xfrm>
            <a:off x="495300" y="65151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6675"/>
                </a:solidFill>
              </a:defRPr>
            </a:pPr>
            <a:r>
              <a:rPr sz="900" b="0">
                <a:solidFill>
                  <a:srgbClr val="5C6675"/>
                </a:solidFill>
              </a:rPr>
              <a:t>Assertion-Based Verification of Synchronous FIFO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12B19A-D437-432C-8644-DD873C40A149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55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B5122B"/>
                </a:solidFill>
              </a:defRPr>
            </a:pPr>
            <a:r>
              <a:rPr sz="1200" b="1">
                <a:solidFill>
                  <a:srgbClr val="B5122B"/>
                </a:solidFill>
              </a:rPr>
              <a:t>17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D8D2C9-FD3F-4AEA-B406-9415C6E41A7C}"/>
              </a:ext>
            </a:extLst>
          </p:cNvPr>
          <p:cNvSpPr>
            <a:spLocks noGrp="1"/>
          </p:cNvSpPr>
          <p:nvPr/>
        </p:nvSpPr>
        <p:spPr>
          <a:xfrm>
            <a:off x="666750" y="952500"/>
            <a:ext cx="5143500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4D9B73-9B39-477B-84F7-E351A691725A}"/>
              </a:ext>
            </a:extLst>
          </p:cNvPr>
          <p:cNvSpPr>
            <a:spLocks noGrp="1"/>
          </p:cNvSpPr>
          <p:nvPr/>
        </p:nvSpPr>
        <p:spPr>
          <a:xfrm>
            <a:off x="666750" y="952500"/>
            <a:ext cx="57150" cy="1638300"/>
          </a:xfrm>
          <a:prstGeom prst="rect">
            <a:avLst/>
          </a:prstGeom>
          <a:solidFill>
            <a:srgbClr val="0875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2F8FA0-D778-4999-81B4-3A108177E503}"/>
              </a:ext>
            </a:extLst>
          </p:cNvPr>
          <p:cNvSpPr>
            <a:spLocks noGrp="1"/>
          </p:cNvSpPr>
          <p:nvPr/>
        </p:nvSpPr>
        <p:spPr>
          <a:xfrm>
            <a:off x="895350" y="1143000"/>
            <a:ext cx="472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Conclusion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333FCC-50CB-452E-9D31-4FD5C11BCE96}"/>
              </a:ext>
            </a:extLst>
          </p:cNvPr>
          <p:cNvSpPr>
            <a:spLocks noGrp="1"/>
          </p:cNvSpPr>
          <p:nvPr/>
        </p:nvSpPr>
        <p:spPr>
          <a:xfrm>
            <a:off x="895350" y="1524000"/>
            <a:ext cx="47244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The clean FIFO behavior was established first. Each injected RTL fault produced assertion or scoreboard failures, proving that the environment can detect reset, boundary, flag, pointer, and data-order bugs.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8A8C238-C5DF-4EEC-A4A2-2DF559BF3FA3}"/>
              </a:ext>
            </a:extLst>
          </p:cNvPr>
          <p:cNvSpPr>
            <a:spLocks noGrp="1"/>
          </p:cNvSpPr>
          <p:nvPr/>
        </p:nvSpPr>
        <p:spPr>
          <a:xfrm>
            <a:off x="6381750" y="952500"/>
            <a:ext cx="5143500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CBD62F-B4D3-4F35-BEE8-F77EFB6BFFBD}"/>
              </a:ext>
            </a:extLst>
          </p:cNvPr>
          <p:cNvSpPr>
            <a:spLocks noGrp="1"/>
          </p:cNvSpPr>
          <p:nvPr/>
        </p:nvSpPr>
        <p:spPr>
          <a:xfrm>
            <a:off x="6381750" y="952500"/>
            <a:ext cx="57150" cy="16383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15CF9A-B528-4088-8495-1AA109AE96BD}"/>
              </a:ext>
            </a:extLst>
          </p:cNvPr>
          <p:cNvSpPr>
            <a:spLocks noGrp="1"/>
          </p:cNvSpPr>
          <p:nvPr/>
        </p:nvSpPr>
        <p:spPr>
          <a:xfrm>
            <a:off x="6610350" y="1143000"/>
            <a:ext cx="472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42033"/>
                </a:solidFill>
              </a:defRPr>
            </a:pPr>
            <a:r>
              <a:rPr sz="1425" b="1">
                <a:solidFill>
                  <a:srgbClr val="142033"/>
                </a:solidFill>
              </a:rPr>
              <a:t>Future improvements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9631BC-7649-4FE3-BD9E-9BE2C91E2CD9}"/>
              </a:ext>
            </a:extLst>
          </p:cNvPr>
          <p:cNvSpPr>
            <a:spLocks noGrp="1"/>
          </p:cNvSpPr>
          <p:nvPr/>
        </p:nvSpPr>
        <p:spPr>
          <a:xfrm>
            <a:off x="6610350" y="1524000"/>
            <a:ext cx="47244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Migrate to UVM agents and sequences.</a:t>
            </a:r>
          </a:p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Add functional coverage bins for full/empty transitions.</a:t>
            </a:r>
          </a:p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Add constrained random regression tests.</a:t>
            </a:r>
          </a:p>
          <a:p>
            <a:pPr algn="l">
              <a:defRPr sz="1200" b="0">
                <a:solidFill>
                  <a:srgbClr val="5C6675"/>
                </a:solidFill>
              </a:defRPr>
            </a:pPr>
            <a:r>
              <a:rPr sz="1200" b="0">
                <a:solidFill>
                  <a:srgbClr val="5C6675"/>
                </a:solidFill>
              </a:rPr>
              <a:t>Add coverage-driven closure and CI simulation scripts.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8DC8575-60F2-4758-BEF7-9A3AE0AAE477}"/>
              </a:ext>
            </a:extLst>
          </p:cNvPr>
          <p:cNvSpPr>
            <a:spLocks noGrp="1"/>
          </p:cNvSpPr>
          <p:nvPr/>
        </p:nvSpPr>
        <p:spPr>
          <a:xfrm>
            <a:off x="666750" y="3048000"/>
            <a:ext cx="10858500" cy="262890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0478">
            <a:solidFill>
              <a:srgbClr val="D9E1E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7C6162-8E98-402D-88B6-E453B8066307}"/>
              </a:ext>
            </a:extLst>
          </p:cNvPr>
          <p:cNvSpPr>
            <a:spLocks noGrp="1"/>
          </p:cNvSpPr>
          <p:nvPr/>
        </p:nvSpPr>
        <p:spPr>
          <a:xfrm>
            <a:off x="952500" y="32766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B5122B"/>
                </a:solidFill>
              </a:defRPr>
            </a:pPr>
            <a:r>
              <a:rPr sz="1725" b="1">
                <a:solidFill>
                  <a:srgbClr val="B5122B"/>
                </a:solidFill>
              </a:rPr>
              <a:t>References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A673D6-BCF6-4D3A-9329-5CCF1410BDB7}"/>
              </a:ext>
            </a:extLst>
          </p:cNvPr>
          <p:cNvSpPr>
            <a:spLocks noGrp="1"/>
          </p:cNvSpPr>
          <p:nvPr/>
        </p:nvSpPr>
        <p:spPr>
          <a:xfrm>
            <a:off x="952500" y="3733800"/>
            <a:ext cx="952500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1. IEEE SA, IEEE 1800-2023: SystemVerilog - Unified Hardware Design, Specification, and Verification Language.</a:t>
            </a:r>
          </a:p>
          <a:p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2. Accellera, Universal Verification Methodology community and standards pages.</a:t>
            </a:r>
          </a:p>
          <a:p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3. Local project report: TIET_Assertion_Based_FIFO_Verification_Report.docx.</a:t>
            </a:r>
          </a:p>
          <a:p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4. Project source files: rtl/sync_fifo_ram.sv, rtl/sync_ram.sv, tb/assert_fifo_ram.sv, tb/*.svh.</a:t>
            </a:r>
          </a:p>
          <a:p>
            <a:pPr algn="l">
              <a:defRPr sz="1275" b="0">
                <a:solidFill>
                  <a:srgbClr val="142033"/>
                </a:solidFill>
              </a:defRPr>
            </a:pPr>
            <a:r>
              <a:rPr sz="1275" b="0">
                <a:solidFill>
                  <a:srgbClr val="142033"/>
                </a:solidFill>
              </a:rPr>
              <a:t>5. Simulation evidence: EPWave and transcript screenshots from images/issue1 through images/issue5.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054A2F-145A-40C9-B950-AB1D41853BB1}"/>
              </a:ext>
            </a:extLst>
          </p:cNvPr>
          <p:cNvSpPr>
            <a:spLocks noGrp="1"/>
          </p:cNvSpPr>
          <p:nvPr/>
        </p:nvSpPr>
        <p:spPr>
          <a:xfrm>
            <a:off x="952500" y="5105400"/>
            <a:ext cx="952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250"/>
          </a:bodyPr>
          <a:lstStyle/>
          <a:p>
            <a:pPr algn="ctr">
              <a:defRPr sz="1425" b="1">
                <a:solidFill>
                  <a:srgbClr val="08756F"/>
                </a:solidFill>
              </a:defRPr>
            </a:pPr>
            <a:r>
              <a:rPr sz="1425" b="1">
                <a:solidFill>
                  <a:srgbClr val="08756F"/>
                </a:solidFill>
              </a:rPr>
              <a:t>Final message: SVA gives precise internal failure localization; the scoreboard proves whether the design still obeys FIFO data ordering.</a:t>
            </a:r>
          </a:p>
        </p:txBody>
      </p:sp>
    </p:spTree>
    <p:extLst>
      <p:ext uri="{BB962C8B-B14F-4D97-AF65-F5344CB8AC3E}">
        <p14:creationId xmlns:p14="http://schemas.microsoft.com/office/powerpoint/2010/main" val="19066498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2245</Words>
  <Application>Microsoft Office PowerPoint</Application>
  <DocSecurity>0</DocSecurity>
  <PresentationFormat>Widescreen</PresentationFormat>
  <Paragraphs>364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Kapil Tripathi</cp:lastModifiedBy>
  <cp:revision>1</cp:revision>
  <dcterms:created xsi:type="dcterms:W3CDTF">2026-05-04T16:52:41Z</dcterms:created>
  <dcterms:modified xsi:type="dcterms:W3CDTF">2026-05-04T17:00:03Z</dcterms:modified>
</cp:coreProperties>
</file>