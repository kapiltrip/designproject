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92cd70733a498c" /><Relationship Type="http://schemas.openxmlformats.org/officeDocument/2006/relationships/extended-properties" Target="/docProps/app.xml" Id="R6cc0e44b07ec468e" /><Relationship Type="http://schemas.openxmlformats.org/officeDocument/2006/relationships/officeDocument" Target="/ppt/presentation.xml" Id="R701376750b4f46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3b1730bfe147bb"/>
  </p:sldMasterIdLst>
  <p:notesMasterIdLst>
    <p:notesMasterId xmlns:r="http://schemas.openxmlformats.org/officeDocument/2006/relationships" r:id="Rbadedb1556fb493c"/>
  </p:notesMasterIdLst>
  <p:sldIdLst>
    <p:sldId xmlns:r="http://schemas.openxmlformats.org/officeDocument/2006/relationships" id="256" r:id="R7a07b2b250ad49eb"/>
    <p:sldId xmlns:r="http://schemas.openxmlformats.org/officeDocument/2006/relationships" id="257" r:id="R03f0e720f9c2475e"/>
    <p:sldId xmlns:r="http://schemas.openxmlformats.org/officeDocument/2006/relationships" id="258" r:id="Rd9028a50a5ab4feb"/>
    <p:sldId xmlns:r="http://schemas.openxmlformats.org/officeDocument/2006/relationships" id="259" r:id="Ra33b2dfb27ca4569"/>
    <p:sldId xmlns:r="http://schemas.openxmlformats.org/officeDocument/2006/relationships" id="260" r:id="Rafb8f6605f024f58"/>
    <p:sldId xmlns:r="http://schemas.openxmlformats.org/officeDocument/2006/relationships" id="261" r:id="R9747eb8d6fc04430"/>
    <p:sldId xmlns:r="http://schemas.openxmlformats.org/officeDocument/2006/relationships" id="262" r:id="R7906199c555f4e0f"/>
    <p:sldId xmlns:r="http://schemas.openxmlformats.org/officeDocument/2006/relationships" id="263" r:id="R9bcb2d14f201477c"/>
    <p:sldId xmlns:r="http://schemas.openxmlformats.org/officeDocument/2006/relationships" id="264" r:id="R2f31546af7554627"/>
    <p:sldId xmlns:r="http://schemas.openxmlformats.org/officeDocument/2006/relationships" id="265" r:id="R27b6cd618c4f433b"/>
    <p:sldId xmlns:r="http://schemas.openxmlformats.org/officeDocument/2006/relationships" id="266" r:id="Rc3f7328fb6e54a33"/>
    <p:sldId xmlns:r="http://schemas.openxmlformats.org/officeDocument/2006/relationships" id="267" r:id="R518d2d213bc343cf"/>
    <p:sldId xmlns:r="http://schemas.openxmlformats.org/officeDocument/2006/relationships" id="268" r:id="Rc492649267cc4cde"/>
    <p:sldId xmlns:r="http://schemas.openxmlformats.org/officeDocument/2006/relationships" id="269" r:id="Rb951a543b71c4a0e"/>
    <p:sldId xmlns:r="http://schemas.openxmlformats.org/officeDocument/2006/relationships" id="270" r:id="R0c102a7324d7485c"/>
    <p:sldId xmlns:r="http://schemas.openxmlformats.org/officeDocument/2006/relationships" id="271" r:id="R3543a9c0bbcf4e70"/>
    <p:sldId xmlns:r="http://schemas.openxmlformats.org/officeDocument/2006/relationships" id="272" r:id="R63eb44ab4f0246e4"/>
    <p:sldId xmlns:r="http://schemas.openxmlformats.org/officeDocument/2006/relationships" id="273" r:id="R3adba529bf3e45ae"/>
    <p:sldId xmlns:r="http://schemas.openxmlformats.org/officeDocument/2006/relationships" id="274" r:id="Rcbc9ed11fc2042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b1730bfe147bb" /><Relationship Type="http://schemas.openxmlformats.org/officeDocument/2006/relationships/theme" Target="/ppt/theme/theme1.xml" Id="Re3499dbad05c4530" /><Relationship Type="http://schemas.openxmlformats.org/officeDocument/2006/relationships/notesMaster" Target="/ppt/notesMasters/notesMaster1.xml" Id="Rbadedb1556fb493c" /><Relationship Type="http://schemas.openxmlformats.org/officeDocument/2006/relationships/presProps" Target="/ppt/presProps.xml" Id="Raea105aeda974dd9" /><Relationship Type="http://schemas.openxmlformats.org/officeDocument/2006/relationships/viewProps" Target="/ppt/viewProps.xml" Id="Rac085264f8124784" /><Relationship Type="http://schemas.openxmlformats.org/officeDocument/2006/relationships/tableStyles" Target="/ppt/tableStyles.xml" Id="R0ca09d3916cd4d1e" /><Relationship Type="http://schemas.openxmlformats.org/officeDocument/2006/relationships/slide" Target="/ppt/slides/slide1.xml" Id="R7a07b2b250ad49eb" /><Relationship Type="http://schemas.openxmlformats.org/officeDocument/2006/relationships/slide" Target="/ppt/slides/slide2.xml" Id="R03f0e720f9c2475e" /><Relationship Type="http://schemas.openxmlformats.org/officeDocument/2006/relationships/slide" Target="/ppt/slides/slide3.xml" Id="Rd9028a50a5ab4feb" /><Relationship Type="http://schemas.openxmlformats.org/officeDocument/2006/relationships/slide" Target="/ppt/slides/slide4.xml" Id="Ra33b2dfb27ca4569" /><Relationship Type="http://schemas.openxmlformats.org/officeDocument/2006/relationships/slide" Target="/ppt/slides/slide5.xml" Id="Rafb8f6605f024f58" /><Relationship Type="http://schemas.openxmlformats.org/officeDocument/2006/relationships/slide" Target="/ppt/slides/slide6.xml" Id="R9747eb8d6fc04430" /><Relationship Type="http://schemas.openxmlformats.org/officeDocument/2006/relationships/slide" Target="/ppt/slides/slide7.xml" Id="R7906199c555f4e0f" /><Relationship Type="http://schemas.openxmlformats.org/officeDocument/2006/relationships/slide" Target="/ppt/slides/slide8.xml" Id="R9bcb2d14f201477c" /><Relationship Type="http://schemas.openxmlformats.org/officeDocument/2006/relationships/slide" Target="/ppt/slides/slide9.xml" Id="R2f31546af7554627" /><Relationship Type="http://schemas.openxmlformats.org/officeDocument/2006/relationships/slide" Target="/ppt/slides/slide10.xml" Id="R27b6cd618c4f433b" /><Relationship Type="http://schemas.openxmlformats.org/officeDocument/2006/relationships/slide" Target="/ppt/slides/slide11.xml" Id="Rc3f7328fb6e54a33" /><Relationship Type="http://schemas.openxmlformats.org/officeDocument/2006/relationships/slide" Target="/ppt/slides/slide12.xml" Id="R518d2d213bc343cf" /><Relationship Type="http://schemas.openxmlformats.org/officeDocument/2006/relationships/slide" Target="/ppt/slides/slide13.xml" Id="Rc492649267cc4cde" /><Relationship Type="http://schemas.openxmlformats.org/officeDocument/2006/relationships/slide" Target="/ppt/slides/slide14.xml" Id="Rb951a543b71c4a0e" /><Relationship Type="http://schemas.openxmlformats.org/officeDocument/2006/relationships/slide" Target="/ppt/slides/slide15.xml" Id="R0c102a7324d7485c" /><Relationship Type="http://schemas.openxmlformats.org/officeDocument/2006/relationships/slide" Target="/ppt/slides/slide16.xml" Id="R3543a9c0bbcf4e70" /><Relationship Type="http://schemas.openxmlformats.org/officeDocument/2006/relationships/slide" Target="/ppt/slides/slide17.xml" Id="R63eb44ab4f0246e4" /><Relationship Type="http://schemas.openxmlformats.org/officeDocument/2006/relationships/slide" Target="/ppt/slides/slide18.xml" Id="R3adba529bf3e45ae" /><Relationship Type="http://schemas.openxmlformats.org/officeDocument/2006/relationships/slide" Target="/ppt/slides/slide19.xml" Id="Rcbc9ed11fc2042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999a211fce442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a7ce79ade447ca" /><Relationship Type="http://schemas.openxmlformats.org/officeDocument/2006/relationships/notesMaster" Target="/ppt/notesMasters/notesMaster1.xml" Id="Rf975788af18446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5f67967e134129" /><Relationship Type="http://schemas.openxmlformats.org/officeDocument/2006/relationships/notesMaster" Target="/ppt/notesMasters/notesMaster1.xml" Id="Ra32fd2d92c794c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8544245cc4a7a" /><Relationship Type="http://schemas.openxmlformats.org/officeDocument/2006/relationships/notesMaster" Target="/ppt/notesMasters/notesMaster1.xml" Id="R2d391fb7eebd47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8fcaf5709c4316" /><Relationship Type="http://schemas.openxmlformats.org/officeDocument/2006/relationships/notesMaster" Target="/ppt/notesMasters/notesMaster1.xml" Id="Rdf89758f3d4c4a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9d59caa17d4453" /><Relationship Type="http://schemas.openxmlformats.org/officeDocument/2006/relationships/notesMaster" Target="/ppt/notesMasters/notesMaster1.xml" Id="Ra5e31be6857f42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222d4ab1b34fa6" /><Relationship Type="http://schemas.openxmlformats.org/officeDocument/2006/relationships/notesMaster" Target="/ppt/notesMasters/notesMaster1.xml" Id="R077de746565d4c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f7abc3adaa4c5f" /><Relationship Type="http://schemas.openxmlformats.org/officeDocument/2006/relationships/notesMaster" Target="/ppt/notesMasters/notesMaster1.xml" Id="Ree770f5e35c342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dfe021a0f7472b" /><Relationship Type="http://schemas.openxmlformats.org/officeDocument/2006/relationships/notesMaster" Target="/ppt/notesMasters/notesMaster1.xml" Id="R56466a2c9ff44f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2273034c134c76" /><Relationship Type="http://schemas.openxmlformats.org/officeDocument/2006/relationships/notesMaster" Target="/ppt/notesMasters/notesMaster1.xml" Id="R7d4b7929fc584f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91aa8f615a4a4f" /><Relationship Type="http://schemas.openxmlformats.org/officeDocument/2006/relationships/notesMaster" Target="/ppt/notesMasters/notesMaster1.xml" Id="R5dd5fc7c4ca645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eac1ae8a164d12" /><Relationship Type="http://schemas.openxmlformats.org/officeDocument/2006/relationships/notesMaster" Target="/ppt/notesMasters/notesMaster1.xml" Id="R8c2568d19c2d40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c31b36b83f4bce" /><Relationship Type="http://schemas.openxmlformats.org/officeDocument/2006/relationships/notesMaster" Target="/ppt/notesMasters/notesMaster1.xml" Id="Rbdb5dc6724f245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ac8acd87814805" /><Relationship Type="http://schemas.openxmlformats.org/officeDocument/2006/relationships/notesMaster" Target="/ppt/notesMasters/notesMaster1.xml" Id="Rb6b178dfc17940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a809095d704511" /><Relationship Type="http://schemas.openxmlformats.org/officeDocument/2006/relationships/notesMaster" Target="/ppt/notesMasters/notesMaster1.xml" Id="R81764c0f2fee43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fa96ae9452431e" /><Relationship Type="http://schemas.openxmlformats.org/officeDocument/2006/relationships/notesMaster" Target="/ppt/notesMasters/notesMaster1.xml" Id="R3181fceb1bec4c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7de78f54fe460c" /><Relationship Type="http://schemas.openxmlformats.org/officeDocument/2006/relationships/notesMaster" Target="/ppt/notesMasters/notesMaster1.xml" Id="Re37f36a9cffe4c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8c7e0f89244386" /><Relationship Type="http://schemas.openxmlformats.org/officeDocument/2006/relationships/notesMaster" Target="/ppt/notesMasters/notesMaster1.xml" Id="Rac7a2f7f184947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eb352a618c4192" /><Relationship Type="http://schemas.openxmlformats.org/officeDocument/2006/relationships/notesMaster" Target="/ppt/notesMasters/notesMaster1.xml" Id="R9ac4803e5ece43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ad5f94aca24cc6" /><Relationship Type="http://schemas.openxmlformats.org/officeDocument/2006/relationships/notesMaster" Target="/ppt/notesMasters/notesMaster1.xml" Id="Rd6bfc66d53d848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910a91d0a413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2FF68B5-9355-4F41-8989-404ABE38CB9F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254A4B6C-A945-4965-911D-65F9AE5E108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546B3A-5641-4498-8477-AB0035C15F7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1189F1-EC5A-4A35-AD1A-0C50FC38DFE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acb38d19f4b451d" /><Relationship Type="http://schemas.openxmlformats.org/officeDocument/2006/relationships/slideLayout" Target="/ppt/slideLayouts/slideLayout2.xml" Id="Rce61454b6b1a49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F29D24-0275-4CE2-80BD-6EDC9740DD9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61454b6b1a49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724d637c8d47ac" /><Relationship Type="http://schemas.openxmlformats.org/officeDocument/2006/relationships/image" Target="/ppt/media/image.jpeg" Id="R1e9e36a0ff774d6f" /><Relationship Type="http://schemas.openxmlformats.org/officeDocument/2006/relationships/notesSlide" Target="/ppt/notesSlides/notesSlide1.xml" Id="R6e2d09dafeab43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d35b75ed004b13" /><Relationship Type="http://schemas.openxmlformats.org/officeDocument/2006/relationships/notesSlide" Target="/ppt/notesSlides/notesSlide2.xml" Id="R7b341d7a28304f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d5b53ee9994fb7" /><Relationship Type="http://schemas.openxmlformats.org/officeDocument/2006/relationships/notesSlide" Target="/ppt/notesSlides/notesSlide3.xml" Id="Ra924813f36e842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42487fa16a45cc" /><Relationship Type="http://schemas.openxmlformats.org/officeDocument/2006/relationships/notesSlide" Target="/ppt/notesSlides/notesSlide4.xml" Id="R88b6616c010c43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7a2ff6b23f4593" /><Relationship Type="http://schemas.openxmlformats.org/officeDocument/2006/relationships/notesSlide" Target="/ppt/notesSlides/notesSlide5.xml" Id="Rd8f32c950d7e4d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c17fb318df4885" /><Relationship Type="http://schemas.openxmlformats.org/officeDocument/2006/relationships/notesSlide" Target="/ppt/notesSlides/notesSlide6.xml" Id="Rd98696c1c9fe45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b81637248a4dcd" /><Relationship Type="http://schemas.openxmlformats.org/officeDocument/2006/relationships/notesSlide" Target="/ppt/notesSlides/notesSlide7.xml" Id="R40a28fc6a3774b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feb6415afe453f" /><Relationship Type="http://schemas.openxmlformats.org/officeDocument/2006/relationships/notesSlide" Target="/ppt/notesSlides/notesSlide8.xml" Id="Rfdca002fbddd46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c9654728b4d68" /><Relationship Type="http://schemas.openxmlformats.org/officeDocument/2006/relationships/notesSlide" Target="/ppt/notesSlides/notesSlide9.xml" Id="R0b741a6531e649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c969d10df54c86" /><Relationship Type="http://schemas.openxmlformats.org/officeDocument/2006/relationships/notesSlide" Target="/ppt/notesSlides/notesSlide10.xml" Id="Rf124dcc3a83f4d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5a4f83c10424b" /><Relationship Type="http://schemas.openxmlformats.org/officeDocument/2006/relationships/notesSlide" Target="/ppt/notesSlides/notesSlide11.xml" Id="Re4887ce4e84f4e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40d83908d84075" /><Relationship Type="http://schemas.openxmlformats.org/officeDocument/2006/relationships/notesSlide" Target="/ppt/notesSlides/notesSlide12.xml" Id="R93f6aa4a9d2548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c52284ea684887" /><Relationship Type="http://schemas.openxmlformats.org/officeDocument/2006/relationships/image" Target="/ppt/media/image.png" Id="R0877f925563f4655" /><Relationship Type="http://schemas.openxmlformats.org/officeDocument/2006/relationships/image" Target="/ppt/media/image2.png" Id="Ra3f251c017cc4293" /><Relationship Type="http://schemas.openxmlformats.org/officeDocument/2006/relationships/image" Target="/ppt/media/image3.png" Id="R8294bd3470294135" /><Relationship Type="http://schemas.openxmlformats.org/officeDocument/2006/relationships/image" Target="/ppt/media/image4.png" Id="R2883c60b614b416a" /><Relationship Type="http://schemas.openxmlformats.org/officeDocument/2006/relationships/notesSlide" Target="/ppt/notesSlides/notesSlide13.xml" Id="Rbc7b080d00db4d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1a61153048418e" /><Relationship Type="http://schemas.openxmlformats.org/officeDocument/2006/relationships/image" Target="/ppt/media/image5.png" Id="R2fa35120df0343ee" /><Relationship Type="http://schemas.openxmlformats.org/officeDocument/2006/relationships/image" Target="/ppt/media/image6.png" Id="R55965d8868ff413d" /><Relationship Type="http://schemas.openxmlformats.org/officeDocument/2006/relationships/notesSlide" Target="/ppt/notesSlides/notesSlide14.xml" Id="R0c0aa930722649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0cdf636764ecb" /><Relationship Type="http://schemas.openxmlformats.org/officeDocument/2006/relationships/image" Target="/ppt/media/image7.png" Id="Rf5129248f961435b" /><Relationship Type="http://schemas.openxmlformats.org/officeDocument/2006/relationships/image" Target="/ppt/media/image8.png" Id="R5fbb07503c334eae" /><Relationship Type="http://schemas.openxmlformats.org/officeDocument/2006/relationships/notesSlide" Target="/ppt/notesSlides/notesSlide15.xml" Id="R15479b61bc6041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ecb5b308f74d82" /><Relationship Type="http://schemas.openxmlformats.org/officeDocument/2006/relationships/image" Target="/ppt/media/image9.png" Id="Rc2d3e5f3dad54463" /><Relationship Type="http://schemas.openxmlformats.org/officeDocument/2006/relationships/image" Target="/ppt/media/image10.png" Id="Rb373ffbc6a6d4a47" /><Relationship Type="http://schemas.openxmlformats.org/officeDocument/2006/relationships/notesSlide" Target="/ppt/notesSlides/notesSlide16.xml" Id="Rc0ac1b0f4c2d49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b1ca46e1a24654" /><Relationship Type="http://schemas.openxmlformats.org/officeDocument/2006/relationships/notesSlide" Target="/ppt/notesSlides/notesSlide17.xml" Id="R799a18c1d7c344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0f40d623254996" /><Relationship Type="http://schemas.openxmlformats.org/officeDocument/2006/relationships/notesSlide" Target="/ppt/notesSlides/notesSlide18.xml" Id="R25e37f95a0b947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f3b99a7efa457e" /><Relationship Type="http://schemas.openxmlformats.org/officeDocument/2006/relationships/notesSlide" Target="/ppt/notesSlides/notesSlide19.xml" Id="R2afbf6d2ff0d46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36469-BCEC-449D-A4D3-42DE99B5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4CA40-76C3-4475-9CF7-37E1FE1F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783EA-8AF5-4754-B039-DBF6CA0D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0D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e36a0ff774d6f"/>
          <a:stretch xmlns:a="http://schemas.openxmlformats.org/drawingml/2006/main"/>
        </p:blipFill>
        <p:spPr>
          <a:xfrm xmlns:a="http://schemas.openxmlformats.org/drawingml/2006/main">
            <a:off x="685800" y="668164"/>
            <a:ext cx="2209800" cy="12544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CE676-0D1C-4204-895D-BCB0896B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62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Design Project (PVL292)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BA40D-EE5D-446E-8938-3C3B25CD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EE2E2"/>
                </a:solidFill>
              </a:defRPr>
            </a:pPr>
            <a:r>
              <a:rPr sz="1125" b="0">
                <a:solidFill>
                  <a:srgbClr val="FEE2E2"/>
                </a:solidFill>
              </a:rPr>
              <a:t>M.Tech VLSI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83386-60BC-415B-A32D-8951B33E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990600"/>
            <a:ext cx="7000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33"/>
                </a:solidFill>
              </a:defRPr>
            </a:pPr>
            <a:r>
              <a:rPr sz="2550" b="1">
                <a:solidFill>
                  <a:srgbClr val="142033"/>
                </a:solidFill>
              </a:rPr>
              <a:t>ASSERTION-BASED VERIFICATION OF</a:t>
            </a:r>
          </a:p>
          <a:p xmlns:a="http://schemas.openxmlformats.org/drawingml/2006/main">
            <a:pPr algn="l">
              <a:defRPr sz="2550" b="1">
                <a:solidFill>
                  <a:srgbClr val="142033"/>
                </a:solidFill>
              </a:defRPr>
            </a:pPr>
            <a:r>
              <a:rPr sz="2550" b="1">
                <a:solidFill>
                  <a:srgbClr val="142033"/>
                </a:solidFill>
              </a:rPr>
              <a:t>SYNCHRONOUS FIFO USING</a:t>
            </a:r>
          </a:p>
          <a:p xmlns:a="http://schemas.openxmlformats.org/drawingml/2006/main">
            <a:pPr algn="l">
              <a:defRPr sz="2550" b="1">
                <a:solidFill>
                  <a:srgbClr val="142033"/>
                </a:solidFill>
              </a:defRPr>
            </a:pPr>
            <a:r>
              <a:rPr sz="2550" b="1">
                <a:solidFill>
                  <a:srgbClr val="142033"/>
                </a:solidFill>
              </a:rPr>
              <a:t>SYSTEMVERILOG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ECCBE-E672-4B9A-AE4C-9328C69E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421BC-6EED-4984-A717-D3BAD20C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95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675"/>
                </a:solidFill>
              </a:defRPr>
            </a:pPr>
            <a:r>
              <a:rPr sz="1050" b="1">
                <a:solidFill>
                  <a:srgbClr val="5C6675"/>
                </a:solidFill>
              </a:rPr>
              <a:t>Submitted 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A494F-2CDC-47EA-B4E8-396ABD3A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Kapil Tripathi</a:t>
            </a:r>
          </a:p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6025620017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CFCAB-6276-4C82-BD55-7C2B4B7B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956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675"/>
                </a:solidFill>
              </a:defRPr>
            </a:pPr>
            <a:r>
              <a:rPr sz="1050" b="1">
                <a:solidFill>
                  <a:srgbClr val="5C6675"/>
                </a:solidFill>
              </a:rPr>
              <a:t>Under supervision 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8CEC6-E471-4ADA-9B0B-AF5BD798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62350"/>
            <a:ext cx="352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Dr. Arnab Pattanayak</a:t>
            </a:r>
          </a:p>
          <a:p xmlns:a="http://schemas.openxmlformats.org/drawingml/2006/main"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Dr. Lalit Kumar Baghel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084C2-0770-4842-B7BB-4C373294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57800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5"/>
                </a:solidFill>
              </a:defRPr>
            </a:pPr>
            <a:r>
              <a:rPr sz="1350" b="0">
                <a:solidFill>
                  <a:srgbClr val="5C6675"/>
                </a:solidFill>
              </a:rPr>
              <a:t>Electronics and Communication Engineering Department</a:t>
            </a:r>
          </a:p>
          <a:p xmlns:a="http://schemas.openxmlformats.org/drawingml/2006/main">
            <a:pPr algn="l">
              <a:defRPr sz="1350" b="0">
                <a:solidFill>
                  <a:srgbClr val="5C6675"/>
                </a:solidFill>
              </a:defRPr>
            </a:pPr>
            <a:r>
              <a:rPr sz="1350" b="0">
                <a:solidFill>
                  <a:srgbClr val="5C6675"/>
                </a:solidFill>
              </a:rPr>
              <a:t>Thapar Institute of Engineering &amp; Technology, Patiala</a:t>
            </a:r>
          </a:p>
          <a:p xmlns:a="http://schemas.openxmlformats.org/drawingml/2006/main">
            <a:pPr algn="l">
              <a:defRPr sz="1350" b="0">
                <a:solidFill>
                  <a:srgbClr val="5C6675"/>
                </a:solidFill>
              </a:defRPr>
            </a:pPr>
            <a:r>
              <a:rPr sz="1350" b="0">
                <a:solidFill>
                  <a:srgbClr val="5C6675"/>
                </a:solidFill>
              </a:rPr>
              <a:t>May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0A81B-1C99-46AB-B0AC-C13A4FE2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44577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56F"/>
                </a:solidFill>
              </a:defRPr>
            </a:pPr>
            <a:r>
              <a:rPr sz="975" b="1">
                <a:solidFill>
                  <a:srgbClr val="08756F"/>
                </a:solidFill>
              </a:rPr>
              <a:t>SystemVerilog + SVA + Scoreboard + Fault Injection</a:t>
            </a:r>
          </a:p>
        </p:txBody>
      </p:sp>
    </p:spTree>
    <p:extLst>
      <p:ext uri="{BB962C8B-B14F-4D97-AF65-F5344CB8AC3E}">
        <p14:creationId xmlns:p14="http://schemas.microsoft.com/office/powerpoint/2010/main" val="1286373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B9F22-F1D8-4EC6-92E9-553C265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BB21E-B57E-4C8C-B9CE-5B2237C9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412F4-7A10-49AB-9D6B-2A647035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Presentation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EAF31-440A-4AAD-AA0F-3F7C74F2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Project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F1DDC-560B-4E5B-973C-D9005F55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D7831-5464-4E81-BA73-803938C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480F4-E315-479C-9F77-C4C06F54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085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1F1AB-B4BA-4819-9527-74F7779A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1715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32DCB-C77F-4454-808B-BA95A812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430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95ADE-401E-4DCA-BCCB-01B72ED1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BCA6B-E55A-4BCC-85A8-BDDA9619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4B114-9D7F-4810-B7DF-DEB219A1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Problem and 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611A8-1D3A-4140-9287-18F17CFB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295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Why FIFO control must be verified before reuse.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EB819-78B8-46C7-9A55-67FE154D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085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A4D69-F39C-46FB-A9EC-35BD0D8A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1715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C1C37-BFBE-4BAD-B2B3-E858511E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430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19D4F-A028-4A36-AC05-519F94A7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526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3756B-3CB1-4949-A40B-12BA0B77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526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85C20-840E-410C-93D5-C76DA25A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431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DUT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7F4DF-F665-4B5B-8C9E-C181FA08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1295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Synchronous FIFO with separate RAM and controller.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790AB-CDF5-4B87-AB42-FC777703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085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03181-D065-4230-B34B-E36B65FB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1715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ADE55-E8EC-49C4-AE23-53E79836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430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40EA3-9BB0-4344-9D86-66AA3D1A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A63DA-FA32-43CB-B493-581E742E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6A288-FE45-41B0-9F5F-659B893A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431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SV environment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149E22-8688-44E4-BA00-0D73FC50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1295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Generator, driver, monitor, scoreboard, and interface.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8599B7-8562-452A-A112-BC4AE99B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085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72EA40-1390-4DCC-B11D-5A1A9625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1715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68A291-1D33-448C-8275-3C302C2F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430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FB048-42B4-43BB-9067-AE550208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187DD3-3BEF-4270-BAFC-AF83B10F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DF36D-50E7-479C-B54E-4A7EDF7E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431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SVA plan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CC9386-CD11-4B08-BBED-F1A6596E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1295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Assertions bound to internal FIFO control signals.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72220-B5A4-4F52-985F-EDDC8923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085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6D1016-843E-4763-A822-CC079073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1715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1616DC-9D43-4D3C-AB24-400F3D53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430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8F3757-D5F6-4383-BDF8-D0F1AC54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E9CB98-B571-494E-8481-C4892BA2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E970AD-E2BB-4C1D-9DC8-3DA6BF73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Fault results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6AE7C3-6A80-44F1-A9C4-E37515AF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1295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Five injected issues with waveform/log evidence.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3D2AF9-B3AA-4BAE-9C9F-BDFC914E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085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0ECF3C-51C1-4FA8-9E14-004F7BCF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1171575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2F881B-55A9-4D0C-9BF0-CEE2A738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526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9CB567-813C-4811-8AE2-B882C178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526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95D063-322E-45CE-A7CD-F6759143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Conclusion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A21F6E-1A7E-4978-B755-72E5B91D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24100"/>
            <a:ext cx="1295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Findings, limitations, and UVM migration path.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4366F0-5528-4447-8D50-1ED4DCC8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033"/>
                </a:solidFill>
              </a:defRPr>
            </a:pPr>
            <a:r>
              <a:rPr sz="1575" b="0">
                <a:solidFill>
                  <a:srgbClr val="142033"/>
                </a:solidFill>
              </a:rPr>
              <a:t>The deck follows the same logic as the report, but keeps each result focused on what failed, which checker caught it, and what the waveform proves.</a:t>
            </a:r>
          </a:p>
        </p:txBody>
      </p:sp>
    </p:spTree>
    <p:extLst>
      <p:ext uri="{BB962C8B-B14F-4D97-AF65-F5344CB8AC3E}">
        <p14:creationId xmlns:p14="http://schemas.microsoft.com/office/powerpoint/2010/main" val="1260577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8E898-94BE-4ACF-B86A-BFBA3FBC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1860E-D765-40C2-B872-7739E7AC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2FDDC-404F-431E-95FD-370A2412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Why FIFO Verification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62A4E-7E5A-4A06-98CD-99335B0A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5D0D6-D40C-48E2-8CB7-0082CE48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1F39B-4A91-4EC4-92C5-5B43DEF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17D2F-F618-44AB-8C7E-C888AD4A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62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75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A FIFO is simple in concept but sensitive at its boundaries: reset, empty, full, read/write overlap, and pointer wrap.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C46C7-133D-4A0A-BAF0-C4A8E50B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48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9BAED-C46D-4D7D-B969-433DEE4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DD03F-8337-4A2D-8181-61BC7F84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Data ordering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5BF7A-31DE-44F7-8747-CD036199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628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Oldest accepted write must be the first valid read. A pointer bug can silently repeat or skip stored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51074-2F13-4E08-A9F2-CDBC67A8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048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E0E2E-A822-41EA-9F72-8B6975FA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9EFAE-4084-48F2-8001-5D69DBE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Flow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37B20-C297-44A0-A213-9E621E61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628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full and empty are not cosmetic flags. They directly block writes and reads to prevent overflow and underflow.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1EB13-4131-4006-8C30-E202ADDA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3048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F3756-F932-4472-BEFF-7A2FC1F7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43821-CBF0-4C54-892F-FD07147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Reset safety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3ED28-091D-4BE4-93F4-D86F1756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71950"/>
            <a:ext cx="2628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The FIFO must start from a known empty state so later traffic is not contaminated by stale count or pointer values.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86F5C-121F-4744-895E-1700A1B6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0450"/>
            <a:ext cx="3048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93E4F-3B49-4202-9643-A93AAA9F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04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2C5C6-F003-473F-9D29-33704334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Debug observability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5282C-AE4F-4561-A0FC-F8C8A764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2628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Assertions expose internal control mistakes immediately, while the scoreboard checks visible data behavior.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DFB9C-F162-468A-B583-530E7873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609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E644C-1F7F-45DF-B5AE-36D23AAE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Producer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063BE3-333D-4B9A-8C09-30C65972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819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C13752-E411-4045-A631-B1289E39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90725"/>
            <a:ext cx="1066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11430">
            <a:solidFill>
              <a:srgbClr val="0875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EE533-E89D-4C74-9391-EA20122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43125"/>
            <a:ext cx="76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FIFO</a:t>
            </a:r>
          </a:p>
          <a:p xmlns:a="http://schemas.openxmlformats.org/drawingml/2006/main">
            <a:pPr algn="ctr"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08D53-7274-4354-BB06-0E2196B6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819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8B5DF-504F-4B17-B455-1F6C4CE1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90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Consumer</a:t>
            </a:r>
          </a:p>
        </p:txBody>
      </p:sp>
    </p:spTree>
    <p:extLst>
      <p:ext uri="{BB962C8B-B14F-4D97-AF65-F5344CB8AC3E}">
        <p14:creationId xmlns:p14="http://schemas.microsoft.com/office/powerpoint/2010/main" val="172964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FE2B1-DE82-4E21-8460-6A239D23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59CC9-DC07-4ECA-9E36-8FA4E68A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4ECCE-F9E4-4FE5-AA0F-991959C1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Why SystemVerilog Over Verilog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CDCB1-C2FE-4402-BEEC-BAB47FDB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Language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E538F-3753-4831-A8C3-DDA34160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B023D-40DE-4D39-9A12-A1F57B3A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B932C-DC90-4BA9-B5CB-4CB42073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33"/>
                </a:solidFill>
              </a:defRPr>
            </a:pPr>
            <a:r>
              <a:rPr sz="1725" b="1">
                <a:solidFill>
                  <a:srgbClr val="142033"/>
                </a:solidFill>
              </a:rPr>
              <a:t>SystemVerilog keeps Verilog-style RTL, but adds verification features that are directly useful for this FIFO project.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05AA5-D44A-44E5-A784-6B698E63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953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7E899-2BCE-4465-BD6C-3E4949B0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00081-9A25-4384-A1B7-29191F7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5122B"/>
                </a:solidFill>
              </a:defRPr>
            </a:pPr>
            <a:r>
              <a:rPr sz="1800" b="1">
                <a:solidFill>
                  <a:srgbClr val="B5122B"/>
                </a:solidFill>
              </a:rPr>
              <a:t>Verilog HDL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2E6FF-C4A5-43E9-AC8C-DB4BAC96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40957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Strong fit for synthesizable RTL modeling</a:t>
            </a:r>
          </a:p>
          <a:p xmlns:a="http://schemas.openxmlformats.org/drawingml/2006/main"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Modules, nets, registers, always blocks</a:t>
            </a:r>
          </a:p>
          <a:p xmlns:a="http://schemas.openxmlformats.org/drawingml/2006/main"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Basic procedural testbenches are possible</a:t>
            </a:r>
          </a:p>
          <a:p xmlns:a="http://schemas.openxmlformats.org/drawingml/2006/main"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Limited language support for reusable verification</a:t>
            </a:r>
          </a:p>
          <a:p xmlns:a="http://schemas.openxmlformats.org/drawingml/2006/main"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Assertions, classes, coverage, and constrained random are not the core Verilog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8282D-610C-4C59-8248-BEA734DD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56F"/>
                </a:solidFill>
              </a:defRPr>
            </a:pPr>
            <a:r>
              <a:rPr sz="1800" b="1">
                <a:solidFill>
                  <a:srgbClr val="08756F"/>
                </a:solidFill>
              </a:rPr>
              <a:t>SystemVerilog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C2176-9803-4D05-BE3C-ECFAE33F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0957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Unified design, specification, and verification language</a:t>
            </a:r>
          </a:p>
          <a:p xmlns:a="http://schemas.openxmlformats.org/drawingml/2006/main"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Assertions for protocol and temporal properties</a:t>
            </a:r>
          </a:p>
          <a:p xmlns:a="http://schemas.openxmlformats.org/drawingml/2006/main"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Classes, mailboxes, and virtual interfaces for testbench reuse</a:t>
            </a:r>
          </a:p>
          <a:p xmlns:a="http://schemas.openxmlformats.org/drawingml/2006/main"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Constrained random stimulus and functional coverage support</a:t>
            </a:r>
          </a:p>
          <a:p xmlns:a="http://schemas.openxmlformats.org/drawingml/2006/main"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Natural foundation for later UVM migration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B8B7B-81E8-46BC-B618-7BD7FFFD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914650"/>
            <a:ext cx="7048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D9EEA-0D14-488E-AB1D-FCC3AF37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IEEE 1800-2023 describes SystemVerilog support for RTL/gate modeling and testbenches using coverage, assertions, object-oriented programming, and constrained random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184324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26256-3D7B-4C66-9D0E-CF363B3B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18664-690E-4D10-AAA3-1951EAFF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88A9D-D93A-4480-950F-BF052493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OOP Concepts in SystemVerilog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6538D-EB24-40D2-AF6D-D84B5A78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Basic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9C9A2-5D1B-45C1-ADD4-88D6319B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4961A-9734-4365-B978-31AFA59E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92673-B5C1-4CDB-BB2A-44530E25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SystemVerilog supports object-oriented testbench coding. The idea is to model verification activity as reusable objects instead of only toggling raw signals.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3344D-E40D-4A5B-ACA1-0233C765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714CE-FE0F-48A2-9E2D-525DB25D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D07B6-E6D4-4A23-97B9-6232191B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7D75B-F51F-4AE3-ABEE-50D37D59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278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33"/>
                </a:solidFill>
              </a:defRPr>
            </a:pPr>
            <a:r>
              <a:rPr sz="1125" b="0">
                <a:solidFill>
                  <a:srgbClr val="142033"/>
                </a:solidFill>
              </a:rPr>
              <a:t>Blueprint that groups data and tasks/functions.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470FF-319D-4294-82D6-97D89062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class transaction; ... endclass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ACF9A-F0BC-4207-8ADF-314A9E9B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D0B5D-AA76-4374-A365-219259F4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34CB5-081C-4667-B9AC-2BDE6B26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288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Object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6E099-F7E9-46A2-BF05-6EE9DF20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278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33"/>
                </a:solidFill>
              </a:defRPr>
            </a:pPr>
            <a:r>
              <a:rPr sz="1125" b="0">
                <a:solidFill>
                  <a:srgbClr val="142033"/>
                </a:solidFill>
              </a:rPr>
              <a:t>Runtime instance created from a class.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472C4-6BE3-4D60-867E-7ABC3152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5270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transaction tr = new();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4F754-833B-4A4C-A07B-1726269B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9B287-690C-4FD4-9DBE-E2D9795D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FEFCE-FB65-43EA-ABC4-3BEEC0B3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288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805C"/>
                </a:solidFill>
              </a:defRPr>
            </a:pPr>
            <a:r>
              <a:rPr sz="1575" b="1">
                <a:solidFill>
                  <a:srgbClr val="12805C"/>
                </a:solidFill>
              </a:rPr>
              <a:t>Encapsulation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778FA-C716-405A-B687-651533A4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278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33"/>
                </a:solidFill>
              </a:defRPr>
            </a:pPr>
            <a:r>
              <a:rPr sz="1125" b="0">
                <a:solidFill>
                  <a:srgbClr val="142033"/>
                </a:solidFill>
              </a:rPr>
              <a:t>Keep related fields and behavior in one unit.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B2035-71F3-495B-963E-9C2459CE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transaction stores wr_en, rd_en, data, flags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79034-F2C1-4D97-9123-B1BB4698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8068F-61A0-4D56-8587-73370A27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DE6DCB-C70D-47C5-95A9-ADB09E59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Abstraction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B69EE8-B012-45B7-A9AD-E451A7F6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78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33"/>
                </a:solidFill>
              </a:defRPr>
            </a:pPr>
            <a:r>
              <a:rPr sz="1125" b="0">
                <a:solidFill>
                  <a:srgbClr val="142033"/>
                </a:solidFill>
              </a:rPr>
              <a:t>Use a simple method call while hiding internal steps.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EB76F-44BB-4B43-A217-23EDBF20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env.run(); driver.run();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531AE5-CC55-40F1-80A0-5252E4DF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2DE046-A1D8-40DD-B83D-1921142F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C07EFC-53F2-43D5-A162-E64CCAE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242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122B"/>
                </a:solidFill>
              </a:defRPr>
            </a:pPr>
            <a:r>
              <a:rPr sz="1575" b="1">
                <a:solidFill>
                  <a:srgbClr val="B5122B"/>
                </a:solidFill>
              </a:rPr>
              <a:t>Inheritance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8BADF8-D5D9-4358-AEAE-48A86532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48100"/>
            <a:ext cx="278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33"/>
                </a:solidFill>
              </a:defRPr>
            </a:pPr>
            <a:r>
              <a:rPr sz="1125" b="0">
                <a:solidFill>
                  <a:srgbClr val="142033"/>
                </a:solidFill>
              </a:rPr>
              <a:t>Create a child class from a parent class.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3950B-F000-4F56-ABC3-173962AC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481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class child extends parent;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A05FCD-A661-4E4C-BF72-603BCEBD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11AF20-F576-4C5F-920C-7D53053E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677C29-8346-426A-A62C-81A8E398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Polymorphism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8E1399-BCD4-4697-BFC3-A93D6F6C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48100"/>
            <a:ext cx="278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033"/>
                </a:solidFill>
              </a:defRPr>
            </a:pPr>
            <a:r>
              <a:rPr sz="1125" b="0">
                <a:solidFill>
                  <a:srgbClr val="142033"/>
                </a:solidFill>
              </a:rPr>
              <a:t>Base handle can call child-specific behavior.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599039-1817-42AC-8FDF-8D096792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481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virtual function / task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922989-4034-4156-B0CA-AFDEC256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1020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38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For this project, the most visible OOP features are classes, objects, encapsulation, abstraction, mailboxes, randomization, and virtual interfaces.</a:t>
            </a:r>
          </a:p>
        </p:txBody>
      </p:sp>
    </p:spTree>
    <p:extLst>
      <p:ext uri="{BB962C8B-B14F-4D97-AF65-F5344CB8AC3E}">
        <p14:creationId xmlns:p14="http://schemas.microsoft.com/office/powerpoint/2010/main" val="683085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584C6-B7AF-4E08-95FD-FE0FAADD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30969-DAE4-4F85-BEA3-728BB8EF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06EB2-A00F-4C86-9D87-2216DCE3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How OOP Appears in This Testbench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B50B5-FBF4-4B3E-A9C7-D11441F5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Project mapping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2E2CD-42D2-48EC-980B-DFB7B263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2BE89-CA06-4FA9-99C0-86741222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7CD46-6713-48B4-9172-78416E3D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33"/>
                </a:solidFill>
              </a:defRPr>
            </a:pPr>
            <a:r>
              <a:rPr sz="1725" b="1">
                <a:solidFill>
                  <a:srgbClr val="142033"/>
                </a:solidFill>
              </a:rPr>
              <a:t>Your SystemVerilog testbench uses objects to represent FIFO operations and verification components.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EC828-0D9F-4109-9CA1-5B1F2148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905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5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1C140-72F3-48A3-9A04-46E8EA3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56F"/>
                </a:solidFill>
              </a:defRPr>
            </a:pPr>
            <a:r>
              <a:rPr sz="1275" b="1">
                <a:solidFill>
                  <a:srgbClr val="08756F"/>
                </a:solidFill>
              </a:rPr>
              <a:t>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519FC-01AA-4607-9AD1-FD46DA58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Object for one FIFO operation</a:t>
            </a:r>
          </a:p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rand oper, rand wr_data</a:t>
            </a:r>
          </a:p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constraints control stimulus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15696-D88F-495D-9511-3EDDC726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1621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6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F02F9-DB96-4EB6-B93E-F2227400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57350"/>
            <a:ext cx="1905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2476C-347E-4170-B829-02926CCD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1927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generator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FC214-F53D-46CC-853A-6C6697CF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5265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Creates transaction objects</a:t>
            </a:r>
          </a:p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randomizes them</a:t>
            </a:r>
          </a:p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sends using mailbox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CE4A4-F504-4C76-A7CA-AEE2CBE6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621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6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9EE61-09E2-4659-94D1-AD2EDCC9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57350"/>
            <a:ext cx="1905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4F750-7B8E-4060-B82A-446BDEC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1927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driver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494A5-6EB1-4F78-A6B2-1FA37C90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5265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Gets transaction from mailbox</a:t>
            </a:r>
          </a:p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calls write() or read()</a:t>
            </a:r>
          </a:p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drives virtual fifo_if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A945B-2764-42B5-A989-FCFEE2A7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621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6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AF34D-3858-4EAC-A5D8-BDB42554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1905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80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B179B-FD84-456D-A169-DF2A6EE5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1927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805C"/>
                </a:solidFill>
              </a:defRPr>
            </a:pPr>
            <a:r>
              <a:rPr sz="1275" b="1">
                <a:solidFill>
                  <a:srgbClr val="12805C"/>
                </a:solidFill>
              </a:rPr>
              <a:t>monitor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C330D-B914-43B7-BBE1-1653E3B0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Samples DUT interface</a:t>
            </a:r>
          </a:p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creates observed transaction</a:t>
            </a:r>
          </a:p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sends to scoreboard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0626A-8E74-43BB-9DE0-9B5C53CB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1621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6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2E030-653B-40CF-BB73-801F1F6C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57350"/>
            <a:ext cx="1905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512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BE278A-4CD2-466D-8A8A-98B4F73B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1927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5122B"/>
                </a:solidFill>
              </a:defRPr>
            </a:pPr>
            <a:r>
              <a:rPr sz="1275" b="1">
                <a:solidFill>
                  <a:srgbClr val="B5122B"/>
                </a:solidFill>
              </a:rPr>
              <a:t>scoreboard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07A95C-970D-4D94-9D8E-9911B551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5265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Stores expected queue</a:t>
            </a:r>
          </a:p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compares rd_data</a:t>
            </a:r>
          </a:p>
          <a:p xmlns:a="http://schemas.openxmlformats.org/drawingml/2006/main">
            <a:pPr algn="ctr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counts mismatches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E029CF-7E3F-4728-9EDF-077CC5D0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953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BED60-7C1D-4064-ACDF-B16A69E0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environment class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6C88B-AFDB-4858-9DFF-5DCBB599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Creates and connects the component objects:</a:t>
            </a:r>
          </a:p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gen = new(gdmbx);</a:t>
            </a:r>
          </a:p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drv = new(gdmbx);</a:t>
            </a:r>
          </a:p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mon = new(msmbx);</a:t>
            </a:r>
          </a:p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sco = new(msmbx);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4F34C2-1CB1-421B-8382-406861EB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4953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7D52FF-6DD9-4B8C-AEF2-5C243B3F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122B"/>
                </a:solidFill>
              </a:defRPr>
            </a:pPr>
            <a:r>
              <a:rPr sz="1575" b="1">
                <a:solidFill>
                  <a:srgbClr val="B5122B"/>
                </a:solidFill>
              </a:rPr>
              <a:t>Benefit to testing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0999C0-2192-4363-AEB6-F7890117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8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- Cleaner separation of stimulus, driving, monitoring, and checking</a:t>
            </a:r>
          </a:p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- Randomized transactions create many read/write cases</a:t>
            </a:r>
          </a:p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- Mailboxes decouple components and make data flow clear</a:t>
            </a:r>
          </a:p>
          <a:p xmlns:a="http://schemas.openxmlformats.org/drawingml/2006/main">
            <a:pPr algn="l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- Same structure can be migrated naturally toward UVM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76D1DC-3BCE-4959-961D-DB6446C8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43550"/>
            <a:ext cx="981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4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Short viva line: SystemVerilog OOP turns the testbench into reusable verification components instead of a single block of procedural signal toggling.</a:t>
            </a:r>
          </a:p>
        </p:txBody>
      </p:sp>
    </p:spTree>
    <p:extLst>
      <p:ext uri="{BB962C8B-B14F-4D97-AF65-F5344CB8AC3E}">
        <p14:creationId xmlns:p14="http://schemas.microsoft.com/office/powerpoint/2010/main" val="1288436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EEAFD-A399-46AD-9281-F4A0A4F9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D5F30-021D-44FB-93A0-638F2E7F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9E096-BAA2-4328-8943-785E91DF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Synchronous FIFO Basics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813CB-BB7B-40FC-B779-C7BFB9E1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DUT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DCE79-F1F6-43BD-AD98-2870F9D7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495F5-6560-4E4C-939B-0F565BB7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644B9-B5DB-4810-9AEE-F454384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33"/>
                </a:solidFill>
              </a:defRPr>
            </a:pPr>
            <a:r>
              <a:rPr sz="1725" b="1">
                <a:solidFill>
                  <a:srgbClr val="142033"/>
                </a:solidFill>
              </a:rPr>
              <a:t>First-in first-out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7FFBA-1FCA-4A63-A92B-95053E6D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5"/>
                </a:solidFill>
              </a:defRPr>
            </a:pPr>
            <a:r>
              <a:rPr sz="1350" b="0">
                <a:solidFill>
                  <a:srgbClr val="5C6675"/>
                </a:solidFill>
              </a:rPr>
              <a:t>The FIFO accepts writes into the tail and reads from the head. Status flags are generated from occupancy count.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2F7AD-B490-45A6-AC02-83561B38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5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E5045-2469-49EC-80C0-637CC50A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Write side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C47CD-D359-42F4-9214-582CFBE0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182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wr_en</a:t>
            </a:r>
          </a:p>
          <a:p xmlns:a="http://schemas.openxmlformats.org/drawingml/2006/main"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wr_data</a:t>
            </a:r>
          </a:p>
          <a:p xmlns:a="http://schemas.openxmlformats.org/drawingml/2006/main"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wr_ptr advances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01422-88A6-41B4-954B-5EF75C60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47900"/>
            <a:ext cx="933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C4986-AD9B-4230-8E08-B5DF3432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24000"/>
            <a:ext cx="27813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15240">
            <a:solidFill>
              <a:srgbClr val="0875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2F354-3470-4D41-97BD-2794CEDD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56F"/>
                </a:solidFill>
              </a:defRPr>
            </a:pPr>
            <a:r>
              <a:rPr sz="1650" b="1">
                <a:solidFill>
                  <a:srgbClr val="08756F"/>
                </a:solidFill>
              </a:rPr>
              <a:t>FIFO 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22F29-D4EF-4383-88A0-5B3BF0F0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oldest data at front</a:t>
            </a:r>
          </a:p>
          <a:p xmlns:a="http://schemas.openxmlformats.org/drawingml/2006/main"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fifo_count tracks occupancy</a:t>
            </a:r>
          </a:p>
          <a:p xmlns:a="http://schemas.openxmlformats.org/drawingml/2006/main"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full / empty from 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BA18D-EE09-4634-B029-C782E0AB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47900"/>
            <a:ext cx="933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D90E5-B4E9-4FBE-9366-347F7CC7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476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5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4B51D-3F8F-48F5-9BD1-3E88E661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Read side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8B120-CFF3-437D-B90E-9AC3ACF6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182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rd_en</a:t>
            </a:r>
          </a:p>
          <a:p xmlns:a="http://schemas.openxmlformats.org/drawingml/2006/main"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rd_data</a:t>
            </a:r>
          </a:p>
          <a:p xmlns:a="http://schemas.openxmlformats.org/drawingml/2006/main"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rd_ptr advances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DFA9B-E6D9-4B3A-8BE6-CE165848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10050"/>
            <a:ext cx="38290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31148-2275-411B-8CD2-D4672F3D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24350"/>
            <a:ext cx="3486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D5C9"/>
                </a:solidFill>
              </a:defRPr>
            </a:pPr>
            <a:r>
              <a:rPr sz="900" b="1">
                <a:solidFill>
                  <a:srgbClr val="91D5C9"/>
                </a:solidFill>
              </a:rPr>
              <a:t>Key control equations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036FE-B39D-4068-95AA-FBB1EAB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52950"/>
            <a:ext cx="3486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do_write = wr_en &amp;&amp; !full;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do_read  = rd_en &amp;&amp; !empty;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full     = (fifo_count == DEPTH);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empty    = (fifo_count == 0);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6D723-BFE9-4FAD-8675-8C56075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3714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A063B-4FCC-459E-A8F4-03B5EFF4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293FB3-5709-45E6-8B3A-6A8C4FDF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Project parameters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AC5F74-19CF-43EA-AED2-3C9EE564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3295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72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DW = 8 data bits</a:t>
            </a:r>
          </a:p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AW = 4 address bits</a:t>
            </a:r>
          </a:p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DEPTH = 2^AW = 16 entries</a:t>
            </a:r>
          </a:p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fifo_count range = 0..16</a:t>
            </a:r>
          </a:p>
        </p:txBody>
      </p:sp>
    </p:spTree>
    <p:extLst>
      <p:ext uri="{BB962C8B-B14F-4D97-AF65-F5344CB8AC3E}">
        <p14:creationId xmlns:p14="http://schemas.microsoft.com/office/powerpoint/2010/main" val="131826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64B31-00F1-42FF-ACC6-42BA0FD8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E9756-6E2A-430A-8FDE-F09CF9F8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36319-570E-4FEC-980D-EAEEB5F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Design Under Test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4E30A-E3A0-49D2-B39A-0A1F0882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sync_fifo_ram + sync_ram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3FFD3-EE58-48C9-8A33-1CFF5CAF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8687E-324E-4D1F-B44E-0C4A8B3E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F8D68-DCFF-447C-AA05-6DE5E83A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00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The verified DUT separates control from storage: sync_fifo_ram manages pointers/count/flags, while sync_ram stores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26DC1-CA47-45DC-9058-7169F96E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412F8-214A-4283-A670-B80FACF6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B9597-AA92-4B4E-A07F-F7A95647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clk, rst</a:t>
            </a:r>
          </a:p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wr_en, rd_en</a:t>
            </a:r>
          </a:p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wr_data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13042-0E74-4FFF-B763-346FB3BD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57425"/>
            <a:ext cx="742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CACB0-A184-49C4-A352-D8F9D2F8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00200"/>
            <a:ext cx="2667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15240">
            <a:solidFill>
              <a:srgbClr val="0875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37FDE-3A7F-496F-B62C-82F813B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FIFO controller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3ECF5-19A4-49DF-A43B-0E700EED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66950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wr_ptr, rd_ptr</a:t>
            </a:r>
          </a:p>
          <a:p xmlns:a="http://schemas.openxmlformats.org/drawingml/2006/main"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fifo_count</a:t>
            </a:r>
          </a:p>
          <a:p xmlns:a="http://schemas.openxmlformats.org/drawingml/2006/main"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do_write, do_read</a:t>
            </a:r>
          </a:p>
          <a:p xmlns:a="http://schemas.openxmlformats.org/drawingml/2006/main"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full, empty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7DD65-A8D8-4957-8682-5320AF1E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57425"/>
            <a:ext cx="742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376F9-5B10-4D77-8BBD-46E138EC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00200"/>
            <a:ext cx="2667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2CFBF-926A-489F-A68F-EA16C707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Synchronous 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421B6-8A2D-4BD0-A7FE-781AAEAF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1847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waddr, raddr</a:t>
            </a:r>
          </a:p>
          <a:p xmlns:a="http://schemas.openxmlformats.org/drawingml/2006/main"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din, dout</a:t>
            </a:r>
          </a:p>
          <a:p xmlns:a="http://schemas.openxmlformats.org/drawingml/2006/main"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write enable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3E055-9F4E-4856-8338-51FDE92C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57425"/>
            <a:ext cx="647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F68B2-AF5F-417D-B6EC-99EF5A1A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809750"/>
            <a:ext cx="666750" cy="11430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B7C1F-5E4A-427D-A82D-6D0FA143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43100"/>
            <a:ext cx="57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Outputs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rd_data</a:t>
            </a:r>
          </a:p>
          <a:p xmlns:a="http://schemas.openxmlformats.org/drawingml/2006/main">
            <a:pPr algn="ctr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full</a:t>
            </a:r>
          </a:p>
          <a:p xmlns:a="http://schemas.openxmlformats.org/drawingml/2006/main">
            <a:pPr algn="ctr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empty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76219-C4A4-4ACD-A971-722E274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3524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512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2B325-F6A6-4891-8F66-55891B49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005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5122B"/>
                </a:solidFill>
              </a:defRPr>
            </a:pPr>
            <a:r>
              <a:rPr sz="1500" b="1">
                <a:solidFill>
                  <a:srgbClr val="B5122B"/>
                </a:solidFill>
              </a:rPr>
              <a:t>Bound SVA checker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E6303-8619-4D0D-93EE-7A2592A0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95825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73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observes internal pointers, count, and accepted operations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A97E6-493B-462B-BE34-608C0ADE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285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0D7442-EB15-437F-A5F7-78A4B6AC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524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0BE74-33A8-43AF-8E45-5DEE7DA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005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Scoreboard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FB9343-9C88-4C56-BF74-79CECFE4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958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keeps expected FIFO order using a 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130F0-488C-4BBE-80B6-5B5048D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62300"/>
            <a:ext cx="285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32426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0149B-984A-4E93-AAB1-C14BFB95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16F44-7C8C-4F42-A4A9-FD277723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40B86-5CDA-476F-944A-EBA38F8C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SystemVerilog Verification Environment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373C3-86AE-41F4-8FA7-947C71E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Class-based testbench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6555A-E16D-4BA4-B18C-34601F0B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1E44D-F434-4D64-BAC3-91159D51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B9525-A114-4D7C-A0E7-CFB599CA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00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64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The environment separates stimulus generation, bus driving, monitoring, and result checking. This makes each failure easier to localize.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B2293-5CEB-4555-8E05-74457981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657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75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8F1A6-7DFA-4390-82F5-F46AA597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Generator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A9D3D-7ACD-44F1-AB72-09307111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random</a:t>
            </a:r>
          </a:p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48E91-0708-4C2B-A99A-F13EFA67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B2CC3-4BBE-4B48-B187-E2D78DB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09750"/>
            <a:ext cx="1657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875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F35D4-FC0C-4CB9-AFF0-29DDB915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Driver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3D7E8-0464-4217-B218-3583C789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drives</a:t>
            </a:r>
          </a:p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fifo_if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D8495-42EB-4C3C-85F2-D90CD1A2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53270-37EF-46DF-8253-B84AB6F4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09750"/>
            <a:ext cx="1657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B9CCF-02C9-483D-9BAA-786490BC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CCBC8-CB98-41E6-80F6-791922C2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clk/rst</a:t>
            </a:r>
          </a:p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2AE48-A3B4-4D12-A5C8-051FD5EC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36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B8370-D784-4BF3-8004-620DA67C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1657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DE8FE-00DB-4E79-86B1-DF0B3226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8D4A0-6645-47BB-BD9D-74CD2CB1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sync_fifo_ram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447AE-E83D-4494-91C3-38D035CA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336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6BE0D-DC62-4A76-983C-7E06A9CE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6573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512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F5855-0074-40AF-B600-BF977CD9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0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122B"/>
                </a:solidFill>
              </a:defRPr>
            </a:pPr>
            <a:r>
              <a:rPr sz="1350" b="1">
                <a:solidFill>
                  <a:srgbClr val="B5122B"/>
                </a:solidFill>
              </a:rPr>
              <a:t>SVA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5F465-2705-4369-B561-AB28AF1F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bind checker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72196F-5FE7-48BE-86C2-A555D2A0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43375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B3C39E-A38F-4D21-A4FF-6C809263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529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Monitor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FF0AA4-B306-4F7F-9711-A9BDAA49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67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samples bus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C2AE65-7D87-4CC3-9368-CA1545E4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0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33B0A5-7E5C-42EC-AAE6-9A4C03FC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529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805C"/>
                </a:solidFill>
              </a:defRPr>
            </a:pPr>
            <a:r>
              <a:rPr sz="1350" b="1">
                <a:solidFill>
                  <a:srgbClr val="12805C"/>
                </a:solidFill>
              </a:rPr>
              <a:t>Scoreboard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8672AF-A228-441E-84EE-E866D75D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291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compares expected</a:t>
            </a:r>
          </a:p>
          <a:p xmlns:a="http://schemas.openxmlformats.org/drawingml/2006/main"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vs actual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7EDA21-C618-45AF-B7CE-CDF09079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733675"/>
            <a:ext cx="285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A225F2-2038-4F72-AC0E-E12931B2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38525"/>
            <a:ext cx="2667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4A7B08-940D-40E0-AB1E-912CE99A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57700"/>
            <a:ext cx="2171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6B4A01-BE8F-4A34-9840-520234F3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6CE5AE-2C72-4D4E-8378-2381137C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0DF1E4-711B-4A07-BD32-D60899F9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986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SystemVerilog features used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629D8F-0F0F-42FE-A8A9-C7E39599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0750"/>
            <a:ext cx="9867900" cy="-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class-based transaction, randomized generator, mailbox communication, virtual interface, bind-based assertions</a:t>
            </a:r>
          </a:p>
        </p:txBody>
      </p:sp>
    </p:spTree>
    <p:extLst>
      <p:ext uri="{BB962C8B-B14F-4D97-AF65-F5344CB8AC3E}">
        <p14:creationId xmlns:p14="http://schemas.microsoft.com/office/powerpoint/2010/main" val="1841325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D3D79-8B22-4304-B64F-CEE04BAE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F01BE-946B-4D65-AC73-F671BC24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1029A-0B50-4713-847A-A2E83F0A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Assertion-Based Verification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5A8B5-D31A-4355-B811-787C369F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SVA checker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68FCA-7795-4AD1-9AEA-63F9149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03177-65E6-4C84-BD5A-0D23369A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97850-596D-4A09-BA5E-0BFB6AD5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Assertions observe internal controller state and state exactly what must be true after each accepted operation.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831F4-C19F-45B7-B50B-8D1953BF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512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D0983-2A49-42DF-9451-72CCF35F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122B"/>
                </a:solidFill>
              </a:defRPr>
            </a:pPr>
            <a:r>
              <a:rPr sz="1050" b="1">
                <a:solidFill>
                  <a:srgbClr val="B5122B"/>
                </a:solidFill>
              </a:rPr>
              <a:t>RST_STATE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F6CC8-6A39-4299-B2D2-CDC97164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906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After reset: empty high, full low, pointers zero, count zero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32E8D-8F23-4337-90BE-73C114ED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75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EE1F3-2801-4105-AF58-C72655BA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FULL_FLAG / EMPTY_FLAG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497CD-C3C4-4FDA-9DF3-9B755020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0502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Flags must match fifo_count == DEPTH and fifo_count ==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79B6F-891C-4846-A6EB-87E22C3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9FF53-2980-4690-8B7E-E1AE40A5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COUNT_RANGE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B03A8-CB04-4D99-856B-52645A27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fifo_count must stay within 0..DEPTH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E50B3-254C-45DD-AA50-5DDE42BE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F088B-5141-4F36-8376-6185EE6A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WRITE_ONLY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6A7A1-EE5E-40B2-9AA8-C1B6C279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write pointer increments, read pointer stable, count increments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71A2A-C69E-464A-A0E2-053E1854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58CF3-514C-47B1-AEAD-811FCA9B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READ_ONLY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FEB0B-3F17-473A-89BF-A30C741E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480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read pointer increments, write pointer stable, count decrements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E6080-00AF-45DC-AD60-9383BAF4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80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152166-0A29-47A3-AF49-ED67DDC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805C"/>
                </a:solidFill>
              </a:defRPr>
            </a:pPr>
            <a:r>
              <a:rPr sz="1050" b="1">
                <a:solidFill>
                  <a:srgbClr val="12805C"/>
                </a:solidFill>
              </a:rPr>
              <a:t>READ_WRITE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73FD47-E24E-408D-96D6-074B848A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6242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both pointers move while count remains stable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F6AEA6-73A3-4668-BCDA-144B85F7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2286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512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91194-8A3B-4152-9126-387C741E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122B"/>
                </a:solidFill>
              </a:defRPr>
            </a:pPr>
            <a:r>
              <a:rPr sz="1050" b="1">
                <a:solidFill>
                  <a:srgbClr val="B5122B"/>
                </a:solidFill>
              </a:rPr>
              <a:t>READ_EMPTY / WRITE_FULL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A3CBC-8771-4D18-87B9-B9DF38F8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767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invalid requests must be blocked at boundaries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0E400-181A-4131-A04F-204ACE81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05375"/>
            <a:ext cx="3905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A38BC-3949-47F6-BC36-AFA61986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19675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D5C9"/>
                </a:solidFill>
              </a:defRPr>
            </a:pPr>
            <a:r>
              <a:rPr sz="900" b="1">
                <a:solidFill>
                  <a:srgbClr val="91D5C9"/>
                </a:solidFill>
              </a:rPr>
              <a:t>Example property intent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555A50-4492-4286-95C1-BAB8FFB0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48275"/>
            <a:ext cx="3562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86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READ_ONLY: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(!do_write &amp;&amp; do_read) |=&gt;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wr_ptr == $past(wr_ptr) &amp;&amp;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rd_ptr == $past(rd_ptr) + 1'b1 &amp;&amp;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fifo_count == $past(fifo_count) - 1'b1;</a:t>
            </a:r>
          </a:p>
        </p:txBody>
      </p:sp>
    </p:spTree>
    <p:extLst>
      <p:ext uri="{BB962C8B-B14F-4D97-AF65-F5344CB8AC3E}">
        <p14:creationId xmlns:p14="http://schemas.microsoft.com/office/powerpoint/2010/main" val="20117086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9DF90-F3B8-4CB4-93AF-7DB51DA4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F9081-1B51-4F1E-869E-F89AE60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6950C-CDEF-45D3-B73B-CC0F6F98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Fault Injection Methodology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7F7C3-5B13-4756-AF9B-5C9DD9BA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Negative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A2473-2808-4713-9ED3-D5B8DC16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48228-5F24-4824-B81F-C3FA74FC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3D6B1-6C40-4172-B4C5-DCA15286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Five faulty RTL copies were tested one at a time. The clean testbench and assertion module stayed unchanged.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2868B-021C-4433-8658-0493A961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D258C-093D-4A89-9E17-B942B37D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450E8-BDAE-44DC-9A09-5D9BB80D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914F4-D9ED-435B-B16C-54ABA2D0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7A8DE-041B-4598-AD24-EB70A772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Start clean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3777D-A3E7-4ABD-B3E3-12A31350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1771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Run clean design and confirm zero 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07F00-A6ED-4D53-85E3-FC254430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52725"/>
            <a:ext cx="476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6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DFBEB-4550-456C-A442-2B2C03B6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29279-9535-4E73-900E-8A9ECD03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93BE3-7A8B-4B20-80E5-546490C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D0AF8-EA01-4D79-B548-AF6A902C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8D362-FA28-44A0-B6AB-27F8A86E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46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Insert one fault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48C2B-EA86-4D49-9198-13ECB344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1771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Copy one buggy design into EDA Playground design.sv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FB6AF-5C31-4095-9B4D-8507F3D0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52725"/>
            <a:ext cx="476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6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86F133-0F8B-4445-822A-BD38BC60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6B1E3-851F-492E-AB5F-96450436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EB40B-9F1C-45FD-9CCC-7C6EEB55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DA980-A57B-4286-85C9-31688043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1B93D-C894-4791-B3CC-68CCA176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146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Run simulation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2A73CC-1DE5-459B-8BDD-3DF73C6B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1771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Keep testbench.sv and assert_fifo_ram.sv fixed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35BDF-D3FA-4B68-8242-3203D4B7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52725"/>
            <a:ext cx="476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C66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A7C42F-80A3-437B-8432-618B11EB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C66C4A-F0E1-4F50-B6D9-8FD33147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14D86-3351-4818-814F-7F53C67A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AD7C38-C1A6-4874-B78F-D4318C55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12E589-0ED7-4920-BE99-76F52286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Capture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65A102-99A8-4EF8-8902-9BAC20A3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95600"/>
            <a:ext cx="1771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Save transcript failures and EPWave waveform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254D28-B581-42DF-BE09-85F1D440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1744DD-98E8-431A-87C4-87BC6017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9102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122B"/>
                </a:solidFill>
              </a:defRPr>
            </a:pPr>
            <a:r>
              <a:rPr sz="975" b="1">
                <a:solidFill>
                  <a:srgbClr val="B5122B"/>
                </a:solidFill>
              </a:rPr>
              <a:t>Issue 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069AF0-4AEC-4FB1-9FC4-5279FB6A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Reset count not cleared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6EAA2A-BC5D-41A0-9E58-DD2D363F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BADFD7-9216-42F0-82CE-E243B911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9102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122B"/>
                </a:solidFill>
              </a:defRPr>
            </a:pPr>
            <a:r>
              <a:rPr sz="975" b="1">
                <a:solidFill>
                  <a:srgbClr val="B5122B"/>
                </a:solidFill>
              </a:rPr>
              <a:t>Issue 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ED2031-DAC5-43FB-B21D-66D0C144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910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Read accepted while empty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0D97F5-F3FA-48E7-B423-D39B85E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A1E363-4EC7-4304-9E63-554E45C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9102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122B"/>
                </a:solidFill>
              </a:defRPr>
            </a:pPr>
            <a:r>
              <a:rPr sz="975" b="1">
                <a:solidFill>
                  <a:srgbClr val="B5122B"/>
                </a:solidFill>
              </a:rPr>
              <a:t>Issue 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13572A-0062-488C-A536-23488B2C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910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Full flag asserted too early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A46B57-1757-430D-8D30-5D9B2A03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15395C-E41D-464B-896F-8E5452D5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7682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122B"/>
                </a:solidFill>
              </a:defRPr>
            </a:pPr>
            <a:r>
              <a:rPr sz="975" b="1">
                <a:solidFill>
                  <a:srgbClr val="B5122B"/>
                </a:solidFill>
              </a:rPr>
              <a:t>Issue 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8BD851-88DE-41CC-893E-8E8A5641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768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738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Empty flag asserted one count early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858D35-3931-4DA2-B64C-4DF4CFD4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5300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67E569-6172-482B-9DA6-9E52E2AB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7682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Issue 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9E34B4-325C-4F37-9DC4-BA6C6F57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7682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Read pointer does not advance</a:t>
            </a:r>
          </a:p>
        </p:txBody>
      </p:sp>
    </p:spTree>
    <p:extLst>
      <p:ext uri="{BB962C8B-B14F-4D97-AF65-F5344CB8AC3E}">
        <p14:creationId xmlns:p14="http://schemas.microsoft.com/office/powerpoint/2010/main" val="4800025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C9E5C-871B-47FB-BD75-A6F015DC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1F900-F833-4F6F-B901-98267EF0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3F824-5A36-4ED8-8137-426041E0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Baseline Expected Behaviour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46D1B-9E5C-4394-A0D1-B7A1541D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Clean RTL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931E6-733C-468C-9B15-8CF55576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0139C-7295-4647-A661-8DE215C3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C27F6-0B7B-4D0E-9AAE-A34355BB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Before negative testing, the clean FIFO must satisfy normal state transitions and boundary blocking rules.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DCAC0-5CC0-4F76-A4BE-A6E19F9F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9AF11-3D9F-48E2-A8DB-3F5AFD0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805C"/>
                </a:solidFill>
              </a:defRPr>
            </a:pPr>
            <a:r>
              <a:rPr sz="1875" b="1">
                <a:solidFill>
                  <a:srgbClr val="12805C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2D2DE-4A51-4C73-AB5E-3F28CE85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expected scoreboard errors for clean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203C3-4164-4DC7-9851-39841AE1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8E5E1-C5BF-43F2-A176-42F43CAC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478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9BC01-ABAC-4737-B3BD-BA99159D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02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FIFO depth when AW =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277F2-8AF2-415F-A2C8-474BCF1A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3F650-10BA-42DB-806B-A73280FD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5122B"/>
                </a:solidFill>
              </a:defRPr>
            </a:pPr>
            <a:r>
              <a:rPr sz="1875" b="1">
                <a:solidFill>
                  <a:srgbClr val="B5122B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9B0B-5895-457B-81A1-D9484A4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intentional faulty RTL versions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74965-5036-4753-8B4C-CA9CA783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240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9438D-8007-4591-B0DC-1C97370A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478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56F"/>
                </a:solidFill>
              </a:defRPr>
            </a:pPr>
            <a:r>
              <a:rPr sz="1875" b="1">
                <a:solidFill>
                  <a:srgbClr val="08756F"/>
                </a:solidFill>
              </a:rPr>
              <a:t>SVA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327BC-1DAC-4373-8BF3-1FB72B6F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structural/protocol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EF9FC-693E-4B55-B869-15078220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0375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875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B2B4A-1283-4BDC-A611-E7F35E47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56F"/>
                </a:solidFill>
              </a:defRPr>
            </a:pPr>
            <a:r>
              <a:rPr sz="1125" b="1">
                <a:solidFill>
                  <a:srgbClr val="08756F"/>
                </a:solidFill>
              </a:rPr>
              <a:t>Reset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80F83-8E69-4A66-87A9-D7BF4C11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wr_ptr = 0, rd_ptr = 0, fifo_count = 0, empty =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1B887-2852-4B3E-B6C7-729F76B7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875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3A23AE-C541-43A1-A5BD-E8F63279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52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56F"/>
                </a:solidFill>
              </a:defRPr>
            </a:pPr>
            <a:r>
              <a:rPr sz="1125" b="1">
                <a:solidFill>
                  <a:srgbClr val="08756F"/>
                </a:solidFill>
              </a:rPr>
              <a:t>Write-only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6B825-2550-458F-B512-CC53DFF8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wr_ptr increments and fifo_count increases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B73ABD-A426-4316-85AA-A86C316D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52875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875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0A20A4-C96F-4D1C-BCE4-1E95D52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29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56F"/>
                </a:solidFill>
              </a:defRPr>
            </a:pPr>
            <a:r>
              <a:rPr sz="1125" b="1">
                <a:solidFill>
                  <a:srgbClr val="08756F"/>
                </a:solidFill>
              </a:rPr>
              <a:t>Read-only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9A0E31-B3CA-4463-AD7B-EF55D8F4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5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rd_ptr increments and fifo_count decreases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26BD67-946E-49E7-AB7A-1E102007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29125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8756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8BE3C3-8A64-4B52-A8B2-5FA8B744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05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56F"/>
                </a:solidFill>
              </a:defRPr>
            </a:pPr>
            <a:r>
              <a:rPr sz="1125" b="1">
                <a:solidFill>
                  <a:srgbClr val="08756F"/>
                </a:solidFill>
              </a:rPr>
              <a:t>Simultaneous read/write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603E13-258D-4028-9F52-6469BCB5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958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both pointers move and fifo_count stays stable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80D651-AA0C-4F1D-9763-017DA063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05375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8756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5BB04-7736-4BFF-AA0C-BBCB730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815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56F"/>
                </a:solidFill>
              </a:defRPr>
            </a:pPr>
            <a:r>
              <a:rPr sz="1125" b="1">
                <a:solidFill>
                  <a:srgbClr val="08756F"/>
                </a:solidFill>
              </a:rPr>
              <a:t>Boundary rules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A5CDD0-66FE-4C06-8345-690C80BD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read blocked when empty; write blocked when full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651BFB-B66F-41E3-AE72-B2E19B55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8630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25D860-C94A-4C88-BC3E-58AC492C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0060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D5C9"/>
                </a:solidFill>
              </a:defRPr>
            </a:pPr>
            <a:r>
              <a:rPr sz="900" b="1">
                <a:solidFill>
                  <a:srgbClr val="91D5C9"/>
                </a:solidFill>
              </a:rPr>
              <a:t>Pointer update example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9A4834-D1FF-4413-9403-DB9394D4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299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1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Correct RTL target: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rd_ptr &lt;= rd_ptr + 1'b1;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Issue 5 bug changes this to: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rd_ptr &lt;= rd_ptr;</a:t>
            </a:r>
          </a:p>
        </p:txBody>
      </p:sp>
    </p:spTree>
    <p:extLst>
      <p:ext uri="{BB962C8B-B14F-4D97-AF65-F5344CB8AC3E}">
        <p14:creationId xmlns:p14="http://schemas.microsoft.com/office/powerpoint/2010/main" val="9745079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FE201-549C-42DC-87BE-B0F87172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E25B6-C94A-4399-BF12-7CA527EA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B4EC9-7EB3-47C7-BAF5-AC874CEF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Fault Results: Issues 1 and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DBEDA-B0DB-4E2F-A8CF-57F5AEA2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Reset and underflow protection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0257C-18A9-48F4-888E-520EE94A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25E9A-052B-4EC9-A382-EBF609BD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F972B-7569-430A-9A40-9EE0F53F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21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0CF2E-FD6A-4551-AF35-636B23A2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50664-1CB4-4F7A-A885-714FAFF2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Issue 1: reset count not cleared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21B50-C676-49E1-916E-D93025D5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7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Caught by: RST_STATE</a:t>
            </a:r>
          </a:p>
          <a:p xmlns:a="http://schemas.openxmlformats.org/drawingml/2006/main">
            <a:pPr algn="l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Effect: empty flag wrong after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4FDBD-626D-43A8-8B4B-2E1C0376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143000"/>
            <a:ext cx="2857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DEB19-171E-45D5-A329-F28381E8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31445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Bug:     fifo_count &lt;= 1;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Correct: fifo_count &lt;= 0;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8815C-AAD2-4AC0-9626-9CEAD3E3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876300"/>
            <a:ext cx="5219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BD42D-88B1-4B4C-8528-66F80CAD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8763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CAA73-3418-4E62-A567-63FF0B27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668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Issue 2: read while empty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779A7-F830-4597-8055-EE7E0884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287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22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Caught by: READ_EMPTY</a:t>
            </a:r>
          </a:p>
          <a:p xmlns:a="http://schemas.openxmlformats.org/drawingml/2006/main">
            <a:pPr algn="l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Effect: counter underflow / invalid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20A50-3418-4297-9AA0-9D3E815D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143000"/>
            <a:ext cx="2857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6271E-553F-40D8-B85F-459D5998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1445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0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Bug:     assign do_read = rd_en;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Correct: assign do_read = rd_en &amp;&amp; !empty;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DCCF1-EA3D-47E2-B94F-9166CD57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197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1BDC7-CE69-4AE5-B6D9-01D322C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B63B8-0B6B-4EFC-B435-35E3551F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083D8-428D-40F9-8608-2630CD0A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Issue 1 waveform: fifo_count starts at 1 during reset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7f925563f4655"/>
          <a:stretch xmlns:a="http://schemas.openxmlformats.org/drawingml/2006/main"/>
        </p:blipFill>
        <p:spPr>
          <a:xfrm xmlns:a="http://schemas.openxmlformats.org/drawingml/2006/main">
            <a:off x="1250542" y="2705100"/>
            <a:ext cx="3937816" cy="10858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A9B9FF-0065-4A78-910E-57B1412A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219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DAC1A-ACBE-44F2-9F94-CFA40B55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2C7A2-C01F-4BC7-868A-359A58C0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71CC7-06BF-4C44-A3B1-5E616B8F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Issue 1 log: reset assertion failures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251c017cc4293"/>
          <a:stretch xmlns:a="http://schemas.openxmlformats.org/drawingml/2006/main"/>
        </p:blipFill>
        <p:spPr>
          <a:xfrm xmlns:a="http://schemas.openxmlformats.org/drawingml/2006/main">
            <a:off x="2232132" y="4514850"/>
            <a:ext cx="1974636" cy="14859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A8DC1C-955C-4A0A-BDD3-4D6FB031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52197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A2F785-90A2-43C8-B9B9-9CF7D9D7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6CE5BF-AF94-46E3-A40D-AEE34004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0325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4AAD39-EF46-4F42-9DAE-BE2B913B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526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Issue 2 waveform: do_read accepted while empty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4bd3470294135"/>
          <a:stretch xmlns:a="http://schemas.openxmlformats.org/drawingml/2006/main"/>
        </p:blipFill>
        <p:spPr>
          <a:xfrm xmlns:a="http://schemas.openxmlformats.org/drawingml/2006/main">
            <a:off x="7403437" y="2705100"/>
            <a:ext cx="3138226" cy="10858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367D46-C7CF-4CAA-9D20-D95D391F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219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62C99-648E-4AD1-977A-49188582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ACC0FB-0D3D-4024-8E3F-A09B5A6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0720CE-E98F-4C90-A030-98D7240D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6242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Issue 2 log: READ_EMPTY, unknown data, count range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3c60b614b416a"/>
          <a:stretch xmlns:a="http://schemas.openxmlformats.org/drawingml/2006/main"/>
        </p:blipFill>
        <p:spPr>
          <a:xfrm xmlns:a="http://schemas.openxmlformats.org/drawingml/2006/main">
            <a:off x="7478333" y="4514850"/>
            <a:ext cx="2988433" cy="1485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11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DB5AF-1666-4D5E-848B-2C8183D9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64574-61D8-4FED-93D0-B84C1EE1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8DDAF-9475-43D3-A0CF-83A760C3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Fault Result: Issue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4DFFC-61D3-43C7-8E37-91CD2BFB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Full flag asserted too 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E2CD3-AD6F-4D75-92EA-68F74911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EC117-F75D-4EAD-AB61-B6A7D52F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BFFB2-A1B6-4C24-A901-3BED7C0B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C6E4E-5690-44B1-9216-9A038D4D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D5C9"/>
                </a:solidFill>
              </a:defRPr>
            </a:pPr>
            <a:r>
              <a:rPr sz="900" b="1">
                <a:solidFill>
                  <a:srgbClr val="91D5C9"/>
                </a:solidFill>
              </a:rPr>
              <a:t>Bug inserted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F0D82-8958-4D97-A0CA-673AD03D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2876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7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Bug: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assign full = (fifo_count == 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Correct: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assign full = (fifo_count == DEPTH);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E3BF6-A696-4EE7-B6CF-9C249C00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32194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85754-C24C-4841-84EB-601347BC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D548F-26DB-4B30-8E26-931681EE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Observed failure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FD8E7-8CE4-4852-8B61-2483602E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0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At fifo_count = 1, the DUT reports full even though 15 locations remain available.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9B8AB-2C92-492C-B62C-58D7C9E1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32194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4CE65-3A3C-44F0-B085-0F66C477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4F800-E9F4-4F08-AA09-646A7680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Checker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AE3ED-8381-47D0-873C-EF4413E1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0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FULL_FLAG assertion compares the flag against fifo_count == DEPTH and fails repeatedly.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14CCE-359A-4AFF-9334-3F0533A6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52500"/>
            <a:ext cx="70104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9B16B-B8D4-46D0-A92D-91E1448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5250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A663A-9FA7-4C04-A3C3-76861E4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66825"/>
            <a:ext cx="701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A284B-EE96-42EC-8055-12AC88CB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019175"/>
            <a:ext cx="674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Waveform: full asserted when fifo_count is one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35120df0343ee"/>
          <a:stretch xmlns:a="http://schemas.openxmlformats.org/drawingml/2006/main"/>
        </p:blipFill>
        <p:spPr>
          <a:xfrm xmlns:a="http://schemas.openxmlformats.org/drawingml/2006/main">
            <a:off x="5280756" y="1371600"/>
            <a:ext cx="5211889" cy="17335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B3D1E-F3D3-4B81-85FB-4F81E140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70104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3366BB-6D3C-4DEF-864B-D42B9C04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F42A2-8FD0-4D26-98C6-EC528836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81425"/>
            <a:ext cx="701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01E8A-980A-4813-9390-D8960D7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33775"/>
            <a:ext cx="674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Simulation log: repeated FULL_FLAG assertion failures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65d8868ff413d"/>
          <a:stretch xmlns:a="http://schemas.openxmlformats.org/drawingml/2006/main"/>
        </p:blipFill>
        <p:spPr>
          <a:xfrm xmlns:a="http://schemas.openxmlformats.org/drawingml/2006/main">
            <a:off x="6344326" y="3886200"/>
            <a:ext cx="3084748" cy="18097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F1B41-6882-485A-8752-187ECDC6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934075"/>
            <a:ext cx="695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Interpretation: this bug does not necessarily corrupt data immediately, but it destroys usable FIFO capacity and blocks valid writes too early.</a:t>
            </a:r>
          </a:p>
        </p:txBody>
      </p:sp>
    </p:spTree>
    <p:extLst>
      <p:ext uri="{BB962C8B-B14F-4D97-AF65-F5344CB8AC3E}">
        <p14:creationId xmlns:p14="http://schemas.microsoft.com/office/powerpoint/2010/main" val="12890267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E13E9-2591-4535-9CEE-75C71EEC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31C8C-9C53-46AF-A94E-F5405F4B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96907-A91D-4430-9707-633405F7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Fault Result: Issue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EEE58-0657-44EC-9DFE-AA312694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Empty flag asserted one count 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B2936-3047-461A-9C38-4488A0BD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BEB21-AAC1-4ABA-BF6F-E2B8CE9B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22E34-4D3C-49B2-8AC9-A38E7B1D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3219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9BF81-7FA6-4039-B572-7A85ACF9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D5C9"/>
                </a:solidFill>
              </a:defRPr>
            </a:pPr>
            <a:r>
              <a:rPr sz="900" b="1">
                <a:solidFill>
                  <a:srgbClr val="91D5C9"/>
                </a:solidFill>
              </a:rPr>
              <a:t>Bug inserted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187DA-7DDD-420E-B7B1-0CCE83CC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2876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7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Bug: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assign empty = (fifo_count == 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Correct: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assign empty = (fifo_count == 0);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F79DF-B35E-44E3-B8A5-5D6BEE10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32194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6145E-7E47-452E-AEF5-6DE139C6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B1DAB-B577-4DFD-B977-E8D450CC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Observed failure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AC3E5-C28D-4878-AB02-F27081DD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0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The DUT reports empty while one valid FIFO entry still remains.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07E7F-1303-4023-AB70-55A7D79D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32194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9CCF9-1DFA-41D6-98F3-BCE66E13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42BD7-231F-486B-B344-F8D48F91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Checker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8A5F9-8522-490A-93D0-1F57001C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0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EMPTY_FLAG assertion fails because empty no longer represents the true count-zero condition.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E3216-4F2E-4B2A-B1B0-7FB10B97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52500"/>
            <a:ext cx="70104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EC5B9-E561-4FA1-AE8D-A617E30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5250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8635A-664B-4D8F-B468-76586034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66825"/>
            <a:ext cx="701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C3FE7-FDB1-4145-B99A-3AB8A1A2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019175"/>
            <a:ext cx="674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Waveform: empty high while fifo_count equals one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29248f961435b"/>
          <a:stretch xmlns:a="http://schemas.openxmlformats.org/drawingml/2006/main"/>
        </p:blipFill>
        <p:spPr>
          <a:xfrm xmlns:a="http://schemas.openxmlformats.org/drawingml/2006/main">
            <a:off x="5333755" y="1371600"/>
            <a:ext cx="5105890" cy="17335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48088-000E-44E5-AF47-FD82E525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70104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E4C03F-641E-4E4F-934E-BA6E6DD9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701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7A55B2-1F6B-4240-81BC-79127E5C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81425"/>
            <a:ext cx="701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C285E-3C2A-4C53-8F5D-D6673063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33775"/>
            <a:ext cx="6743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Simulation log: EMPTY_FLAG assertion failures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b07503c334eae"/>
          <a:stretch xmlns:a="http://schemas.openxmlformats.org/drawingml/2006/main"/>
        </p:blipFill>
        <p:spPr>
          <a:xfrm xmlns:a="http://schemas.openxmlformats.org/drawingml/2006/main">
            <a:off x="6617051" y="3886200"/>
            <a:ext cx="2539298" cy="18097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BD9B5-D8AF-486C-BE92-A2EA9B77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934075"/>
            <a:ext cx="695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Interpretation: status flag correctness is part of functional correctness because empty directly controls whether reads are accepted.</a:t>
            </a:r>
          </a:p>
        </p:txBody>
      </p:sp>
    </p:spTree>
    <p:extLst>
      <p:ext uri="{BB962C8B-B14F-4D97-AF65-F5344CB8AC3E}">
        <p14:creationId xmlns:p14="http://schemas.microsoft.com/office/powerpoint/2010/main" val="17297088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44DA4-C326-4F6C-BBF0-D03766FA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68228-4BC3-49E9-9E54-23CD81CF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1223F-03AF-4B8C-8E20-0F29D7D3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Fault Result: Issue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ACF5D-D036-43E3-838A-8F8060E1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Read pointer does not advance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C5E66-03B0-4396-A1FD-7C618F2C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4156A-83A9-4E7E-B146-8043A96D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A65C6-FEC0-42F0-84D6-014919E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3390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62D71-2E4C-4371-9E92-A2872891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32DEF-0A74-4A56-8EAC-D769EA78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Real affected RTL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CA71D-B26B-4DB6-98D8-68DE664A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8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rtl/sync_fifo_ram.sv</a:t>
            </a:r>
          </a:p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The selected write-side code is correct; the fault is in the read pointer update.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FA6D6-C3C8-4E77-95AD-C41E5742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3909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ECD3B-5AB8-455A-AE12-8404A755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D5C9"/>
                </a:solidFill>
              </a:defRPr>
            </a:pPr>
            <a:r>
              <a:rPr sz="900" b="1">
                <a:solidFill>
                  <a:srgbClr val="91D5C9"/>
                </a:solidFill>
              </a:rPr>
              <a:t>Issue 5 code focus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97B4B-1520-4532-BFD1-F266361D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26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Bug: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if (do_read) begin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rd_ptr &lt;= rd_ptr;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Correct: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rd_ptr &lt;= rd_ptr + 1'b1;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3A01B-B880-41BF-88A5-03599B52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3390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5CCC5-04E2-4C9F-9926-48D4C23D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113A2-E366-429C-B14C-4DCFA749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Effect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DB914-6C14-4B76-B57D-AF5EE8B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971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09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Valid reads are accepted and fifo_count changes, but rd_ptr remains fixed. The FIFO repeatedly reads the same RAM address.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46C82-43BE-4352-BCAF-402D0303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14400"/>
            <a:ext cx="7086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DDEC87-5540-490F-B156-7CFF0605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14400"/>
            <a:ext cx="708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9F419-9B51-4230-9BD2-EA8B67E0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28725"/>
            <a:ext cx="708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87EB5-14C4-458C-8FAE-44D40FDE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981075"/>
            <a:ext cx="681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Waveform: rd_ptr remains fixed while reads occur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3e5f3dad54463"/>
          <a:stretch xmlns:a="http://schemas.openxmlformats.org/drawingml/2006/main"/>
        </p:blipFill>
        <p:spPr>
          <a:xfrm xmlns:a="http://schemas.openxmlformats.org/drawingml/2006/main">
            <a:off x="5338347" y="1333500"/>
            <a:ext cx="5363406" cy="18669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2920B-322A-42D8-9462-D051952C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70866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04FF51-A43C-487C-8802-CE892084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708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4F2C4E-13CA-4BD2-86A2-F19B03DF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95725"/>
            <a:ext cx="708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BC63D-CD16-4D08-8AB4-127E78CA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681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Simulation log: READ_ONLY assertion and data mismatch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3ffbc6a6d4a47"/>
          <a:stretch xmlns:a="http://schemas.openxmlformats.org/drawingml/2006/main"/>
        </p:blipFill>
        <p:spPr>
          <a:xfrm xmlns:a="http://schemas.openxmlformats.org/drawingml/2006/main">
            <a:off x="6471704" y="4000500"/>
            <a:ext cx="3096693" cy="16573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CB33B1-0480-4BB6-8416-83D71145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924550"/>
            <a:ext cx="704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Assertion localizes the internal pointer failure; scoreboard confirms the visible FIFO-order failure.</a:t>
            </a:r>
          </a:p>
        </p:txBody>
      </p:sp>
    </p:spTree>
    <p:extLst>
      <p:ext uri="{BB962C8B-B14F-4D97-AF65-F5344CB8AC3E}">
        <p14:creationId xmlns:p14="http://schemas.microsoft.com/office/powerpoint/2010/main" val="14597887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05AE0-3EF3-4605-97BF-B66E0563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8230C-25DF-4FE2-8CB3-E7CA01C5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8E30E-9602-41FC-B4DD-ECE31260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Comparative Result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0A940-4DFC-4657-BCDA-A23499FE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Assertions + scoreboard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3C8BD-53CE-42DE-84F3-AAE5E6B0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4DD58-85F0-4495-B38E-F55B47F0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79DE3-CFD2-4C6C-835A-AD7EAC0D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4211F-AD7F-40B9-B8A4-478F4407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AE627-BC98-4C71-ADA3-2D870760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1430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C5F7F-9665-4EC5-8EBC-A451C702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238250"/>
            <a:ext cx="3276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Fault injected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A5473-7053-46B3-8D60-500F469E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A7046-CD8C-4DAC-BA37-9C940B3D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382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Primary assertion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0DF1D-BF44-4E9A-92FC-371A7C83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71B5D-5182-4D5E-BE6C-A5CCB942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382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Scoreboard effect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F2B48-56BA-475F-89BD-E2A03793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1430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0DEC0-1420-4DCC-8B8C-60B9D421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2382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E2AE4-3E4D-4A35-8066-F8C1AB2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2FBC1-4A1D-4E14-9A67-9D72FD92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1A8F9-ED87-457B-B5B4-78664767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621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85141-C906-4C07-BEFE-014E4A97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66875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fifo_count not cleared on reset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5552A2-4FB2-4242-BE06-E2725FF5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621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CC2B7-96D1-4B89-A569-4F8CC388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6687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RST_STATE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BDF18B-A7B0-48C4-9977-D611C6BA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621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E3798-8346-46D7-8464-CAA65961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6687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Queue/data mismatch later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F8706-0C09-4AE2-9991-1C22BF9C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5621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5D8ACE-0210-4159-9AE2-08F8E8BC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6668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reset state bug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373346-BFEB-4219-9BE6-54337474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830171-839A-4019-B2F7-636B1EF5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D67C0F-818F-4E9F-8FBA-686B7109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288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DEABD3-429F-443A-B61A-5D12F5D2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33625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do_read ignores empty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3DEAFE-2A34-4128-BD18-2B339C71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288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22E3BA-DA49-4357-9F6A-18036178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READ_EMPTY, COUNT_RANGE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B2202A-4902-4252-A391-94F9F4C9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B04555-6623-45AF-9D77-EA7DCB52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336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Data mismatch after underflow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91B4B2-795E-4309-B225-77FA16FB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288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1441D5-835D-4D6A-9CC3-B732D047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336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boundary bug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45F9EC-2D87-47F6-804B-2B57398F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287558-FF12-4B26-BA9F-F5EEF5F3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E2EA64-FEBB-407E-B3FD-42868ABE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47137C-E1DC-4FEB-AA00-3BE194CB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00375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full high at count 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F874A9-0F54-4B53-910B-C7470040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956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94E656-6620-4026-BC32-704A198A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037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FULL_FLAG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273270-2DCC-406A-A008-AF93DBE2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CEFB32-EBE0-49E6-8628-79DD0D42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037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False full messages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AF1BD0-4834-40DC-9D10-DC7CDAA6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956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A99835-7919-40AE-9E76-FF906F94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03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capacity loss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74F953-49DA-4B02-929E-7A2ADA91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19A00B-746A-4E50-BBBD-6E052996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9496FA-0309-4D6D-AB78-AFDF9F62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623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F4AC00-5F12-4B99-BA9A-CD0FD81E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67125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empty high at count 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F17963-D320-4225-B1C3-D80C1C8F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F05475-7B41-48C9-B134-9BD078A3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671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EMPTY_FLAG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3197E6-F043-4655-88E2-2069B8F5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623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30B933-EB77-4DA7-8121-8F080CC5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671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False empty messages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5CD59B-052F-4115-BE0E-63D2A042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623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3500C4-29F4-4FC5-9682-616306F2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6712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valid reads blocked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E37BD4-A525-4BBC-8F56-4830754E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26D7E2-1C8A-42A4-BED2-38AAD822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138E0A-CD33-44A8-B0B1-9C3BE35E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A7FBEC-5066-4696-B665-736F385F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33875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rd_ptr stuck during reads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6A92E9-67DA-4806-8C55-B95E88BA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291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0C57FF-5E18-4DBF-A59B-FA383E33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3387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READ_ONLY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FA9860-B104-4286-8DBF-CA41C69F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291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93C3F86-A84B-4DB3-90F7-4D30B4DD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3387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Expected order breaks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94578B-C63D-41B1-AD3A-283F2090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291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E1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F2E57A-2BEB-4E35-915C-FBB7BB63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33875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pointer/data bug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B55151-7048-48A5-8A2B-05FE44EC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1019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6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Pattern: assertions catch control/protocol violations at the exact clocked condition; the scoreboard catches externally visible data-order consequences.</a:t>
            </a:r>
          </a:p>
        </p:txBody>
      </p:sp>
    </p:spTree>
    <p:extLst>
      <p:ext uri="{BB962C8B-B14F-4D97-AF65-F5344CB8AC3E}">
        <p14:creationId xmlns:p14="http://schemas.microsoft.com/office/powerpoint/2010/main" val="11847259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2C853-C820-40F0-AEFD-71BF345F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F5DF7-37EF-470E-A490-7C302136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47E24-698F-4B1E-BD94-BEF95BE9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Key Findings and 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C34FA-E493-4DDD-A35C-1A7C5FE7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What the project demonstrates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C03C3-9048-41B2-876B-4CF1EBEB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51470-FE0D-4D44-8920-DA53B872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84851-6917-4953-B46D-26C52EEA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00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3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The project demonstrates that assertion-based verification improves observability beyond transaction-level checking alone.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8266D-9405-4777-90DA-E5DB1566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2766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569EF-59E0-4717-9648-7DC063D7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C8769-25A8-485A-9FBB-15D8038E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1. Assertions localize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A2F8B-E597-4C1A-B87B-F9666D23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Internal signals such as wr_ptr, rd_ptr, fifo_count, do_write, and do_read are checked at the clock where the rule is violated.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A30DF-A3ED-4213-92EF-EC3B9EC3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32766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CA628-6857-4383-96E1-1C967FDD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19DDD-3DA3-4DCB-B62E-6F963FC6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2. Scoreboard validates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38A2E-7300-4880-AA8B-1DA92550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The queue-based reference model confirms whether the output data still follows FIFO order after control faults.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FAF2E-75C2-4B99-B4FA-C771C4D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32766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21A50-2B3D-4E22-AE3D-38D6E4CF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E8B6B-941A-4BAE-87AF-EBC196BC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66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3. Waveforms explain timing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7F8A6-87A0-43A1-883D-4007758A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EPWave evidence connects assertion timestamps to signal transitions, making root cause analysis clear.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10048-FCCE-4268-8C34-5BEAB7AF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981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15C65-0ED5-4B23-98EE-1B349E95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Main contribution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9B7D3-713E-4C43-A392-54B0142E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10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033"/>
                </a:solidFill>
              </a:defRPr>
            </a:pPr>
            <a:r>
              <a:rPr sz="1425" b="0">
                <a:solidFill>
                  <a:srgbClr val="142033"/>
                </a:solidFill>
              </a:rPr>
              <a:t>A parameterized synchronous FIFO was verified with a SystemVerilog class-based environment, bound SVA checker, scoreboard, and five intentional negative tests. The result is a reusable verification base that can be extended toward UVM.</a:t>
            </a:r>
          </a:p>
        </p:txBody>
      </p:sp>
    </p:spTree>
    <p:extLst>
      <p:ext uri="{BB962C8B-B14F-4D97-AF65-F5344CB8AC3E}">
        <p14:creationId xmlns:p14="http://schemas.microsoft.com/office/powerpoint/2010/main" val="13207415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E07FFC-AA52-4DFE-A3EA-58DB9F5538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ACAE3-9B35-423C-ABBB-853CCB78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C7E7B-F1BD-41BA-99C7-91A88512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2C37A-0D1F-4D4A-BE84-9C2B69E3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Conclusion, Future Work, and 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098EC-AE84-49FB-B7EB-E37C1509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Close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E17D9-CF3B-42B3-BC09-759E72A2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B4FD4-BDAB-48C8-80DE-088AA51F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17B07-5514-42C1-B637-4C1CED3D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5143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F97BD-4248-4D51-AE1F-9E66EE3C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CA301-C96B-430D-B848-FC7F4D2C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Conclusion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35882-21FC-4F17-A94D-45CD5CFB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472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The clean FIFO behavior was established first. Each injected RTL fault produced assertion or scoreboard failures, proving that the environment can detect reset, boundary, flag, pointer, and data-order bugs.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69E83-9789-40E4-AECE-381DB710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52500"/>
            <a:ext cx="5143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65D86-452A-4081-BEEB-F376723C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5250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5D366-ED34-4701-BBE9-2E208795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1430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Future improvements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CE14D-6791-4766-BBE3-FD1BCD9B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24000"/>
            <a:ext cx="472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Migrate to UVM agents and sequences.</a:t>
            </a:r>
          </a:p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Add functional coverage bins for full/empty transitions.</a:t>
            </a:r>
          </a:p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Add constrained random regression tests.</a:t>
            </a:r>
          </a:p>
          <a:p xmlns:a="http://schemas.openxmlformats.org/drawingml/2006/main"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Add coverage-driven closure and CI simulation scripts.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AC054-9498-4CCA-AB45-16C64A14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9E1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09021-D70B-4F31-A288-93977841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122B"/>
                </a:solidFill>
              </a:defRPr>
            </a:pPr>
            <a:r>
              <a:rPr sz="1725" b="1">
                <a:solidFill>
                  <a:srgbClr val="B5122B"/>
                </a:solidFill>
              </a:rPr>
              <a:t>References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4E531-62C0-4646-89E9-58BC7D68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9525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1. IEEE SA, IEEE 1800-2023: SystemVerilog - Unified Hardware Design, Specification, and Verification Language.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2. Accellera, Universal Verification Methodology community and standards pages.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3. Local project report: TIET_Assertion_Based_FIFO_Verification_Report.docx.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4. Project source files: rtl/sync_fifo_ram.sv, rtl/sync_ram.sv, tb/assert_fifo_ram.sv, tb/*.svh.</a:t>
            </a:r>
          </a:p>
          <a:p xmlns:a="http://schemas.openxmlformats.org/drawingml/2006/main"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5. Simulation evidence: EPWave and transcript screenshots from images/issue1 through images/issue5.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F9849-7A54-4F9A-8932-D31596D8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5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56F"/>
                </a:solidFill>
              </a:defRPr>
            </a:pPr>
            <a:r>
              <a:rPr sz="1425" b="1">
                <a:solidFill>
                  <a:srgbClr val="08756F"/>
                </a:solidFill>
              </a:rPr>
              <a:t>Final message: SVA gives precise internal failure localization; the scoreboard proves whether the design still obeys FIFO data ordering.</a:t>
            </a:r>
          </a:p>
        </p:txBody>
      </p:sp>
    </p:spTree>
    <p:extLst>
      <p:ext uri="{BB962C8B-B14F-4D97-AF65-F5344CB8AC3E}">
        <p14:creationId xmlns:p14="http://schemas.microsoft.com/office/powerpoint/2010/main" val="1315206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2026-05-04T17:11:29.6410000Z</dcterms:created>
  <dcterms:modified xsi:type="dcterms:W3CDTF">2026-05-04T17:11:29.6410000Z</dcterms:modified>
</coreProperties>
</file>